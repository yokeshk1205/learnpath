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a1297401a64c7b" /><Relationship Type="http://schemas.openxmlformats.org/officeDocument/2006/relationships/extended-properties" Target="/docProps/app.xml" Id="R805de3de919d4cb6" /><Relationship Type="http://schemas.openxmlformats.org/officeDocument/2006/relationships/officeDocument" Target="/ppt/presentation.xml" Id="Rd97ab0ee39534cb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cbe7156ac5344e3"/>
  </p:sldMasterIdLst>
  <p:notesMasterIdLst>
    <p:notesMasterId xmlns:r="http://schemas.openxmlformats.org/officeDocument/2006/relationships" r:id="R95266b5068f849af"/>
  </p:notesMasterIdLst>
  <p:sldIdLst>
    <p:sldId xmlns:r="http://schemas.openxmlformats.org/officeDocument/2006/relationships" id="256" r:id="R22e777d0443f4f5a"/>
    <p:sldId xmlns:r="http://schemas.openxmlformats.org/officeDocument/2006/relationships" id="257" r:id="R00d3b179de954519"/>
    <p:sldId xmlns:r="http://schemas.openxmlformats.org/officeDocument/2006/relationships" id="258" r:id="Rcbadc8b1e5204505"/>
    <p:sldId xmlns:r="http://schemas.openxmlformats.org/officeDocument/2006/relationships" id="259" r:id="Rf1d654e031984487"/>
    <p:sldId xmlns:r="http://schemas.openxmlformats.org/officeDocument/2006/relationships" id="260" r:id="Raab06da0daa343dc"/>
    <p:sldId xmlns:r="http://schemas.openxmlformats.org/officeDocument/2006/relationships" id="261" r:id="Rf9aec9f5ad364873"/>
    <p:sldId xmlns:r="http://schemas.openxmlformats.org/officeDocument/2006/relationships" id="262" r:id="R774fbbfdc2f9479a"/>
    <p:sldId xmlns:r="http://schemas.openxmlformats.org/officeDocument/2006/relationships" id="263" r:id="Rc76b64c6ca184d25"/>
    <p:sldId xmlns:r="http://schemas.openxmlformats.org/officeDocument/2006/relationships" id="264" r:id="R66ff5778f4c94d29"/>
    <p:sldId xmlns:r="http://schemas.openxmlformats.org/officeDocument/2006/relationships" id="265" r:id="R15392b3578ab4cd8"/>
    <p:sldId xmlns:r="http://schemas.openxmlformats.org/officeDocument/2006/relationships" id="266" r:id="Ra719b87881cd4ad7"/>
    <p:sldId xmlns:r="http://schemas.openxmlformats.org/officeDocument/2006/relationships" id="267" r:id="R22166af0912c49ed"/>
    <p:sldId xmlns:r="http://schemas.openxmlformats.org/officeDocument/2006/relationships" id="268" r:id="R63afb5a64dda4ad5"/>
    <p:sldId xmlns:r="http://schemas.openxmlformats.org/officeDocument/2006/relationships" id="269" r:id="Rd92771bb062e4618"/>
    <p:sldId xmlns:r="http://schemas.openxmlformats.org/officeDocument/2006/relationships" id="270" r:id="R8a0c14863ff14b12"/>
    <p:sldId xmlns:r="http://schemas.openxmlformats.org/officeDocument/2006/relationships" id="271" r:id="Rdf82f977e4184d15"/>
    <p:sldId xmlns:r="http://schemas.openxmlformats.org/officeDocument/2006/relationships" id="272" r:id="Rb4e34a986bec4a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a6e706a06d740a3" /><Relationship Type="http://schemas.openxmlformats.org/officeDocument/2006/relationships/slideMaster" Target="/ppt/slideMasters/slideMaster1.xml" Id="Rbcbe7156ac5344e3" /><Relationship Type="http://schemas.openxmlformats.org/officeDocument/2006/relationships/notesMaster" Target="/ppt/notesMasters/notesMaster1.xml" Id="R95266b5068f849af" /><Relationship Type="http://schemas.openxmlformats.org/officeDocument/2006/relationships/presProps" Target="/ppt/presProps.xml" Id="Rc4c575ec9791405e" /><Relationship Type="http://schemas.openxmlformats.org/officeDocument/2006/relationships/viewProps" Target="/ppt/viewProps.xml" Id="R1ca5f430e30c438b" /><Relationship Type="http://schemas.openxmlformats.org/officeDocument/2006/relationships/tableStyles" Target="/ppt/tableStyles.xml" Id="Rb3cd9286e11d4be3" /><Relationship Type="http://schemas.openxmlformats.org/officeDocument/2006/relationships/slide" Target="/ppt/slides/slide1.xml" Id="R22e777d0443f4f5a" /><Relationship Type="http://schemas.openxmlformats.org/officeDocument/2006/relationships/slide" Target="/ppt/slides/slide2.xml" Id="R00d3b179de954519" /><Relationship Type="http://schemas.openxmlformats.org/officeDocument/2006/relationships/slide" Target="/ppt/slides/slide3.xml" Id="Rcbadc8b1e5204505" /><Relationship Type="http://schemas.openxmlformats.org/officeDocument/2006/relationships/slide" Target="/ppt/slides/slide4.xml" Id="Rf1d654e031984487" /><Relationship Type="http://schemas.openxmlformats.org/officeDocument/2006/relationships/slide" Target="/ppt/slides/slide5.xml" Id="Raab06da0daa343dc" /><Relationship Type="http://schemas.openxmlformats.org/officeDocument/2006/relationships/slide" Target="/ppt/slides/slide6.xml" Id="Rf9aec9f5ad364873" /><Relationship Type="http://schemas.openxmlformats.org/officeDocument/2006/relationships/slide" Target="/ppt/slides/slide7.xml" Id="R774fbbfdc2f9479a" /><Relationship Type="http://schemas.openxmlformats.org/officeDocument/2006/relationships/slide" Target="/ppt/slides/slide8.xml" Id="Rc76b64c6ca184d25" /><Relationship Type="http://schemas.openxmlformats.org/officeDocument/2006/relationships/slide" Target="/ppt/slides/slide9.xml" Id="R66ff5778f4c94d29" /><Relationship Type="http://schemas.openxmlformats.org/officeDocument/2006/relationships/slide" Target="/ppt/slides/slide10.xml" Id="R15392b3578ab4cd8" /><Relationship Type="http://schemas.openxmlformats.org/officeDocument/2006/relationships/slide" Target="/ppt/slides/slide11.xml" Id="Ra719b87881cd4ad7" /><Relationship Type="http://schemas.openxmlformats.org/officeDocument/2006/relationships/slide" Target="/ppt/slides/slide12.xml" Id="R22166af0912c49ed" /><Relationship Type="http://schemas.openxmlformats.org/officeDocument/2006/relationships/slide" Target="/ppt/slides/slide13.xml" Id="R63afb5a64dda4ad5" /><Relationship Type="http://schemas.openxmlformats.org/officeDocument/2006/relationships/slide" Target="/ppt/slides/slide14.xml" Id="Rd92771bb062e4618" /><Relationship Type="http://schemas.openxmlformats.org/officeDocument/2006/relationships/slide" Target="/ppt/slides/slide15.xml" Id="R8a0c14863ff14b12" /><Relationship Type="http://schemas.openxmlformats.org/officeDocument/2006/relationships/slide" Target="/ppt/slides/slide16.xml" Id="Rdf82f977e4184d15" /><Relationship Type="http://schemas.openxmlformats.org/officeDocument/2006/relationships/slide" Target="/ppt/slides/slide17.xml" Id="Rb4e34a986bec4a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00db5032c34d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28263fd4ce4698" /><Relationship Type="http://schemas.openxmlformats.org/officeDocument/2006/relationships/notesMaster" Target="/ppt/notesMasters/notesMaster1.xml" Id="R05248a8d2b6a42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33e58a321c4b72" /><Relationship Type="http://schemas.openxmlformats.org/officeDocument/2006/relationships/notesMaster" Target="/ppt/notesMasters/notesMaster1.xml" Id="R2df1b1ada62f47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72dafe126c4295" /><Relationship Type="http://schemas.openxmlformats.org/officeDocument/2006/relationships/notesMaster" Target="/ppt/notesMasters/notesMaster1.xml" Id="R492884273c4847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2113d3c1ea4150" /><Relationship Type="http://schemas.openxmlformats.org/officeDocument/2006/relationships/notesMaster" Target="/ppt/notesMasters/notesMaster1.xml" Id="R47cc56805fd645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f0f80aa1194aa8" /><Relationship Type="http://schemas.openxmlformats.org/officeDocument/2006/relationships/notesMaster" Target="/ppt/notesMasters/notesMaster1.xml" Id="Ra3295c942c8d4f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2e9d20e17548f6" /><Relationship Type="http://schemas.openxmlformats.org/officeDocument/2006/relationships/notesMaster" Target="/ppt/notesMasters/notesMaster1.xml" Id="Rd0d607f828c247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34c554acbf4c00" /><Relationship Type="http://schemas.openxmlformats.org/officeDocument/2006/relationships/notesMaster" Target="/ppt/notesMasters/notesMaster1.xml" Id="Rb822589d0ff645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c86b612cf14c1e" /><Relationship Type="http://schemas.openxmlformats.org/officeDocument/2006/relationships/notesMaster" Target="/ppt/notesMasters/notesMaster1.xml" Id="Rcb1860550c2e42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fbb9c4c2ee4a1c" /><Relationship Type="http://schemas.openxmlformats.org/officeDocument/2006/relationships/notesMaster" Target="/ppt/notesMasters/notesMaster1.xml" Id="Rd830a7e8806d4e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9eca869c4747fb" /><Relationship Type="http://schemas.openxmlformats.org/officeDocument/2006/relationships/notesMaster" Target="/ppt/notesMasters/notesMaster1.xml" Id="R29811187d7e24e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b8e47b4ab44f1f" /><Relationship Type="http://schemas.openxmlformats.org/officeDocument/2006/relationships/notesMaster" Target="/ppt/notesMasters/notesMaster1.xml" Id="R54a7e6b2d26b4f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97fc1ad24442e2" /><Relationship Type="http://schemas.openxmlformats.org/officeDocument/2006/relationships/notesMaster" Target="/ppt/notesMasters/notesMaster1.xml" Id="R0a874b1da2d04c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26430059b144a5" /><Relationship Type="http://schemas.openxmlformats.org/officeDocument/2006/relationships/notesMaster" Target="/ppt/notesMasters/notesMaster1.xml" Id="Rc86083674bc94c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ce7eafbb9c4aed" /><Relationship Type="http://schemas.openxmlformats.org/officeDocument/2006/relationships/notesMaster" Target="/ppt/notesMasters/notesMaster1.xml" Id="Rbfaf017a542a46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69380b145b041d9" /><Relationship Type="http://schemas.openxmlformats.org/officeDocument/2006/relationships/notesMaster" Target="/ppt/notesMasters/notesMaster1.xml" Id="Rb7c9652277424c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0cf4cd473d4c0e" /><Relationship Type="http://schemas.openxmlformats.org/officeDocument/2006/relationships/notesMaster" Target="/ppt/notesMasters/notesMaster1.xml" Id="R54f1253a2e2747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9ab426fc2d4cce" /><Relationship Type="http://schemas.openxmlformats.org/officeDocument/2006/relationships/notesMaster" Target="/ppt/notesMasters/notesMaster1.xml" Id="R50d153676f314f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helps a learner decide the next useful skill. It begins with evidence of what the learner already knows and keeps the reason for every recommendation visible.</a:t>
            </a:r>
          </a:p>
          <a:p xmlns:a="http://schemas.openxmlformats.org/drawingml/2006/main">
            <a:r>
              <a:t/>
            </a:r>
          </a:p>
          <a:p xmlns:a="http://schemas.openxmlformats.org/drawingml/2006/main">
            <a:r>
              <a:t>TECHNICAL EXPLANATION</a:t>
            </a:r>
          </a:p>
          <a:p xmlns:a="http://schemas.openxmlformats.org/drawingml/2006/main">
            <a:r>
              <a:t>The system combines a global learner-skill model, evidence-bounded diagnostics, a prerequisite graph, retention projection, safe candidate generation, Random Forest ranking and versioned path regeneration.</a:t>
            </a:r>
          </a:p>
          <a:p xmlns:a="http://schemas.openxmlformats.org/drawingml/2006/main">
            <a:r>
              <a:t/>
            </a:r>
          </a:p>
          <a:p xmlns:a="http://schemas.openxmlformats.org/drawingml/2006/main">
            <a:r>
              <a:t>PANEL DELIVERY</a:t>
            </a:r>
          </a:p>
          <a:p xmlns:a="http://schemas.openxmlformats.org/drawingml/2006/main">
            <a:r>
              <a:t>Open with the learner problem. Avoid listing technologies first. State that the project aims to make personalization both intelligent and explainable.</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A fixed course assumes that every learner begins at the same point. LearnPath treats course order as a decision that can change when the learner has prior knowledge, missing foundations or forgotten knowledge.</a:t>
            </a:r>
          </a:p>
          <a:p xmlns:a="http://schemas.openxmlformats.org/drawingml/2006/main">
            <a:r>
              <a:t/>
            </a:r>
          </a:p>
          <a:p xmlns:a="http://schemas.openxmlformats.org/drawingml/2006/main">
            <a:r>
              <a:t>TECHNICAL EXPLANATION</a:t>
            </a:r>
          </a:p>
          <a:p xmlns:a="http://schemas.openxmlformats.org/drawingml/2006/main">
            <a:r>
              <a:t>The global skill key uses learner_id plus skill_id. Enrollment progress remains course-specific. Required prerequisite edges block unsafe choices, while recognized skills remain visible in the path without forcing the learner to repeat them.</a:t>
            </a:r>
          </a:p>
          <a:p xmlns:a="http://schemas.openxmlformats.org/drawingml/2006/main">
            <a:r>
              <a:t/>
            </a:r>
          </a:p>
          <a:p xmlns:a="http://schemas.openxmlformats.org/drawingml/2006/main">
            <a:r>
              <a:t>PANEL DELIVERY</a:t>
            </a:r>
          </a:p>
          <a:p xmlns:a="http://schemas.openxmlformats.org/drawingml/2006/main">
            <a:r>
              <a:t>Use one simple example. A learner who already mastered recursion in Course A should receive credit when Course B needs recursion as a prerequisite.</a:t>
            </a:r>
          </a:p>
          <a:p xmlns:a="http://schemas.openxmlformats.org/drawingml/2006/main">
            <a:r>
              <a:t/>
            </a:r>
          </a:p>
          <a:p xmlns:a="http://schemas.openxmlformats.org/drawingml/2006/main">
            <a:r>
              <a:t>IMPLEMENTATION REFERENCES</a:t>
            </a:r>
          </a:p>
          <a:p xmlns:a="http://schemas.openxmlformats.org/drawingml/2006/main">
            <a:r>
              <a:t>apps/api/src/learner-skills/service.ts; apps/api/src/prerequisites;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These five questions summarize the complete learner experience. The product should immediately show the learner's current knowledge, the important gap, the blocking prerequisite, the next action and the explanation.</a:t>
            </a:r>
          </a:p>
          <a:p xmlns:a="http://schemas.openxmlformats.org/drawingml/2006/main">
            <a:r>
              <a:t/>
            </a:r>
          </a:p>
          <a:p xmlns:a="http://schemas.openxmlformats.org/drawingml/2006/main">
            <a:r>
              <a:t>TECHNICAL EXPLANATION</a:t>
            </a:r>
          </a:p>
          <a:p xmlns:a="http://schemas.openxmlformats.org/drawingml/2006/main">
            <a:r>
              <a:t>The API assembles these answers from the learner_skill table, evidence ledger, course-skill targets, prerequisite checks, retention projection, candidate partitions and the persisted personalized path item.</a:t>
            </a:r>
          </a:p>
          <a:p xmlns:a="http://schemas.openxmlformats.org/drawingml/2006/main">
            <a:r>
              <a:t/>
            </a:r>
          </a:p>
          <a:p xmlns:a="http://schemas.openxmlformats.org/drawingml/2006/main">
            <a:r>
              <a:t>PANEL DELIVERY</a:t>
            </a:r>
          </a:p>
          <a:p xmlns:a="http://schemas.openxmlformats.org/drawingml/2006/main">
            <a:r>
              <a:t>This slide gives the panel a map for the rest of the presentation. Return to these questions when a technical detail feels disconnected from the learner outcome.</a:t>
            </a:r>
          </a:p>
          <a:p xmlns:a="http://schemas.openxmlformats.org/drawingml/2006/main">
            <a:r>
              <a:t/>
            </a:r>
          </a:p>
          <a:p xmlns:a="http://schemas.openxmlformats.org/drawingml/2006/main">
            <a:r>
              <a:t>IMPLEMENTATION REFERENCES</a:t>
            </a:r>
          </a:p>
          <a:p xmlns:a="http://schemas.openxmlformats.org/drawingml/2006/main">
            <a:r>
              <a:t>apps/api/src; apps/web/src/pages/DashboardPage.tsx;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operates as a closed loop. It estimates knowledge, finds gaps, checks prerequisites, ranks safe options and builds a path. The learner then studies and completes a scored activity. The new evidence updates the learner model and can produce a different path.</a:t>
            </a:r>
          </a:p>
          <a:p xmlns:a="http://schemas.openxmlformats.org/drawingml/2006/main">
            <a:r>
              <a:t/>
            </a:r>
          </a:p>
          <a:p xmlns:a="http://schemas.openxmlformats.org/drawingml/2006/main">
            <a:r>
              <a:t>TECHNICAL EXPLANATION</a:t>
            </a:r>
          </a:p>
          <a:p xmlns:a="http://schemas.openxmlformats.org/drawingml/2006/main">
            <a:r>
              <a:t>The path lifecycle uses ACTIVE, STALE and SUPERSEDED states. Mastery-changing evidence invalidates affected active paths. Explicit regeneration reloads context, runs prerequisite checks and graph analytics, creates candidates, constructs the exact feature contract, requests inference and persists a new path version.</a:t>
            </a:r>
          </a:p>
          <a:p xmlns:a="http://schemas.openxmlformats.org/drawingml/2006/main">
            <a:r>
              <a:t/>
            </a:r>
          </a:p>
          <a:p xmlns:a="http://schemas.openxmlformats.org/drawingml/2006/main">
            <a:r>
              <a:t>PANEL DELIVERY</a:t>
            </a:r>
          </a:p>
          <a:p xmlns:a="http://schemas.openxmlformats.org/drawingml/2006/main">
            <a:r>
              <a:t>Emphasize that personalization does not end when the first path appears. Adaptation after learner performance provides the main demonstration of intelligence.</a:t>
            </a:r>
          </a:p>
          <a:p xmlns:a="http://schemas.openxmlformats.org/drawingml/2006/main">
            <a:r>
              <a:t/>
            </a:r>
          </a:p>
          <a:p xmlns:a="http://schemas.openxmlformats.org/drawingml/2006/main">
            <a:r>
              <a:t>IMPLEMENTATION REFERENCES</a:t>
            </a:r>
          </a:p>
          <a:p xmlns:a="http://schemas.openxmlformats.org/drawingml/2006/main">
            <a:r>
              <a:t>apps/api/src/paths/service.ts; apps/api/src/paths/change.ts;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architecture separates interaction, authoritative decisions, durable data and advisory intelligence. This prevents the frontend or model from bypassing prerequisite and mastery rules.</a:t>
            </a:r>
          </a:p>
          <a:p xmlns:a="http://schemas.openxmlformats.org/drawingml/2006/main">
            <a:r>
              <a:t/>
            </a:r>
          </a:p>
          <a:p xmlns:a="http://schemas.openxmlformats.org/drawingml/2006/main">
            <a:r>
              <a:t>TECHNICAL EXPLANATION</a:t>
            </a:r>
          </a:p>
          <a:p xmlns:a="http://schemas.openxmlformats.org/drawingml/2006/main">
            <a:r>
              <a:t>React renders typed API responses. Express owns validation and transactions. PostgreSQL stores curriculum, learner skills, evidence and path history. FastAPI serves the frozen Random Forest and NetworkX analysis. FastAPI remains stateless and does not write PostgreSQL.</a:t>
            </a:r>
          </a:p>
          <a:p xmlns:a="http://schemas.openxmlformats.org/drawingml/2006/main">
            <a:r>
              <a:t/>
            </a:r>
          </a:p>
          <a:p xmlns:a="http://schemas.openxmlformats.org/drawingml/2006/main">
            <a:r>
              <a:t>PANEL DELIVERY</a:t>
            </a:r>
          </a:p>
          <a:p xmlns:a="http://schemas.openxmlformats.org/drawingml/2006/main">
            <a:r>
              <a:t>If the panel asks where the intelligence lives, answer with a boundary. Deterministic learner safety lives in TypeScript. The model and graph analytics advise ranking inside that boundary.</a:t>
            </a:r>
          </a:p>
          <a:p xmlns:a="http://schemas.openxmlformats.org/drawingml/2006/main">
            <a:r>
              <a:t/>
            </a:r>
          </a:p>
          <a:p xmlns:a="http://schemas.openxmlformats.org/drawingml/2006/main">
            <a:r>
              <a:t>IMPLEMENTATION REFERENCES</a:t>
            </a:r>
          </a:p>
          <a:p xmlns:a="http://schemas.openxmlformats.org/drawingml/2006/main">
            <a:r>
              <a:t>apps/web/src; apps/api/src/app.ts; services/ml/app; database/migrations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Skill Passport acts as the learner's reusable knowledge record. When the learner demonstrates recursion in one course, another enrolled course reads the same learner-skill state and can recognize that prerequisite.</a:t>
            </a:r>
          </a:p>
          <a:p xmlns:a="http://schemas.openxmlformats.org/drawingml/2006/main">
            <a:r>
              <a:t/>
            </a:r>
          </a:p>
          <a:p xmlns:a="http://schemas.openxmlformats.org/drawingml/2006/main">
            <a:r>
              <a:t>TECHNICAL EXPLANATION</a:t>
            </a:r>
          </a:p>
          <a:p xmlns:a="http://schemas.openxmlformats.org/drawingml/2006/main">
            <a:r>
              <a:t>The primary identity is learner_id plus skill_id, rather than learner_id plus course_id plus skill_id. Course mappings connect the global skill to course context. Enrollment tables still own module completion and course progress, so knowledge reuse does not copy navigation progress.</a:t>
            </a:r>
          </a:p>
          <a:p xmlns:a="http://schemas.openxmlformats.org/drawingml/2006/main">
            <a:r>
              <a:t/>
            </a:r>
          </a:p>
          <a:p xmlns:a="http://schemas.openxmlformats.org/drawingml/2006/main">
            <a:r>
              <a:t>PANEL DELIVERY</a:t>
            </a:r>
          </a:p>
          <a:p xmlns:a="http://schemas.openxmlformats.org/drawingml/2006/main">
            <a:r>
              <a:t>State the distinction clearly. LearnPath transfers demonstrated knowledge, not completed course pages.</a:t>
            </a:r>
          </a:p>
          <a:p xmlns:a="http://schemas.openxmlformats.org/drawingml/2006/main">
            <a:r>
              <a:t/>
            </a:r>
          </a:p>
          <a:p xmlns:a="http://schemas.openxmlformats.org/drawingml/2006/main">
            <a:r>
              <a:t>IMPLEMENTATION REFERENCES</a:t>
            </a:r>
          </a:p>
          <a:p xmlns:a="http://schemas.openxmlformats.org/drawingml/2006/main">
            <a:r>
              <a:t>apps/api/src/learner-skills/service.ts;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diagnostic acts like a short placement conversation. It first samples breadth, then revisits uncertainty and finally seeks stronger application evidence. The system reports the skills it did not test.</a:t>
            </a:r>
          </a:p>
          <a:p xmlns:a="http://schemas.openxmlformats.org/drawingml/2006/main">
            <a:r>
              <a:t/>
            </a:r>
          </a:p>
          <a:p xmlns:a="http://schemas.openxmlformats.org/drawingml/2006/main">
            <a:r>
              <a:t>TECHNICAL EXPLANATION</a:t>
            </a:r>
          </a:p>
          <a:p xmlns:a="http://schemas.openxmlformats.org/drawingml/2006/main">
            <a:r>
              <a:t>Question selection uses skill priority and item information. Unknown state adds 100 to skill priority. Gap, uncertainty, graph dependents and retention risk add smaller signals. Information favors discrimination, new cognitive levels, missing application evidence and suitable difficulty. Diagnostic reliability remains capped at 0.78, and diagnostic-only confidence remains capped at 0.45.</a:t>
            </a:r>
          </a:p>
          <a:p xmlns:a="http://schemas.openxmlformats.org/drawingml/2006/main">
            <a:r>
              <a:t/>
            </a:r>
          </a:p>
          <a:p xmlns:a="http://schemas.openxmlformats.org/drawingml/2006/main">
            <a:r>
              <a:t>PANEL DELIVERY</a:t>
            </a:r>
          </a:p>
          <a:p xmlns:a="http://schemas.openxmlformats.org/drawingml/2006/main">
            <a:r>
              <a:t>If a reviewer asks how fifteen questions evaluate a whole learner, answer that they do not. They gather the most valuable starting evidence and expose uncertainty. Later practice and assessment continue the estimate.</a:t>
            </a:r>
          </a:p>
          <a:p xmlns:a="http://schemas.openxmlformats.org/drawingml/2006/main">
            <a:r>
              <a:t/>
            </a:r>
          </a:p>
          <a:p xmlns:a="http://schemas.openxmlformats.org/drawingml/2006/main">
            <a:r>
              <a:t>IMPLEMENTATION REFERENCES</a:t>
            </a:r>
          </a:p>
          <a:p xmlns:a="http://schemas.openxmlformats.org/drawingml/2006/main">
            <a:r>
              <a:t>apps/api/src/diagnostics/selection.ts; apps/api/src/diagnostics/estimation.ts; apps/api/src/diagnostics/service.ts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graph explains how skills depend on foundations. A learner can see why a skill remains locked and which prerequisite will unlock it.</a:t>
            </a:r>
          </a:p>
          <a:p xmlns:a="http://schemas.openxmlformats.org/drawingml/2006/main">
            <a:r>
              <a:t/>
            </a:r>
          </a:p>
          <a:p xmlns:a="http://schemas.openxmlformats.org/drawingml/2006/main">
            <a:r>
              <a:t>TECHNICAL EXPLANATION</a:t>
            </a:r>
          </a:p>
          <a:p xmlns:a="http://schemas.openxmlformats.org/drawingml/2006/main">
            <a:r>
              <a:t>PostgreSQL stores canonical nodes and REQUIRED or RECOMMENDED edges. TypeScript recursively loads the context graph and enforces every required threshold using confidence-adjusted mastery. NetworkX receives a read-only projection and computes topological layers, descendants, betweenness, shortest paths, bottlenecks and counterfactual unlocks. The gateway score equals 0.50 times descendant ratio plus 0.30 times normalized betweenness plus 0.20 times unlock ratio.</a:t>
            </a:r>
          </a:p>
          <a:p xmlns:a="http://schemas.openxmlformats.org/drawingml/2006/main">
            <a:r>
              <a:t/>
            </a:r>
          </a:p>
          <a:p xmlns:a="http://schemas.openxmlformats.org/drawingml/2006/main">
            <a:r>
              <a:t>PANEL DELIVERY</a:t>
            </a:r>
          </a:p>
          <a:p xmlns:a="http://schemas.openxmlformats.org/drawingml/2006/main">
            <a:r>
              <a:t>Explain why the project does not need Neo4j at this scale. PostgreSQL already owns the curriculum transactionally, while NetworkX supplies the graph algorithms without duplicating durable truth.</a:t>
            </a:r>
          </a:p>
          <a:p xmlns:a="http://schemas.openxmlformats.org/drawingml/2006/main">
            <a:r>
              <a:t/>
            </a:r>
          </a:p>
          <a:p xmlns:a="http://schemas.openxmlformats.org/drawingml/2006/main">
            <a:r>
              <a:t>IMPLEMENTATION REFERENCES</a:t>
            </a:r>
          </a:p>
          <a:p xmlns:a="http://schemas.openxmlformats.org/drawingml/2006/main">
            <a:r>
              <a:t>apps/api/src/prerequisites; services/ml/app/graph/service.py; database/migrations/0027_knowledge_graph_v2.sql; docs/knowledge-graph-v2.md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Candidate generation protects the model boundary. LearnPath first decides which skills are relevant, already satisfied or locked. Only safe, actionable skills continue to machine learning.</a:t>
            </a:r>
          </a:p>
          <a:p xmlns:a="http://schemas.openxmlformats.org/drawingml/2006/main">
            <a:r>
              <a:t/>
            </a:r>
          </a:p>
          <a:p xmlns:a="http://schemas.openxmlformats.org/drawingml/2006/main">
            <a:r>
              <a:t>TECHNICAL EXPLANATION</a:t>
            </a:r>
          </a:p>
          <a:p xmlns:a="http://schemas.openxmlformats.org/drawingml/2006/main">
            <a:r>
              <a:t>Each candidate becomes LEARN, REVISION or SUPPORTING_PREREQUISITE and enters ELIGIBLE, LOCKED or EXCLUDED. The API constructs a 55-feature record only for ELIGIBLE rows. FastAPI returns benefit probability. The path policy adds at most 0.08 for revision and 0.06 for NetworkX gateway value. The model cannot unlock a skill.</a:t>
            </a:r>
          </a:p>
          <a:p xmlns:a="http://schemas.openxmlformats.org/drawingml/2006/main">
            <a:r>
              <a:t/>
            </a:r>
          </a:p>
          <a:p xmlns:a="http://schemas.openxmlformats.org/drawingml/2006/main">
            <a:r>
              <a:t>PANEL DELIVERY</a:t>
            </a:r>
          </a:p>
          <a:p xmlns:a="http://schemas.openxmlformats.org/drawingml/2006/main">
            <a:r>
              <a:t>Use the phrase: the graph determines what is safe, and machine learning ranks the safe choices.</a:t>
            </a:r>
          </a:p>
          <a:p xmlns:a="http://schemas.openxmlformats.org/drawingml/2006/main">
            <a:r>
              <a:t/>
            </a:r>
          </a:p>
          <a:p xmlns:a="http://schemas.openxmlformats.org/drawingml/2006/main">
            <a:r>
              <a:t>IMPLEMENTATION REFERENCES</a:t>
            </a:r>
          </a:p>
          <a:p xmlns:a="http://schemas.openxmlformats.org/drawingml/2006/main">
            <a:r>
              <a:t>apps/api/src/candidates/engine.ts; apps/api/src/paths/features.ts; apps/api/src/paths/engine.ts; services/ml/app/inference.py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trained several models and compared them with simple baselines. Random Forest won the declared validation ranking metric, so the system selected it before viewing final test performance.</a:t>
            </a:r>
          </a:p>
          <a:p xmlns:a="http://schemas.openxmlformats.org/drawingml/2006/main">
            <a:r>
              <a:t/>
            </a:r>
          </a:p>
          <a:p xmlns:a="http://schemas.openxmlformats.org/drawingml/2006/main">
            <a:r>
              <a:t>TECHNICAL EXPLANATION</a:t>
            </a:r>
          </a:p>
          <a:p xmlns:a="http://schemas.openxmlformats.org/drawingml/2006/main">
            <a:r>
              <a:t>Training used 1,000 simulated learners, 20,000 interactions and seed 42. Learners never overlap across train, validation and test. Random Forest validation NDCG at 5 was 0.581021 versus 0.576408 for Highest Skill Gap. On test, Random Forest reached 0.578463, slightly below the baseline at 0.581229. Random Forest still produced stronger test ROC-AUC and Precision at 5. The mixed result prevents an exaggerated accuracy claim.</a:t>
            </a:r>
          </a:p>
          <a:p xmlns:a="http://schemas.openxmlformats.org/drawingml/2006/main">
            <a:r>
              <a:t/>
            </a:r>
          </a:p>
          <a:p xmlns:a="http://schemas.openxmlformats.org/drawingml/2006/main">
            <a:r>
              <a:t>PANEL DELIVERY</a:t>
            </a:r>
          </a:p>
          <a:p xmlns:a="http://schemas.openxmlformats.org/drawingml/2006/main">
            <a:r>
              <a:t>Say that the pipeline and evaluation are reproducible. Then state that synthetic data cannot prove improved learning outcomes for real students.</a:t>
            </a:r>
          </a:p>
          <a:p xmlns:a="http://schemas.openxmlformats.org/drawingml/2006/main">
            <a:r>
              <a:t/>
            </a:r>
          </a:p>
          <a:p xmlns:a="http://schemas.openxmlformats.org/drawingml/2006/main">
            <a:r>
              <a:t>IMPLEMENTATION REFERENCES</a:t>
            </a:r>
          </a:p>
          <a:p xmlns:a="http://schemas.openxmlformats.org/drawingml/2006/main">
            <a:r>
              <a:t>services/ml/training; services/ml/models/benefit-ranking-v2/manifest.json; docs/ml-evaluation-report.md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personalized path serves as the visual center of LearnPath. It shows what the learner already knows, what they are doing, the recommended next action, later safe skills and locked skills.</a:t>
            </a:r>
          </a:p>
          <a:p xmlns:a="http://schemas.openxmlformats.org/drawingml/2006/main">
            <a:r>
              <a:t/>
            </a:r>
          </a:p>
          <a:p xmlns:a="http://schemas.openxmlformats.org/drawingml/2006/main">
            <a:r>
              <a:t>TECHNICAL EXPLANATION</a:t>
            </a:r>
          </a:p>
          <a:p xmlns:a="http://schemas.openxmlformats.org/drawingml/2006/main">
            <a:r>
              <a:t>A stored path item includes lane, order, mastery, confidence, evidence state, retention, prerequisite checks, benefit probability, policy bonuses, reason codes, course context and model or policy versions. Locked and recognized skills appear as separate lanes without receiving model probability. The engine orders eligible skills by final priority, probability, dependency level, course sequence and stable identifiers.</a:t>
            </a:r>
          </a:p>
          <a:p xmlns:a="http://schemas.openxmlformats.org/drawingml/2006/main">
            <a:r>
              <a:t/>
            </a:r>
          </a:p>
          <a:p xmlns:a="http://schemas.openxmlformats.org/drawingml/2006/main">
            <a:r>
              <a:t>PANEL DELIVERY</a:t>
            </a:r>
          </a:p>
          <a:p xmlns:a="http://schemas.openxmlformats.org/drawingml/2006/main">
            <a:r>
              <a:t>While demonstrating the application, click the Learn Next item and then open its explanation. Show that every displayed value comes from the backend path snapshot.</a:t>
            </a:r>
          </a:p>
          <a:p xmlns:a="http://schemas.openxmlformats.org/drawingml/2006/main">
            <a:r>
              <a:t/>
            </a:r>
          </a:p>
          <a:p xmlns:a="http://schemas.openxmlformats.org/drawingml/2006/main">
            <a:r>
              <a:t>IMPLEMENTATION REFERENCES</a:t>
            </a:r>
          </a:p>
          <a:p xmlns:a="http://schemas.openxmlformats.org/drawingml/2006/main">
            <a:r>
              <a:t>apps/api/src/paths/engine.ts; apps/api/src/paths/service.ts;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Mastery answers how well the learner appears to know a skill. Confidence answers how much evidence supports that estimate. Retention estimates how accessible previously learned knowledge remains now.</a:t>
            </a:r>
          </a:p>
          <a:p xmlns:a="http://schemas.openxmlformats.org/drawingml/2006/main">
            <a:r>
              <a:t/>
            </a:r>
          </a:p>
          <a:p xmlns:a="http://schemas.openxmlformats.org/drawingml/2006/main">
            <a:r>
              <a:t>TECHNICAL EXPLANATION</a:t>
            </a:r>
          </a:p>
          <a:p xmlns:a="http://schemas.openxmlformats.org/drawingml/2006/main">
            <a:r>
              <a:t>The mastery service applies source weights: diagnostic 0.40, assessment 0.40, module assessment 0.40, practice 0.25, quiz 0.30 and retention check 0.35. Reliability multiplies source weight. Confidence grows from count, source diversity, sessions, difficulty, consistency and retention evidence. Diagnostic-only confidence has a 0.45 cap. Retention uses exponential decay with confidence and repetition adjustments. Revision requires previous mastery at least 0.65 plus AT_RISK or CRITICAL retention.</a:t>
            </a:r>
          </a:p>
          <a:p xmlns:a="http://schemas.openxmlformats.org/drawingml/2006/main">
            <a:r>
              <a:t/>
            </a:r>
          </a:p>
          <a:p xmlns:a="http://schemas.openxmlformats.org/drawingml/2006/main">
            <a:r>
              <a:t>PANEL DELIVERY</a:t>
            </a:r>
          </a:p>
          <a:p xmlns:a="http://schemas.openxmlformats.org/drawingml/2006/main">
            <a:r>
              <a:t>Explain that lesson completion records activity only. Practice, quiz, assessment and retention checks create server-scored evidence that can update mastery.</a:t>
            </a:r>
          </a:p>
          <a:p xmlns:a="http://schemas.openxmlformats.org/drawingml/2006/main">
            <a:r>
              <a:t/>
            </a:r>
          </a:p>
          <a:p xmlns:a="http://schemas.openxmlformats.org/drawingml/2006/main">
            <a:r>
              <a:t>IMPLEMENTATION REFERENCES</a:t>
            </a:r>
          </a:p>
          <a:p xmlns:a="http://schemas.openxmlformats.org/drawingml/2006/main">
            <a:r>
              <a:t>apps/api/src/mastery/policy.ts; apps/api/src/mastery/service.ts; apps/api/src/retention/policy.ts; apps/api/src/retention/service.ts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system keeps the original recommendation as historical evidence. After a scored assessment changes learner state, LearnPath marks the current path stale and creates a new active version through explicit regeneration.</a:t>
            </a:r>
          </a:p>
          <a:p xmlns:a="http://schemas.openxmlformats.org/drawingml/2006/main">
            <a:r>
              <a:t/>
            </a:r>
          </a:p>
          <a:p xmlns:a="http://schemas.openxmlformats.org/drawingml/2006/main">
            <a:r>
              <a:t>TECHNICAL EXPLANATION</a:t>
            </a:r>
          </a:p>
          <a:p xmlns:a="http://schemas.openxmlformats.org/drawingml/2006/main">
            <a:r>
              <a:t>Evidence, mastery update and invalidation occur in the authoritative API transaction boundary. Regeneration locks the current path, reloads learner and course context, recomputes prerequisites and NetworkX metrics, rebuilds candidates and features, calls the checked model, then writes a new path and change summary. The old version becomes SUPERSEDED.</a:t>
            </a:r>
          </a:p>
          <a:p xmlns:a="http://schemas.openxmlformats.org/drawingml/2006/main">
            <a:r>
              <a:t/>
            </a:r>
          </a:p>
          <a:p xmlns:a="http://schemas.openxmlformats.org/drawingml/2006/main">
            <a:r>
              <a:t>PANEL DELIVERY</a:t>
            </a:r>
          </a:p>
          <a:p xmlns:a="http://schemas.openxmlformats.org/drawingml/2006/main">
            <a:r>
              <a:t>Use this flow for the live intelligence demonstration. Show the path, complete an assessment, return to the path, regenerate and explain the visible difference.</a:t>
            </a:r>
          </a:p>
          <a:p xmlns:a="http://schemas.openxmlformats.org/drawingml/2006/main">
            <a:r>
              <a:t/>
            </a:r>
          </a:p>
          <a:p xmlns:a="http://schemas.openxmlformats.org/drawingml/2006/main">
            <a:r>
              <a:t>IMPLEMENTATION REFERENCES</a:t>
            </a:r>
          </a:p>
          <a:p xmlns:a="http://schemas.openxmlformats.org/drawingml/2006/main">
            <a:r>
              <a:t>apps/api/src/paths/change.ts; apps/api/src/paths/service.ts;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Trust has two meanings. Engineering trust asks whether the software applies its stated rules correctly. Educational trust asks whether the intervention improves real learner outcomes. The project has stronger evidence for the first question.</a:t>
            </a:r>
          </a:p>
          <a:p xmlns:a="http://schemas.openxmlformats.org/drawingml/2006/main">
            <a:r>
              <a:t/>
            </a:r>
          </a:p>
          <a:p xmlns:a="http://schemas.openxmlformats.org/drawingml/2006/main">
            <a:r>
              <a:t>TECHNICAL EXPLANATION</a:t>
            </a:r>
          </a:p>
          <a:p xmlns:a="http://schemas.openxmlformats.org/drawingml/2006/main">
            <a:r>
              <a:t>Controls include an append-only evidence ledger, conservative prerequisite gates, server-owned scoring, explicit evidence states, model checksum and version checks, exact feature-order validation, no heuristic inference fallback, learner-disjoint evaluation, sample-gated governance and immutable path history. The latest recorded TypeScript suites show 101 API and 41 web tests. The final completion audit recorded 17 PostgreSQL integration and 35 ML tests.</a:t>
            </a:r>
          </a:p>
          <a:p xmlns:a="http://schemas.openxmlformats.org/drawingml/2006/main">
            <a:r>
              <a:t/>
            </a:r>
          </a:p>
          <a:p xmlns:a="http://schemas.openxmlformats.org/drawingml/2006/main">
            <a:r>
              <a:t>PANEL DELIVERY</a:t>
            </a:r>
          </a:p>
          <a:p xmlns:a="http://schemas.openxmlformats.org/drawingml/2006/main">
            <a:r>
              <a:t>Do not combine all numbers into one total. Explain which suites produced each count and state that the older integration and ML counts were not rerun during handbook generation.</a:t>
            </a:r>
          </a:p>
          <a:p xmlns:a="http://schemas.openxmlformats.org/drawingml/2006/main">
            <a:r>
              <a:t/>
            </a:r>
          </a:p>
          <a:p xmlns:a="http://schemas.openxmlformats.org/drawingml/2006/main">
            <a:r>
              <a:t>IMPLEMENTATION REFERENCES</a:t>
            </a:r>
          </a:p>
          <a:p xmlns:a="http://schemas.openxmlformats.org/drawingml/2006/main">
            <a:r>
              <a:t>apps/api/test; apps/web/src; services/ml/tests; database/test; docs/testing-and-validation.md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makes a strong engineering contribution and a careful research claim. It demonstrates an implemented adaptive system, but it does not claim that synthetic evaluation proves better education.</a:t>
            </a:r>
          </a:p>
          <a:p xmlns:a="http://schemas.openxmlformats.org/drawingml/2006/main">
            <a:r>
              <a:t/>
            </a:r>
          </a:p>
          <a:p xmlns:a="http://schemas.openxmlformats.org/drawingml/2006/main">
            <a:r>
              <a:t>TECHNICAL EXPLANATION</a:t>
            </a:r>
          </a:p>
          <a:p xmlns:a="http://schemas.openxmlformats.org/drawingml/2006/main">
            <a:r>
              <a:t>The simulator supplies a reproducible ML pipeline, not real behavioral validation. Diagnostic difficulty, discrimination and guessing priors are engineering values that need calibration from learner responses. Prerequisite thresholds need expert review. Recommendation attribution remains observational and cannot establish causality.</a:t>
            </a:r>
          </a:p>
          <a:p xmlns:a="http://schemas.openxmlformats.org/drawingml/2006/main">
            <a:r>
              <a:t/>
            </a:r>
          </a:p>
          <a:p xmlns:a="http://schemas.openxmlformats.org/drawingml/2006/main">
            <a:r>
              <a:t>PANEL DELIVERY</a:t>
            </a:r>
          </a:p>
          <a:p xmlns:a="http://schemas.openxmlformats.org/drawingml/2006/main">
            <a:r>
              <a:t>Reviewers usually trust a project more when the team defines its boundary honestly. State the implemented contribution first, then name the real learner study as the next empirical step.</a:t>
            </a:r>
          </a:p>
          <a:p xmlns:a="http://schemas.openxmlformats.org/drawingml/2006/main">
            <a:r>
              <a:t/>
            </a:r>
          </a:p>
          <a:p xmlns:a="http://schemas.openxmlformats.org/drawingml/2006/main">
            <a:r>
              <a:t>IMPLEMENTATION REFERENCES</a:t>
            </a:r>
          </a:p>
          <a:p xmlns:a="http://schemas.openxmlformats.org/drawingml/2006/main">
            <a:r>
              <a:t>docs/LearnPath_Detailed_Technical_Project_Report.docx; 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strongest demo tells one complete learner story. Begin with honest uncertainty, gather diagnostic evidence, inspect Learn Next, complete a scored assessment and show the regenerated path.</a:t>
            </a:r>
          </a:p>
          <a:p xmlns:a="http://schemas.openxmlformats.org/drawingml/2006/main">
            <a:r>
              <a:t/>
            </a:r>
          </a:p>
          <a:p xmlns:a="http://schemas.openxmlformats.org/drawingml/2006/main">
            <a:r>
              <a:t>TECHNICAL EXPLANATION</a:t>
            </a:r>
          </a:p>
          <a:p xmlns:a="http://schemas.openxmlformats.org/drawingml/2006/main">
            <a:r>
              <a:t>Use the seeded demo profiles to show additional states if time permits. Maya demonstrates a cold start. Noah demonstrates incomplete diagnosis. Aisha demonstrates the complete adaptation loop. Elena demonstrates multiple courses and retention. Ravi demonstrates recognized foundations and a focused gap.</a:t>
            </a:r>
          </a:p>
          <a:p xmlns:a="http://schemas.openxmlformats.org/drawingml/2006/main">
            <a:r>
              <a:t/>
            </a:r>
          </a:p>
          <a:p xmlns:a="http://schemas.openxmlformats.org/drawingml/2006/main">
            <a:r>
              <a:t>PANEL DELIVERY</a:t>
            </a:r>
          </a:p>
          <a:p xmlns:a="http://schemas.openxmlformats.org/drawingml/2006/main">
            <a:r>
              <a:t>Before presenting, verify the database, API, web client and inference service. Keep a second browser tab on the reviewer view. Narrate the state transition rather than clicking rapidly.</a:t>
            </a:r>
          </a:p>
          <a:p xmlns:a="http://schemas.openxmlformats.org/drawingml/2006/main">
            <a:r>
              <a:t/>
            </a:r>
          </a:p>
          <a:p xmlns:a="http://schemas.openxmlformats.org/drawingml/2006/main">
            <a:r>
              <a:t>IMPLEMENTATION REFERENCES</a:t>
            </a:r>
          </a:p>
          <a:p xmlns:a="http://schemas.openxmlformats.org/drawingml/2006/main">
            <a:r>
              <a:t>docs/demo-guide.md; database/seed; apps/web/src/pages/ReviewerPage.tsx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Close by returning to the architecture boundary. The knowledge graph protects prerequisite safety. The Random Forest ranks only safe candidates. New evidence updates knowledge and creates a new versioned path.</a:t>
            </a:r>
          </a:p>
          <a:p xmlns:a="http://schemas.openxmlformats.org/drawingml/2006/main">
            <a:r>
              <a:t/>
            </a:r>
          </a:p>
          <a:p xmlns:a="http://schemas.openxmlformats.org/drawingml/2006/main">
            <a:r>
              <a:t>TECHNICAL EXPLANATION</a:t>
            </a:r>
          </a:p>
          <a:p xmlns:a="http://schemas.openxmlformats.org/drawingml/2006/main">
            <a:r>
              <a:t>If the panel asks a broad question, answer briefly first. Then connect the answer to one visible learner state and one implementation module. Avoid saying that the AI decides everything or that the model is already proven with real learners.</a:t>
            </a:r>
          </a:p>
          <a:p xmlns:a="http://schemas.openxmlformats.org/drawingml/2006/main">
            <a:r>
              <a:t/>
            </a:r>
          </a:p>
          <a:p xmlns:a="http://schemas.openxmlformats.org/drawingml/2006/main">
            <a:r>
              <a:t>PANEL DELIVERY</a:t>
            </a:r>
          </a:p>
          <a:p xmlns:a="http://schemas.openxmlformats.org/drawingml/2006/main">
            <a:r>
              <a:t>Pause and invite questions. Use the reviewer handbook question bank for detailed answers on diagnostics, NetworkX, Neo4j, model evaluation, forgetting, cross-course reuse and trust.</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6c09f2dba645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db37c85b4846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04562ff28747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877ead015643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06e760181ac4b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d19f34e31942f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e364248708a4ad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c453ed72b024e7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a9f43ff0a044aa" /><Relationship Type="http://schemas.openxmlformats.org/officeDocument/2006/relationships/slideLayout" Target="/ppt/slideLayouts/slideLayout1.xml" Id="R3d35d55cc8ef482d" /><Relationship Type="http://schemas.openxmlformats.org/officeDocument/2006/relationships/slideLayout" Target="/ppt/slideLayouts/slideLayout2.xml" Id="R6c962a5559c74432" /><Relationship Type="http://schemas.openxmlformats.org/officeDocument/2006/relationships/slideLayout" Target="/ppt/slideLayouts/slideLayout3.xml" Id="R7990f09b0c514db9" /><Relationship Type="http://schemas.openxmlformats.org/officeDocument/2006/relationships/slideLayout" Target="/ppt/slideLayouts/slideLayout4.xml" Id="R9259e508b33a4058" /><Relationship Type="http://schemas.openxmlformats.org/officeDocument/2006/relationships/slideLayout" Target="/ppt/slideLayouts/slideLayout5.xml" Id="R283be3d882824849" /><Relationship Type="http://schemas.openxmlformats.org/officeDocument/2006/relationships/slideLayout" Target="/ppt/slideLayouts/slideLayout6.xml" Id="Rfe353d56e542479e" /><Relationship Type="http://schemas.openxmlformats.org/officeDocument/2006/relationships/slideLayout" Target="/ppt/slideLayouts/slideLayout7.xml" Id="R93c5f9e293de49c2" /><Relationship Type="http://schemas.openxmlformats.org/officeDocument/2006/relationships/slideLayout" Target="/ppt/slideLayouts/slideLayout8.xml" Id="Rec6cbccc42094df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35d55cc8ef482d"/>
    <p:sldLayoutId xmlns:r="http://schemas.openxmlformats.org/officeDocument/2006/relationships" id="2147483650" r:id="R6c962a5559c74432"/>
    <p:sldLayoutId xmlns:r="http://schemas.openxmlformats.org/officeDocument/2006/relationships" id="2147483651" r:id="R7990f09b0c514db9"/>
    <p:sldLayoutId xmlns:r="http://schemas.openxmlformats.org/officeDocument/2006/relationships" id="2147483652" r:id="R9259e508b33a4058"/>
    <p:sldLayoutId xmlns:r="http://schemas.openxmlformats.org/officeDocument/2006/relationships" id="2147483653" r:id="R283be3d882824849"/>
    <p:sldLayoutId xmlns:r="http://schemas.openxmlformats.org/officeDocument/2006/relationships" id="2147483654" r:id="Rfe353d56e542479e"/>
    <p:sldLayoutId xmlns:r="http://schemas.openxmlformats.org/officeDocument/2006/relationships" id="2147483655" r:id="R93c5f9e293de49c2"/>
    <p:sldLayoutId xmlns:r="http://schemas.openxmlformats.org/officeDocument/2006/relationships" id="2147483656" r:id="Rec6cbccc42094df5"/>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da6f69a696ae4df4" /><Relationship Type="http://schemas.openxmlformats.org/officeDocument/2006/relationships/notesSlide" Target="/ppt/notesSlides/notesSlide1.xml" Id="R340f2176512245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7a774ff6ec31411e" /><Relationship Type="http://schemas.openxmlformats.org/officeDocument/2006/relationships/notesSlide" Target="/ppt/notesSlides/notesSlide2.xml" Id="Re5758c53b6904b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4645fb832a904c15" /><Relationship Type="http://schemas.openxmlformats.org/officeDocument/2006/relationships/notesSlide" Target="/ppt/notesSlides/notesSlide3.xml" Id="R4f1f9035a36d4d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65f61d4181c54905" /><Relationship Type="http://schemas.openxmlformats.org/officeDocument/2006/relationships/notesSlide" Target="/ppt/notesSlides/notesSlide4.xml" Id="R3f6768994b154f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99490454024c4b81" /><Relationship Type="http://schemas.openxmlformats.org/officeDocument/2006/relationships/notesSlide" Target="/ppt/notesSlides/notesSlide5.xml" Id="Rd52b900e12954c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9dba8984ee974998" /><Relationship Type="http://schemas.openxmlformats.org/officeDocument/2006/relationships/notesSlide" Target="/ppt/notesSlides/notesSlide6.xml" Id="R9fc5dd85ff7d4c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fc03b7d2f2b7401d" /><Relationship Type="http://schemas.openxmlformats.org/officeDocument/2006/relationships/notesSlide" Target="/ppt/notesSlides/notesSlide7.xml" Id="R2dcfe2fd3a7341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0653ce7fd9654bf1" /><Relationship Type="http://schemas.openxmlformats.org/officeDocument/2006/relationships/notesSlide" Target="/ppt/notesSlides/notesSlide8.xml" Id="R55c07157c5d147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0a28b80e1c464323" /><Relationship Type="http://schemas.openxmlformats.org/officeDocument/2006/relationships/notesSlide" Target="/ppt/notesSlides/notesSlide9.xml" Id="Rc000c0d6a5e94d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f281e6d5e1ac4f5a" /><Relationship Type="http://schemas.openxmlformats.org/officeDocument/2006/relationships/chart" Target="/ppt/slides/charts/chart1.xml" Id="Raa20e79ba8a547fd" /><Relationship Type="http://schemas.openxmlformats.org/officeDocument/2006/relationships/notesSlide" Target="/ppt/notesSlides/notesSlide10.xml" Id="R4f642dcbb99548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0988601e57024f01" /><Relationship Type="http://schemas.openxmlformats.org/officeDocument/2006/relationships/notesSlide" Target="/ppt/notesSlides/notesSlide11.xml" Id="R06814897df3d4c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84add52df0754c14" /><Relationship Type="http://schemas.openxmlformats.org/officeDocument/2006/relationships/notesSlide" Target="/ppt/notesSlides/notesSlide12.xml" Id="Rca8bf7ae255842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051c9de93b9f4c53" /><Relationship Type="http://schemas.openxmlformats.org/officeDocument/2006/relationships/notesSlide" Target="/ppt/notesSlides/notesSlide13.xml" Id="Re8f0f0d48cf548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91b91440d3394a94" /><Relationship Type="http://schemas.openxmlformats.org/officeDocument/2006/relationships/notesSlide" Target="/ppt/notesSlides/notesSlide14.xml" Id="R1c7d112ff68049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3022ac5343a14b77" /><Relationship Type="http://schemas.openxmlformats.org/officeDocument/2006/relationships/notesSlide" Target="/ppt/notesSlides/notesSlide15.xml" Id="R2bff7eab1eea45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12616d59193f4665" /><Relationship Type="http://schemas.openxmlformats.org/officeDocument/2006/relationships/notesSlide" Target="/ppt/notesSlides/notesSlide16.xml" Id="R87db87900a6b482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8.xml" Id="Rd08c7fc3d59a4856" /><Relationship Type="http://schemas.openxmlformats.org/officeDocument/2006/relationships/notesSlide" Target="/ppt/notesSlides/notesSlide17.xml" Id="R31af58f456ba4ce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Random Forest</c:v>
          </c:tx>
          <c:spPr>
            <a:solidFill xmlns:a="http://schemas.openxmlformats.org/drawingml/2006/main">
              <a:srgbClr val="4F46E5"/>
            </a:solidFill>
          </c:spPr>
          <c:cat>
            <c:strRef>
              <c:f>'Chart Data'!$A$2:$A$3</c:f>
              <c:strCache>
                <c:ptCount val="2"/>
                <c:pt idx="0">
                  <c:v>Validation</c:v>
                </c:pt>
                <c:pt idx="1">
                  <c:v>Test</c:v>
                </c:pt>
              </c:strCache>
            </c:strRef>
          </c:cat>
          <c:val>
            <c:numRef>
              <c:f>'Chart Data'!$B$2:$B$3</c:f>
              <c:numCache>
                <c:formatCode>0.000</c:formatCode>
                <c:ptCount val="2"/>
                <c:pt idx="0">
                  <c:v>0.581021</c:v>
                </c:pt>
                <c:pt idx="1">
                  <c:v>0.578463</c:v>
                </c:pt>
              </c:numCache>
            </c:numRef>
          </c:val>
        </c:ser>
        <c:ser>
          <c:idx val="1"/>
          <c:order val="1"/>
          <c:tx>
            <c:v>Highest Skill Gap</c:v>
          </c:tx>
          <c:spPr>
            <a:solidFill xmlns:a="http://schemas.openxmlformats.org/drawingml/2006/main">
              <a:srgbClr val="0F766E"/>
            </a:solidFill>
          </c:spPr>
          <c:cat>
            <c:strRef>
              <c:f>'Chart Data'!$C$2:$C$3</c:f>
              <c:strCache>
                <c:ptCount val="2"/>
                <c:pt idx="0">
                  <c:v>Validation</c:v>
                </c:pt>
                <c:pt idx="1">
                  <c:v>Test</c:v>
                </c:pt>
              </c:strCache>
            </c:strRef>
          </c:cat>
          <c:val>
            <c:numRef>
              <c:f>'Chart Data'!$D$2:$D$3</c:f>
              <c:numCache>
                <c:formatCode>0.000</c:formatCode>
                <c:ptCount val="2"/>
                <c:pt idx="0">
                  <c:v>0.576408</c:v>
                </c:pt>
                <c:pt idx="1">
                  <c:v>0.581229</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0F172A"/>
                  </a:solidFill>
                  <a:latin typeface="Aptos"/>
                  <a:ea typeface="Aptos"/>
                  <a:cs typeface="Apto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C"/>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079"/>
                </a:solidFill>
                <a:latin typeface="Aptos"/>
                <a:ea typeface="Aptos"/>
                <a:cs typeface="Aptos"/>
              </a:defRPr>
            </a:pPr>
          </a:p>
        </c:txPr>
        <c:crossAx val="48672768"/>
      </c:catAx>
      <c:valAx>
        <c:axId val="48672768"/>
        <c:scaling>
          <c:orientation val="minMax"/>
          <c:max val="0.59"/>
          <c:min val="0.55"/>
        </c:scaling>
        <c:delete val="0"/>
        <c:axPos val="l"/>
        <c:majorGridlines>
          <c:spPr>
            <a:ln xmlns:a="http://schemas.openxmlformats.org/drawingml/2006/main" w="9525">
              <a:solidFill>
                <a:srgbClr val="DCE3EC"/>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079"/>
                </a:solidFill>
                <a:latin typeface="Aptos"/>
                <a:ea typeface="Aptos"/>
                <a:cs typeface="Aptos"/>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26079"/>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CA0FD6-0A77-4B3C-80B5-1C4D909DED76}"/>
              </a:ext>
            </a:extLst>
          </p:cNvPr>
          <p:cNvSpPr>
            <a:spLocks xmlns:a="http://schemas.openxmlformats.org/drawingml/2006/main" noGrp="1"/>
          </p:cNvSpPr>
          <p:nvPr/>
        </p:nvSpPr>
        <p:spPr>
          <a:xfrm xmlns:a="http://schemas.openxmlformats.org/drawingml/2006/main">
            <a:off x="495300" y="4572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FINAL PROJECT PANEL PRESENTATION</a:t>
            </a:r>
          </a:p>
        </p:txBody>
      </p:sp>
      <p:sp>
        <p:nvSpPr>
          <p:cNvPr id="2" name="">
            <a:extLst xmlns:a="http://schemas.openxmlformats.org/drawingml/2006/main">
              <a:ext uri="{FF2B5EF4-FFF2-40B4-BE49-F238E27FC236}">
                <a16:creationId xmlns:a16="http://schemas.microsoft.com/office/drawing/2014/main" id="{DED87FDB-6F26-4FA6-B985-D86BDC7309A5}"/>
              </a:ext>
            </a:extLst>
          </p:cNvPr>
          <p:cNvSpPr>
            <a:spLocks xmlns:a="http://schemas.openxmlformats.org/drawingml/2006/main" noGrp="1"/>
          </p:cNvSpPr>
          <p:nvPr/>
        </p:nvSpPr>
        <p:spPr>
          <a:xfrm xmlns:a="http://schemas.openxmlformats.org/drawingml/2006/main">
            <a:off x="495300" y="1905000"/>
            <a:ext cx="723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0F172A"/>
                </a:solidFill>
                <a:latin typeface="Aptos"/>
                <a:ea typeface="Aptos"/>
                <a:cs typeface="Aptos"/>
              </a:defRPr>
            </a:pPr>
            <a:r>
              <a:rPr sz="6150" b="1">
                <a:solidFill>
                  <a:srgbClr val="0F172A"/>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254121F7-42C6-4329-BC62-6C3FC5C2B16F}"/>
              </a:ext>
            </a:extLst>
          </p:cNvPr>
          <p:cNvSpPr>
            <a:spLocks xmlns:a="http://schemas.openxmlformats.org/drawingml/2006/main" noGrp="1"/>
          </p:cNvSpPr>
          <p:nvPr/>
        </p:nvSpPr>
        <p:spPr>
          <a:xfrm xmlns:a="http://schemas.openxmlformats.org/drawingml/2006/main">
            <a:off x="533400" y="31051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26079"/>
                </a:solidFill>
                <a:latin typeface="Aptos"/>
                <a:ea typeface="Aptos"/>
                <a:cs typeface="Aptos"/>
              </a:defRPr>
            </a:pPr>
            <a:r>
              <a:rPr sz="2250" b="0">
                <a:solidFill>
                  <a:srgbClr val="526079"/>
                </a:solidFill>
                <a:latin typeface="Aptos"/>
                <a:ea typeface="Aptos"/>
                <a:cs typeface="Aptos"/>
              </a:rPr>
              <a:t>An evidence-driven system for deciding what a learner should study next</a:t>
            </a:r>
          </a:p>
        </p:txBody>
      </p:sp>
      <p:sp>
        <p:nvSpPr>
          <p:cNvPr id="4" name="">
            <a:extLst xmlns:a="http://schemas.openxmlformats.org/drawingml/2006/main">
              <a:ext uri="{FF2B5EF4-FFF2-40B4-BE49-F238E27FC236}">
                <a16:creationId xmlns:a16="http://schemas.microsoft.com/office/drawing/2014/main" id="{0A4800E1-A01B-4D35-8048-CB2EC0FB93A8}"/>
              </a:ext>
            </a:extLst>
          </p:cNvPr>
          <p:cNvSpPr>
            <a:spLocks xmlns:a="http://schemas.openxmlformats.org/drawingml/2006/main" noGrp="1"/>
          </p:cNvSpPr>
          <p:nvPr/>
        </p:nvSpPr>
        <p:spPr>
          <a:xfrm xmlns:a="http://schemas.openxmlformats.org/drawingml/2006/main">
            <a:off x="9867900" y="1657350"/>
            <a:ext cx="1428750" cy="1428750"/>
          </a:xfrm>
          <a:prstGeom xmlns:a="http://schemas.openxmlformats.org/drawingml/2006/main" prst="roundRect">
            <a:avLst>
              <a:gd name="adj" fmla="val 16000"/>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F2079389-903F-4E08-9068-FCD78A6D9A8D}"/>
              </a:ext>
            </a:extLst>
          </p:cNvPr>
          <p:cNvSpPr>
            <a:spLocks xmlns:a="http://schemas.openxmlformats.org/drawingml/2006/main" noGrp="1"/>
          </p:cNvSpPr>
          <p:nvPr/>
        </p:nvSpPr>
        <p:spPr>
          <a:xfrm xmlns:a="http://schemas.openxmlformats.org/drawingml/2006/main">
            <a:off x="9867900" y="2038350"/>
            <a:ext cx="142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750" b="1">
                <a:solidFill>
                  <a:srgbClr val="4F46E5"/>
                </a:solidFill>
                <a:latin typeface="Aptos"/>
                <a:ea typeface="Aptos"/>
                <a:cs typeface="Aptos"/>
              </a:defRPr>
            </a:pPr>
            <a:r>
              <a:rPr sz="37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0D6A1653-5E6B-4808-BDF5-779D1BE60105}"/>
              </a:ext>
            </a:extLst>
          </p:cNvPr>
          <p:cNvSpPr>
            <a:spLocks xmlns:a="http://schemas.openxmlformats.org/drawingml/2006/main" noGrp="1"/>
          </p:cNvSpPr>
          <p:nvPr/>
        </p:nvSpPr>
        <p:spPr>
          <a:xfrm xmlns:a="http://schemas.openxmlformats.org/drawingml/2006/main">
            <a:off x="533400" y="57150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LearnPath Project Team</a:t>
            </a:r>
          </a:p>
        </p:txBody>
      </p:sp>
      <p:sp>
        <p:nvSpPr>
          <p:cNvPr id="7" name="">
            <a:extLst xmlns:a="http://schemas.openxmlformats.org/drawingml/2006/main">
              <a:ext uri="{FF2B5EF4-FFF2-40B4-BE49-F238E27FC236}">
                <a16:creationId xmlns:a16="http://schemas.microsoft.com/office/drawing/2014/main" id="{71F91AC2-14C1-48BB-A68A-F902489C68E4}"/>
              </a:ext>
            </a:extLst>
          </p:cNvPr>
          <p:cNvSpPr>
            <a:spLocks xmlns:a="http://schemas.openxmlformats.org/drawingml/2006/main" noGrp="1"/>
          </p:cNvSpPr>
          <p:nvPr/>
        </p:nvSpPr>
        <p:spPr>
          <a:xfrm xmlns:a="http://schemas.openxmlformats.org/drawingml/2006/main">
            <a:off x="533400" y="60579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September 2026</a:t>
            </a:r>
          </a:p>
        </p:txBody>
      </p:sp>
    </p:spTree>
    <p:extLst>
      <p:ext uri="{BB962C8B-B14F-4D97-AF65-F5344CB8AC3E}">
        <p14:creationId xmlns:p14="http://schemas.microsoft.com/office/powerpoint/2010/main" val="426813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C3C01214-2E9C-4191-B463-C38D63E89710}"/>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problem with fixed learning sequences</a:t>
            </a:r>
          </a:p>
        </p:txBody>
      </p:sp>
      <p:sp>
        <p:nvSpPr>
          <p:cNvPr id="2" name="">
            <a:extLst xmlns:a="http://schemas.openxmlformats.org/drawingml/2006/main">
              <a:ext uri="{FF2B5EF4-FFF2-40B4-BE49-F238E27FC236}">
                <a16:creationId xmlns:a16="http://schemas.microsoft.com/office/drawing/2014/main" id="{D8C254D4-D7F8-48FC-8F94-E876C227F6C1}"/>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Two learners can enter the same course with very different knowledge</a:t>
            </a:r>
          </a:p>
        </p:txBody>
      </p:sp>
      <p:sp>
        <p:nvSpPr>
          <p:cNvPr id="3" name="">
            <a:extLst xmlns:a="http://schemas.openxmlformats.org/drawingml/2006/main">
              <a:ext uri="{FF2B5EF4-FFF2-40B4-BE49-F238E27FC236}">
                <a16:creationId xmlns:a16="http://schemas.microsoft.com/office/drawing/2014/main" id="{693FA777-4178-4872-9A37-C41D40DA862F}"/>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DBAD1ECD-20B8-4448-BD63-C8464B97AE6E}"/>
              </a:ext>
            </a:extLst>
          </p:cNvPr>
          <p:cNvSpPr>
            <a:spLocks xmlns:a="http://schemas.openxmlformats.org/drawingml/2006/main" noGrp="1"/>
          </p:cNvSpPr>
          <p:nvPr/>
        </p:nvSpPr>
        <p:spPr>
          <a:xfrm xmlns:a="http://schemas.openxmlformats.org/drawingml/2006/main">
            <a:off x="5143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42318"/>
                </a:solidFill>
                <a:latin typeface="Aptos"/>
                <a:ea typeface="Aptos"/>
                <a:cs typeface="Aptos"/>
              </a:defRPr>
            </a:pPr>
            <a:r>
              <a:rPr sz="1050" b="1">
                <a:solidFill>
                  <a:srgbClr val="B42318"/>
                </a:solidFill>
                <a:latin typeface="Aptos"/>
                <a:ea typeface="Aptos"/>
                <a:cs typeface="Aptos"/>
              </a:rPr>
              <a:t>CONVENTIONAL COURSE</a:t>
            </a:r>
          </a:p>
        </p:txBody>
      </p:sp>
      <p:sp>
        <p:nvSpPr>
          <p:cNvPr id="5" name="">
            <a:extLst xmlns:a="http://schemas.openxmlformats.org/drawingml/2006/main">
              <a:ext uri="{FF2B5EF4-FFF2-40B4-BE49-F238E27FC236}">
                <a16:creationId xmlns:a16="http://schemas.microsoft.com/office/drawing/2014/main" id="{D6EF6DE1-B755-4A16-943B-36C9C2339819}"/>
              </a:ext>
            </a:extLst>
          </p:cNvPr>
          <p:cNvSpPr>
            <a:spLocks xmlns:a="http://schemas.openxmlformats.org/drawingml/2006/main" noGrp="1"/>
          </p:cNvSpPr>
          <p:nvPr/>
        </p:nvSpPr>
        <p:spPr>
          <a:xfrm xmlns:a="http://schemas.openxmlformats.org/drawingml/2006/main">
            <a:off x="5143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Every learner follows the same order</a:t>
            </a:r>
          </a:p>
        </p:txBody>
      </p:sp>
      <p:sp>
        <p:nvSpPr>
          <p:cNvPr id="6" name="">
            <a:extLst xmlns:a="http://schemas.openxmlformats.org/drawingml/2006/main">
              <a:ext uri="{FF2B5EF4-FFF2-40B4-BE49-F238E27FC236}">
                <a16:creationId xmlns:a16="http://schemas.microsoft.com/office/drawing/2014/main" id="{27DF1A2E-DC35-413E-B73B-323729FFAE6F}"/>
              </a:ext>
            </a:extLst>
          </p:cNvPr>
          <p:cNvSpPr>
            <a:spLocks xmlns:a="http://schemas.openxmlformats.org/drawingml/2006/main" noGrp="1"/>
          </p:cNvSpPr>
          <p:nvPr/>
        </p:nvSpPr>
        <p:spPr>
          <a:xfrm xmlns:a="http://schemas.openxmlformats.org/drawingml/2006/main">
            <a:off x="685800" y="2857500"/>
            <a:ext cx="742950" cy="7429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7" name="">
            <a:extLst xmlns:a="http://schemas.openxmlformats.org/drawingml/2006/main">
              <a:ext uri="{FF2B5EF4-FFF2-40B4-BE49-F238E27FC236}">
                <a16:creationId xmlns:a16="http://schemas.microsoft.com/office/drawing/2014/main" id="{8300425C-9009-4B33-A2F5-A79981798C40}"/>
              </a:ext>
            </a:extLst>
          </p:cNvPr>
          <p:cNvSpPr>
            <a:spLocks xmlns:a="http://schemas.openxmlformats.org/drawingml/2006/main" noGrp="1"/>
          </p:cNvSpPr>
          <p:nvPr/>
        </p:nvSpPr>
        <p:spPr>
          <a:xfrm xmlns:a="http://schemas.openxmlformats.org/drawingml/2006/main">
            <a:off x="6858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8A9105A3-3D4C-4C6C-98D2-22D90E397764}"/>
              </a:ext>
            </a:extLst>
          </p:cNvPr>
          <p:cNvSpPr>
            <a:spLocks xmlns:a="http://schemas.openxmlformats.org/drawingml/2006/main" noGrp="1"/>
          </p:cNvSpPr>
          <p:nvPr/>
        </p:nvSpPr>
        <p:spPr>
          <a:xfrm xmlns:a="http://schemas.openxmlformats.org/drawingml/2006/main">
            <a:off x="4953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Arrays</a:t>
            </a:r>
          </a:p>
        </p:txBody>
      </p:sp>
      <p:sp>
        <p:nvSpPr>
          <p:cNvPr id="9" name="">
            <a:extLst xmlns:a="http://schemas.openxmlformats.org/drawingml/2006/main">
              <a:ext uri="{FF2B5EF4-FFF2-40B4-BE49-F238E27FC236}">
                <a16:creationId xmlns:a16="http://schemas.microsoft.com/office/drawing/2014/main" id="{45C6ED18-72F1-4A15-8A07-C9E2DAB2C153}"/>
              </a:ext>
            </a:extLst>
          </p:cNvPr>
          <p:cNvSpPr>
            <a:spLocks xmlns:a="http://schemas.openxmlformats.org/drawingml/2006/main" noGrp="1"/>
          </p:cNvSpPr>
          <p:nvPr/>
        </p:nvSpPr>
        <p:spPr>
          <a:xfrm xmlns:a="http://schemas.openxmlformats.org/drawingml/2006/main">
            <a:off x="19050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0" name="">
            <a:extLst xmlns:a="http://schemas.openxmlformats.org/drawingml/2006/main">
              <a:ext uri="{FF2B5EF4-FFF2-40B4-BE49-F238E27FC236}">
                <a16:creationId xmlns:a16="http://schemas.microsoft.com/office/drawing/2014/main" id="{112C1F57-410E-4EE6-AE6A-077E11AEBCA2}"/>
              </a:ext>
            </a:extLst>
          </p:cNvPr>
          <p:cNvSpPr>
            <a:spLocks xmlns:a="http://schemas.openxmlformats.org/drawingml/2006/main" noGrp="1"/>
          </p:cNvSpPr>
          <p:nvPr/>
        </p:nvSpPr>
        <p:spPr>
          <a:xfrm xmlns:a="http://schemas.openxmlformats.org/drawingml/2006/main">
            <a:off x="19050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5E987056-564B-44E9-A8A6-7F0A91CD0F47}"/>
              </a:ext>
            </a:extLst>
          </p:cNvPr>
          <p:cNvSpPr>
            <a:spLocks xmlns:a="http://schemas.openxmlformats.org/drawingml/2006/main" noGrp="1"/>
          </p:cNvSpPr>
          <p:nvPr/>
        </p:nvSpPr>
        <p:spPr>
          <a:xfrm xmlns:a="http://schemas.openxmlformats.org/drawingml/2006/main">
            <a:off x="17145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Searching</a:t>
            </a:r>
          </a:p>
        </p:txBody>
      </p:sp>
      <p:cxnSp>
        <p:nvCxnSpPr>
          <p:cNvPr id="40" name=""/>
          <p:cNvCxnSpPr>
            <a:stCxn xmlns:a="http://schemas.openxmlformats.org/drawingml/2006/main" id="6" idx="6"/>
            <a:endCxn xmlns:a="http://schemas.openxmlformats.org/drawingml/2006/main" id="9" idx="2"/>
          </p:cNvCxnSpPr>
          <p:nvPr/>
        </p:nvCxnSpPr>
        <p:spPr>
          <a:xfrm xmlns:a="http://schemas.openxmlformats.org/drawingml/2006/main">
            <a:off x="14287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3" name="">
            <a:extLst xmlns:a="http://schemas.openxmlformats.org/drawingml/2006/main">
              <a:ext uri="{FF2B5EF4-FFF2-40B4-BE49-F238E27FC236}">
                <a16:creationId xmlns:a16="http://schemas.microsoft.com/office/drawing/2014/main" id="{3EB7A535-577F-433B-AB43-B2BBC2CA641F}"/>
              </a:ext>
            </a:extLst>
          </p:cNvPr>
          <p:cNvSpPr>
            <a:spLocks xmlns:a="http://schemas.openxmlformats.org/drawingml/2006/main" noGrp="1"/>
          </p:cNvSpPr>
          <p:nvPr/>
        </p:nvSpPr>
        <p:spPr>
          <a:xfrm xmlns:a="http://schemas.openxmlformats.org/drawingml/2006/main">
            <a:off x="31242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4" name="">
            <a:extLst xmlns:a="http://schemas.openxmlformats.org/drawingml/2006/main">
              <a:ext uri="{FF2B5EF4-FFF2-40B4-BE49-F238E27FC236}">
                <a16:creationId xmlns:a16="http://schemas.microsoft.com/office/drawing/2014/main" id="{E97801C4-E978-4E41-AE95-79109F773527}"/>
              </a:ext>
            </a:extLst>
          </p:cNvPr>
          <p:cNvSpPr>
            <a:spLocks xmlns:a="http://schemas.openxmlformats.org/drawingml/2006/main" noGrp="1"/>
          </p:cNvSpPr>
          <p:nvPr/>
        </p:nvSpPr>
        <p:spPr>
          <a:xfrm xmlns:a="http://schemas.openxmlformats.org/drawingml/2006/main">
            <a:off x="31242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0711BD61-0D3E-4929-A43B-CD25E0BE3204}"/>
              </a:ext>
            </a:extLst>
          </p:cNvPr>
          <p:cNvSpPr>
            <a:spLocks xmlns:a="http://schemas.openxmlformats.org/drawingml/2006/main" noGrp="1"/>
          </p:cNvSpPr>
          <p:nvPr/>
        </p:nvSpPr>
        <p:spPr>
          <a:xfrm xmlns:a="http://schemas.openxmlformats.org/drawingml/2006/main">
            <a:off x="29337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Recursion</a:t>
            </a:r>
          </a:p>
        </p:txBody>
      </p:sp>
      <p:cxnSp>
        <p:nvCxnSpPr>
          <p:cNvPr id="44" name=""/>
          <p:cNvCxnSpPr>
            <a:stCxn xmlns:a="http://schemas.openxmlformats.org/drawingml/2006/main" id="9" idx="6"/>
            <a:endCxn xmlns:a="http://schemas.openxmlformats.org/drawingml/2006/main" id="13" idx="2"/>
          </p:cNvCxnSpPr>
          <p:nvPr/>
        </p:nvCxnSpPr>
        <p:spPr>
          <a:xfrm xmlns:a="http://schemas.openxmlformats.org/drawingml/2006/main">
            <a:off x="26479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7" name="">
            <a:extLst xmlns:a="http://schemas.openxmlformats.org/drawingml/2006/main">
              <a:ext uri="{FF2B5EF4-FFF2-40B4-BE49-F238E27FC236}">
                <a16:creationId xmlns:a16="http://schemas.microsoft.com/office/drawing/2014/main" id="{C66B2DF6-3692-4FFE-B17C-5F89677C9066}"/>
              </a:ext>
            </a:extLst>
          </p:cNvPr>
          <p:cNvSpPr>
            <a:spLocks xmlns:a="http://schemas.openxmlformats.org/drawingml/2006/main" noGrp="1"/>
          </p:cNvSpPr>
          <p:nvPr/>
        </p:nvSpPr>
        <p:spPr>
          <a:xfrm xmlns:a="http://schemas.openxmlformats.org/drawingml/2006/main">
            <a:off x="43434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8" name="">
            <a:extLst xmlns:a="http://schemas.openxmlformats.org/drawingml/2006/main">
              <a:ext uri="{FF2B5EF4-FFF2-40B4-BE49-F238E27FC236}">
                <a16:creationId xmlns:a16="http://schemas.microsoft.com/office/drawing/2014/main" id="{28ABD0B9-9E23-42F9-B81C-6DE2530D57AF}"/>
              </a:ext>
            </a:extLst>
          </p:cNvPr>
          <p:cNvSpPr>
            <a:spLocks xmlns:a="http://schemas.openxmlformats.org/drawingml/2006/main" noGrp="1"/>
          </p:cNvSpPr>
          <p:nvPr/>
        </p:nvSpPr>
        <p:spPr>
          <a:xfrm xmlns:a="http://schemas.openxmlformats.org/drawingml/2006/main">
            <a:off x="43434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4</a:t>
            </a:r>
          </a:p>
        </p:txBody>
      </p:sp>
      <p:sp>
        <p:nvSpPr>
          <p:cNvPr id="19" name="">
            <a:extLst xmlns:a="http://schemas.openxmlformats.org/drawingml/2006/main">
              <a:ext uri="{FF2B5EF4-FFF2-40B4-BE49-F238E27FC236}">
                <a16:creationId xmlns:a16="http://schemas.microsoft.com/office/drawing/2014/main" id="{69F0DB0C-8CB3-4D3A-81FE-0AD35BEAEB20}"/>
              </a:ext>
            </a:extLst>
          </p:cNvPr>
          <p:cNvSpPr>
            <a:spLocks xmlns:a="http://schemas.openxmlformats.org/drawingml/2006/main" noGrp="1"/>
          </p:cNvSpPr>
          <p:nvPr/>
        </p:nvSpPr>
        <p:spPr>
          <a:xfrm xmlns:a="http://schemas.openxmlformats.org/drawingml/2006/main">
            <a:off x="41529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Trees</a:t>
            </a:r>
          </a:p>
        </p:txBody>
      </p:sp>
      <p:cxnSp>
        <p:nvCxnSpPr>
          <p:cNvPr id="48" name=""/>
          <p:cNvCxnSpPr>
            <a:stCxn xmlns:a="http://schemas.openxmlformats.org/drawingml/2006/main" id="13" idx="6"/>
            <a:endCxn xmlns:a="http://schemas.openxmlformats.org/drawingml/2006/main" id="17" idx="2"/>
          </p:cNvCxnSpPr>
          <p:nvPr/>
        </p:nvCxnSpPr>
        <p:spPr>
          <a:xfrm xmlns:a="http://schemas.openxmlformats.org/drawingml/2006/main">
            <a:off x="38671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1" name="">
            <a:extLst xmlns:a="http://schemas.openxmlformats.org/drawingml/2006/main">
              <a:ext uri="{FF2B5EF4-FFF2-40B4-BE49-F238E27FC236}">
                <a16:creationId xmlns:a16="http://schemas.microsoft.com/office/drawing/2014/main" id="{22672F5E-C632-4AAE-B626-1700FD982B0E}"/>
              </a:ext>
            </a:extLst>
          </p:cNvPr>
          <p:cNvSpPr>
            <a:spLocks xmlns:a="http://schemas.openxmlformats.org/drawingml/2006/main" noGrp="1"/>
          </p:cNvSpPr>
          <p:nvPr/>
        </p:nvSpPr>
        <p:spPr>
          <a:xfrm xmlns:a="http://schemas.openxmlformats.org/drawingml/2006/main">
            <a:off x="65722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 DECISION</a:t>
            </a:r>
          </a:p>
        </p:txBody>
      </p:sp>
      <p:sp>
        <p:nvSpPr>
          <p:cNvPr id="22" name="">
            <a:extLst xmlns:a="http://schemas.openxmlformats.org/drawingml/2006/main">
              <a:ext uri="{FF2B5EF4-FFF2-40B4-BE49-F238E27FC236}">
                <a16:creationId xmlns:a16="http://schemas.microsoft.com/office/drawing/2014/main" id="{43B49FE7-4BD2-4830-B340-B31BC81E3677}"/>
              </a:ext>
            </a:extLst>
          </p:cNvPr>
          <p:cNvSpPr>
            <a:spLocks xmlns:a="http://schemas.openxmlformats.org/drawingml/2006/main" noGrp="1"/>
          </p:cNvSpPr>
          <p:nvPr/>
        </p:nvSpPr>
        <p:spPr>
          <a:xfrm xmlns:a="http://schemas.openxmlformats.org/drawingml/2006/main">
            <a:off x="6572250" y="18669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The order responds to learner evidence</a:t>
            </a:r>
          </a:p>
        </p:txBody>
      </p:sp>
      <p:sp>
        <p:nvSpPr>
          <p:cNvPr id="23" name="">
            <a:extLst xmlns:a="http://schemas.openxmlformats.org/drawingml/2006/main">
              <a:ext uri="{FF2B5EF4-FFF2-40B4-BE49-F238E27FC236}">
                <a16:creationId xmlns:a16="http://schemas.microsoft.com/office/drawing/2014/main" id="{C9717245-3265-4FCC-B514-6DFFE901ACE1}"/>
              </a:ext>
            </a:extLst>
          </p:cNvPr>
          <p:cNvSpPr>
            <a:spLocks xmlns:a="http://schemas.openxmlformats.org/drawingml/2006/main" noGrp="1"/>
          </p:cNvSpPr>
          <p:nvPr/>
        </p:nvSpPr>
        <p:spPr>
          <a:xfrm xmlns:a="http://schemas.openxmlformats.org/drawingml/2006/main">
            <a:off x="6572250" y="2705100"/>
            <a:ext cx="45529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4" name="">
            <a:extLst xmlns:a="http://schemas.openxmlformats.org/drawingml/2006/main">
              <a:ext uri="{FF2B5EF4-FFF2-40B4-BE49-F238E27FC236}">
                <a16:creationId xmlns:a16="http://schemas.microsoft.com/office/drawing/2014/main" id="{14324371-867B-4146-8689-00C4AAF5597C}"/>
              </a:ext>
            </a:extLst>
          </p:cNvPr>
          <p:cNvSpPr>
            <a:spLocks xmlns:a="http://schemas.openxmlformats.org/drawingml/2006/main" noGrp="1"/>
          </p:cNvSpPr>
          <p:nvPr/>
        </p:nvSpPr>
        <p:spPr>
          <a:xfrm xmlns:a="http://schemas.openxmlformats.org/drawingml/2006/main">
            <a:off x="6781800" y="289560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Recognize prior knowledge</a:t>
            </a:r>
          </a:p>
        </p:txBody>
      </p:sp>
      <p:sp>
        <p:nvSpPr>
          <p:cNvPr id="25" name="">
            <a:extLst xmlns:a="http://schemas.openxmlformats.org/drawingml/2006/main">
              <a:ext uri="{FF2B5EF4-FFF2-40B4-BE49-F238E27FC236}">
                <a16:creationId xmlns:a16="http://schemas.microsoft.com/office/drawing/2014/main" id="{8D937D1E-F822-4F14-ABBB-6632C6FA277E}"/>
              </a:ext>
            </a:extLst>
          </p:cNvPr>
          <p:cNvSpPr>
            <a:spLocks xmlns:a="http://schemas.openxmlformats.org/drawingml/2006/main" noGrp="1"/>
          </p:cNvSpPr>
          <p:nvPr/>
        </p:nvSpPr>
        <p:spPr>
          <a:xfrm xmlns:a="http://schemas.openxmlformats.org/drawingml/2006/main">
            <a:off x="6781800" y="3295650"/>
            <a:ext cx="4133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Reuse mastery demonstrated in another course and avoid unnecessary repetition.</a:t>
            </a:r>
          </a:p>
        </p:txBody>
      </p:sp>
      <p:sp>
        <p:nvSpPr>
          <p:cNvPr id="26" name="">
            <a:extLst xmlns:a="http://schemas.openxmlformats.org/drawingml/2006/main">
              <a:ext uri="{FF2B5EF4-FFF2-40B4-BE49-F238E27FC236}">
                <a16:creationId xmlns:a16="http://schemas.microsoft.com/office/drawing/2014/main" id="{5DE2A616-33FE-44F0-800F-40A3A69065DB}"/>
              </a:ext>
            </a:extLst>
          </p:cNvPr>
          <p:cNvSpPr>
            <a:spLocks xmlns:a="http://schemas.openxmlformats.org/drawingml/2006/main" noGrp="1"/>
          </p:cNvSpPr>
          <p:nvPr/>
        </p:nvSpPr>
        <p:spPr>
          <a:xfrm xmlns:a="http://schemas.openxmlformats.org/drawingml/2006/main">
            <a:off x="6572250" y="4362450"/>
            <a:ext cx="4552950" cy="1257300"/>
          </a:xfrm>
          <a:prstGeom xmlns:a="http://schemas.openxmlformats.org/drawingml/2006/main" prst="roundRect">
            <a:avLst>
              <a:gd name="adj" fmla="val 9091"/>
            </a:avLst>
          </a:prstGeom>
          <a:solidFill xmlns:a="http://schemas.openxmlformats.org/drawingml/2006/main">
            <a:srgbClr val="ECFDF5"/>
          </a:solidFill>
          <a:ln xmlns:a="http://schemas.openxmlformats.org/drawingml/2006/main" w="9525">
            <a:solidFill>
              <a:srgbClr val="0F766E"/>
            </a:solidFill>
            <a:prstDash val="solid"/>
          </a:ln>
        </p:spPr>
      </p:sp>
      <p:sp>
        <p:nvSpPr>
          <p:cNvPr id="27" name="">
            <a:extLst xmlns:a="http://schemas.openxmlformats.org/drawingml/2006/main">
              <a:ext uri="{FF2B5EF4-FFF2-40B4-BE49-F238E27FC236}">
                <a16:creationId xmlns:a16="http://schemas.microsoft.com/office/drawing/2014/main" id="{63D63053-4200-4F78-812D-4CEDB1BAAF7A}"/>
              </a:ext>
            </a:extLst>
          </p:cNvPr>
          <p:cNvSpPr>
            <a:spLocks xmlns:a="http://schemas.openxmlformats.org/drawingml/2006/main" noGrp="1"/>
          </p:cNvSpPr>
          <p:nvPr/>
        </p:nvSpPr>
        <p:spPr>
          <a:xfrm xmlns:a="http://schemas.openxmlformats.org/drawingml/2006/main">
            <a:off x="6781800" y="455295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Protect prerequisite safety</a:t>
            </a:r>
          </a:p>
        </p:txBody>
      </p:sp>
      <p:sp>
        <p:nvSpPr>
          <p:cNvPr id="28" name="">
            <a:extLst xmlns:a="http://schemas.openxmlformats.org/drawingml/2006/main">
              <a:ext uri="{FF2B5EF4-FFF2-40B4-BE49-F238E27FC236}">
                <a16:creationId xmlns:a16="http://schemas.microsoft.com/office/drawing/2014/main" id="{0EF7472F-7EF1-4C02-875A-633FB912EF5E}"/>
              </a:ext>
            </a:extLst>
          </p:cNvPr>
          <p:cNvSpPr>
            <a:spLocks xmlns:a="http://schemas.openxmlformats.org/drawingml/2006/main" noGrp="1"/>
          </p:cNvSpPr>
          <p:nvPr/>
        </p:nvSpPr>
        <p:spPr>
          <a:xfrm xmlns:a="http://schemas.openxmlformats.org/drawingml/2006/main">
            <a:off x="6781800" y="4953000"/>
            <a:ext cx="4133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Keep advanced skills locked until required foundations pass their evidence threshold.</a:t>
            </a:r>
          </a:p>
        </p:txBody>
      </p:sp>
    </p:spTree>
    <p:extLst>
      <p:ext uri="{BB962C8B-B14F-4D97-AF65-F5344CB8AC3E}">
        <p14:creationId xmlns:p14="http://schemas.microsoft.com/office/powerpoint/2010/main" val="3239566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807355A3-2713-48A6-B83A-0D71C114648F}"/>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Core objective</a:t>
            </a:r>
          </a:p>
        </p:txBody>
      </p:sp>
      <p:sp>
        <p:nvSpPr>
          <p:cNvPr id="2" name="">
            <a:extLst xmlns:a="http://schemas.openxmlformats.org/drawingml/2006/main">
              <a:ext uri="{FF2B5EF4-FFF2-40B4-BE49-F238E27FC236}">
                <a16:creationId xmlns:a16="http://schemas.microsoft.com/office/drawing/2014/main" id="{9DC12C4D-33E6-4EEF-8488-6BB2FB24BD5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F13096FC-CD45-41C1-83EA-6303A33C0896}"/>
              </a:ext>
            </a:extLst>
          </p:cNvPr>
          <p:cNvSpPr>
            <a:spLocks xmlns:a="http://schemas.openxmlformats.org/drawingml/2006/main" noGrp="1"/>
          </p:cNvSpPr>
          <p:nvPr/>
        </p:nvSpPr>
        <p:spPr>
          <a:xfrm xmlns:a="http://schemas.openxmlformats.org/drawingml/2006/main">
            <a:off x="609600" y="14287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000" b="1">
                <a:solidFill>
                  <a:srgbClr val="4F46E5"/>
                </a:solidFill>
                <a:latin typeface="Aptos"/>
                <a:ea typeface="Aptos"/>
                <a:cs typeface="Aptos"/>
              </a:defRPr>
            </a:pPr>
            <a:r>
              <a:rPr sz="3000" b="1">
                <a:solidFill>
                  <a:srgbClr val="4F46E5"/>
                </a:solidFill>
                <a:latin typeface="Aptos"/>
                <a:ea typeface="Aptos"/>
                <a:cs typeface="Aptos"/>
              </a:rPr>
              <a:t>Determine the best safe next learning action from current evidence and explain the reason</a:t>
            </a:r>
          </a:p>
        </p:txBody>
      </p:sp>
      <p:sp>
        <p:nvSpPr>
          <p:cNvPr id="4" name="">
            <a:extLst xmlns:a="http://schemas.openxmlformats.org/drawingml/2006/main">
              <a:ext uri="{FF2B5EF4-FFF2-40B4-BE49-F238E27FC236}">
                <a16:creationId xmlns:a16="http://schemas.microsoft.com/office/drawing/2014/main" id="{6EB0AA64-8C67-4577-AC3C-3220BFDCFC5D}"/>
              </a:ext>
            </a:extLst>
          </p:cNvPr>
          <p:cNvSpPr>
            <a:spLocks xmlns:a="http://schemas.openxmlformats.org/drawingml/2006/main" noGrp="1"/>
          </p:cNvSpPr>
          <p:nvPr/>
        </p:nvSpPr>
        <p:spPr>
          <a:xfrm xmlns:a="http://schemas.openxmlformats.org/drawingml/2006/main">
            <a:off x="4572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9AE97F68-8F3F-4125-836E-C505CAB711AA}"/>
              </a:ext>
            </a:extLst>
          </p:cNvPr>
          <p:cNvSpPr>
            <a:spLocks xmlns:a="http://schemas.openxmlformats.org/drawingml/2006/main" noGrp="1"/>
          </p:cNvSpPr>
          <p:nvPr/>
        </p:nvSpPr>
        <p:spPr>
          <a:xfrm xmlns:a="http://schemas.openxmlformats.org/drawingml/2006/main">
            <a:off x="4572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the learner knows</a:t>
            </a:r>
          </a:p>
        </p:txBody>
      </p:sp>
      <p:sp>
        <p:nvSpPr>
          <p:cNvPr id="6" name="">
            <a:extLst xmlns:a="http://schemas.openxmlformats.org/drawingml/2006/main">
              <a:ext uri="{FF2B5EF4-FFF2-40B4-BE49-F238E27FC236}">
                <a16:creationId xmlns:a16="http://schemas.microsoft.com/office/drawing/2014/main" id="{3CF5A9CB-3C79-44B6-95F3-6F8683B71760}"/>
              </a:ext>
            </a:extLst>
          </p:cNvPr>
          <p:cNvSpPr>
            <a:spLocks xmlns:a="http://schemas.openxmlformats.org/drawingml/2006/main" noGrp="1"/>
          </p:cNvSpPr>
          <p:nvPr/>
        </p:nvSpPr>
        <p:spPr>
          <a:xfrm xmlns:a="http://schemas.openxmlformats.org/drawingml/2006/main">
            <a:off x="4572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mastery and confidence</a:t>
            </a:r>
          </a:p>
        </p:txBody>
      </p:sp>
      <p:sp>
        <p:nvSpPr>
          <p:cNvPr id="7" name="">
            <a:extLst xmlns:a="http://schemas.openxmlformats.org/drawingml/2006/main">
              <a:ext uri="{FF2B5EF4-FFF2-40B4-BE49-F238E27FC236}">
                <a16:creationId xmlns:a16="http://schemas.microsoft.com/office/drawing/2014/main" id="{4F7A563C-871F-4D5C-9182-8C49B52F3C8F}"/>
              </a:ext>
            </a:extLst>
          </p:cNvPr>
          <p:cNvSpPr>
            <a:spLocks xmlns:a="http://schemas.openxmlformats.org/drawingml/2006/main" noGrp="1"/>
          </p:cNvSpPr>
          <p:nvPr/>
        </p:nvSpPr>
        <p:spPr>
          <a:xfrm xmlns:a="http://schemas.openxmlformats.org/drawingml/2006/main">
            <a:off x="28003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2F07C4BB-E1E8-41E7-B6BA-3735F0B95965}"/>
              </a:ext>
            </a:extLst>
          </p:cNvPr>
          <p:cNvSpPr>
            <a:spLocks xmlns:a="http://schemas.openxmlformats.org/drawingml/2006/main" noGrp="1"/>
          </p:cNvSpPr>
          <p:nvPr/>
        </p:nvSpPr>
        <p:spPr>
          <a:xfrm xmlns:a="http://schemas.openxmlformats.org/drawingml/2006/main">
            <a:off x="28003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may be missing</a:t>
            </a:r>
          </a:p>
        </p:txBody>
      </p:sp>
      <p:sp>
        <p:nvSpPr>
          <p:cNvPr id="9" name="">
            <a:extLst xmlns:a="http://schemas.openxmlformats.org/drawingml/2006/main">
              <a:ext uri="{FF2B5EF4-FFF2-40B4-BE49-F238E27FC236}">
                <a16:creationId xmlns:a16="http://schemas.microsoft.com/office/drawing/2014/main" id="{671BA025-70CC-4063-B143-FCFD455AF146}"/>
              </a:ext>
            </a:extLst>
          </p:cNvPr>
          <p:cNvSpPr>
            <a:spLocks xmlns:a="http://schemas.openxmlformats.org/drawingml/2006/main" noGrp="1"/>
          </p:cNvSpPr>
          <p:nvPr/>
        </p:nvSpPr>
        <p:spPr>
          <a:xfrm xmlns:a="http://schemas.openxmlformats.org/drawingml/2006/main">
            <a:off x="28003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Skill gaps and weak foundations</a:t>
            </a:r>
          </a:p>
        </p:txBody>
      </p:sp>
      <p:sp>
        <p:nvSpPr>
          <p:cNvPr id="10" name="">
            <a:extLst xmlns:a="http://schemas.openxmlformats.org/drawingml/2006/main">
              <a:ext uri="{FF2B5EF4-FFF2-40B4-BE49-F238E27FC236}">
                <a16:creationId xmlns:a16="http://schemas.microsoft.com/office/drawing/2014/main" id="{01783A80-FCC3-477A-8F44-BA15D15CDBAE}"/>
              </a:ext>
            </a:extLst>
          </p:cNvPr>
          <p:cNvSpPr>
            <a:spLocks xmlns:a="http://schemas.openxmlformats.org/drawingml/2006/main" noGrp="1"/>
          </p:cNvSpPr>
          <p:nvPr/>
        </p:nvSpPr>
        <p:spPr>
          <a:xfrm xmlns:a="http://schemas.openxmlformats.org/drawingml/2006/main">
            <a:off x="51435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6419D4B9-E56B-40FA-8C7B-B0560C48FE4A}"/>
              </a:ext>
            </a:extLst>
          </p:cNvPr>
          <p:cNvSpPr>
            <a:spLocks xmlns:a="http://schemas.openxmlformats.org/drawingml/2006/main" noGrp="1"/>
          </p:cNvSpPr>
          <p:nvPr/>
        </p:nvSpPr>
        <p:spPr>
          <a:xfrm xmlns:a="http://schemas.openxmlformats.org/drawingml/2006/main">
            <a:off x="51435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remains locked</a:t>
            </a:r>
          </a:p>
        </p:txBody>
      </p:sp>
      <p:sp>
        <p:nvSpPr>
          <p:cNvPr id="12" name="">
            <a:extLst xmlns:a="http://schemas.openxmlformats.org/drawingml/2006/main">
              <a:ext uri="{FF2B5EF4-FFF2-40B4-BE49-F238E27FC236}">
                <a16:creationId xmlns:a16="http://schemas.microsoft.com/office/drawing/2014/main" id="{73D2170A-073C-4BF4-B1F5-363D0C19057C}"/>
              </a:ext>
            </a:extLst>
          </p:cNvPr>
          <p:cNvSpPr>
            <a:spLocks xmlns:a="http://schemas.openxmlformats.org/drawingml/2006/main" noGrp="1"/>
          </p:cNvSpPr>
          <p:nvPr/>
        </p:nvSpPr>
        <p:spPr>
          <a:xfrm xmlns:a="http://schemas.openxmlformats.org/drawingml/2006/main">
            <a:off x="51435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Failed required prerequisites</a:t>
            </a:r>
          </a:p>
        </p:txBody>
      </p:sp>
      <p:sp>
        <p:nvSpPr>
          <p:cNvPr id="13" name="">
            <a:extLst xmlns:a="http://schemas.openxmlformats.org/drawingml/2006/main">
              <a:ext uri="{FF2B5EF4-FFF2-40B4-BE49-F238E27FC236}">
                <a16:creationId xmlns:a16="http://schemas.microsoft.com/office/drawing/2014/main" id="{77CC8B88-9967-465E-92AB-8FEAAC41D387}"/>
              </a:ext>
            </a:extLst>
          </p:cNvPr>
          <p:cNvSpPr>
            <a:spLocks xmlns:a="http://schemas.openxmlformats.org/drawingml/2006/main" noGrp="1"/>
          </p:cNvSpPr>
          <p:nvPr/>
        </p:nvSpPr>
        <p:spPr>
          <a:xfrm xmlns:a="http://schemas.openxmlformats.org/drawingml/2006/main">
            <a:off x="74866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4" name="">
            <a:extLst xmlns:a="http://schemas.openxmlformats.org/drawingml/2006/main">
              <a:ext uri="{FF2B5EF4-FFF2-40B4-BE49-F238E27FC236}">
                <a16:creationId xmlns:a16="http://schemas.microsoft.com/office/drawing/2014/main" id="{B4156CA1-3F34-4FC8-8995-9D84A3A1871D}"/>
              </a:ext>
            </a:extLst>
          </p:cNvPr>
          <p:cNvSpPr>
            <a:spLocks xmlns:a="http://schemas.openxmlformats.org/drawingml/2006/main" noGrp="1"/>
          </p:cNvSpPr>
          <p:nvPr/>
        </p:nvSpPr>
        <p:spPr>
          <a:xfrm xmlns:a="http://schemas.openxmlformats.org/drawingml/2006/main">
            <a:off x="74866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comes next</a:t>
            </a:r>
          </a:p>
        </p:txBody>
      </p:sp>
      <p:sp>
        <p:nvSpPr>
          <p:cNvPr id="15" name="">
            <a:extLst xmlns:a="http://schemas.openxmlformats.org/drawingml/2006/main">
              <a:ext uri="{FF2B5EF4-FFF2-40B4-BE49-F238E27FC236}">
                <a16:creationId xmlns:a16="http://schemas.microsoft.com/office/drawing/2014/main" id="{7D84DD3C-97A0-4560-9E4B-AC4798A5BF72}"/>
              </a:ext>
            </a:extLst>
          </p:cNvPr>
          <p:cNvSpPr>
            <a:spLocks xmlns:a="http://schemas.openxmlformats.org/drawingml/2006/main" noGrp="1"/>
          </p:cNvSpPr>
          <p:nvPr/>
        </p:nvSpPr>
        <p:spPr>
          <a:xfrm xmlns:a="http://schemas.openxmlformats.org/drawingml/2006/main">
            <a:off x="74866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eligible skill</a:t>
            </a:r>
          </a:p>
        </p:txBody>
      </p:sp>
      <p:sp>
        <p:nvSpPr>
          <p:cNvPr id="16" name="">
            <a:extLst xmlns:a="http://schemas.openxmlformats.org/drawingml/2006/main">
              <a:ext uri="{FF2B5EF4-FFF2-40B4-BE49-F238E27FC236}">
                <a16:creationId xmlns:a16="http://schemas.microsoft.com/office/drawing/2014/main" id="{37BE1345-B466-4AAF-9435-935D3DFFE82C}"/>
              </a:ext>
            </a:extLst>
          </p:cNvPr>
          <p:cNvSpPr>
            <a:spLocks xmlns:a="http://schemas.openxmlformats.org/drawingml/2006/main" noGrp="1"/>
          </p:cNvSpPr>
          <p:nvPr/>
        </p:nvSpPr>
        <p:spPr>
          <a:xfrm xmlns:a="http://schemas.openxmlformats.org/drawingml/2006/main">
            <a:off x="98298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7" name="">
            <a:extLst xmlns:a="http://schemas.openxmlformats.org/drawingml/2006/main">
              <a:ext uri="{FF2B5EF4-FFF2-40B4-BE49-F238E27FC236}">
                <a16:creationId xmlns:a16="http://schemas.microsoft.com/office/drawing/2014/main" id="{23650E3D-3A9D-46CC-B634-0F24D48462C7}"/>
              </a:ext>
            </a:extLst>
          </p:cNvPr>
          <p:cNvSpPr>
            <a:spLocks xmlns:a="http://schemas.openxmlformats.org/drawingml/2006/main" noGrp="1"/>
          </p:cNvSpPr>
          <p:nvPr/>
        </p:nvSpPr>
        <p:spPr>
          <a:xfrm xmlns:a="http://schemas.openxmlformats.org/drawingml/2006/main">
            <a:off x="98298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Why it comes next</a:t>
            </a:r>
          </a:p>
        </p:txBody>
      </p:sp>
      <p:sp>
        <p:nvSpPr>
          <p:cNvPr id="18" name="">
            <a:extLst xmlns:a="http://schemas.openxmlformats.org/drawingml/2006/main">
              <a:ext uri="{FF2B5EF4-FFF2-40B4-BE49-F238E27FC236}">
                <a16:creationId xmlns:a16="http://schemas.microsoft.com/office/drawing/2014/main" id="{929D09F7-C1B5-490F-92E2-BB26E89DF36B}"/>
              </a:ext>
            </a:extLst>
          </p:cNvPr>
          <p:cNvSpPr>
            <a:spLocks xmlns:a="http://schemas.openxmlformats.org/drawingml/2006/main" noGrp="1"/>
          </p:cNvSpPr>
          <p:nvPr/>
        </p:nvSpPr>
        <p:spPr>
          <a:xfrm xmlns:a="http://schemas.openxmlformats.org/drawingml/2006/main">
            <a:off x="98298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Stored evidence and reason codes</a:t>
            </a:r>
          </a:p>
        </p:txBody>
      </p:sp>
      <p:sp>
        <p:nvSpPr>
          <p:cNvPr id="19" name="">
            <a:extLst xmlns:a="http://schemas.openxmlformats.org/drawingml/2006/main">
              <a:ext uri="{FF2B5EF4-FFF2-40B4-BE49-F238E27FC236}">
                <a16:creationId xmlns:a16="http://schemas.microsoft.com/office/drawing/2014/main" id="{FAC0398B-729E-435E-975A-7F99E7FC306B}"/>
              </a:ext>
            </a:extLst>
          </p:cNvPr>
          <p:cNvSpPr>
            <a:spLocks xmlns:a="http://schemas.openxmlformats.org/drawingml/2006/main" noGrp="1"/>
          </p:cNvSpPr>
          <p:nvPr/>
        </p:nvSpPr>
        <p:spPr>
          <a:xfrm xmlns:a="http://schemas.openxmlformats.org/drawingml/2006/main">
            <a:off x="609600" y="57340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526079"/>
                </a:solidFill>
                <a:latin typeface="Aptos"/>
                <a:ea typeface="Aptos"/>
                <a:cs typeface="Aptos"/>
              </a:defRPr>
            </a:pPr>
            <a:r>
              <a:rPr sz="1650" b="0">
                <a:solidFill>
                  <a:srgbClr val="526079"/>
                </a:solidFill>
                <a:latin typeface="Aptos"/>
                <a:ea typeface="Aptos"/>
                <a:cs typeface="Aptos"/>
              </a:rPr>
              <a:t>The learner sees the decision. The reviewer can inspect how the system produced it.</a:t>
            </a:r>
          </a:p>
        </p:txBody>
      </p:sp>
    </p:spTree>
    <p:extLst>
      <p:ext uri="{BB962C8B-B14F-4D97-AF65-F5344CB8AC3E}">
        <p14:creationId xmlns:p14="http://schemas.microsoft.com/office/powerpoint/2010/main" val="12610011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lide-title">
            <a:extLst xmlns:a="http://schemas.openxmlformats.org/drawingml/2006/main">
              <a:ext uri="{FF2B5EF4-FFF2-40B4-BE49-F238E27FC236}">
                <a16:creationId xmlns:a16="http://schemas.microsoft.com/office/drawing/2014/main" id="{1338B938-4177-4F06-A353-103984633867}"/>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learning loop</a:t>
            </a:r>
          </a:p>
        </p:txBody>
      </p:sp>
      <p:sp>
        <p:nvSpPr>
          <p:cNvPr id="2" name="">
            <a:extLst xmlns:a="http://schemas.openxmlformats.org/drawingml/2006/main">
              <a:ext uri="{FF2B5EF4-FFF2-40B4-BE49-F238E27FC236}">
                <a16:creationId xmlns:a16="http://schemas.microsoft.com/office/drawing/2014/main" id="{C783E133-5AD5-48F0-A0D0-CCCC8F0EA4B6}"/>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scored interaction can change what the learner should study next</a:t>
            </a:r>
          </a:p>
        </p:txBody>
      </p:sp>
      <p:sp>
        <p:nvSpPr>
          <p:cNvPr id="3" name="">
            <a:extLst xmlns:a="http://schemas.openxmlformats.org/drawingml/2006/main">
              <a:ext uri="{FF2B5EF4-FFF2-40B4-BE49-F238E27FC236}">
                <a16:creationId xmlns:a16="http://schemas.microsoft.com/office/drawing/2014/main" id="{5EDF75BF-7206-4908-A802-4CDFD5CB60AF}"/>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E7A31EB9-13D5-4A1E-989F-3CB1776F6777}"/>
              </a:ext>
            </a:extLst>
          </p:cNvPr>
          <p:cNvSpPr>
            <a:spLocks xmlns:a="http://schemas.openxmlformats.org/drawingml/2006/main" noGrp="1"/>
          </p:cNvSpPr>
          <p:nvPr/>
        </p:nvSpPr>
        <p:spPr>
          <a:xfrm xmlns:a="http://schemas.openxmlformats.org/drawingml/2006/main">
            <a:off x="514350" y="161925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83E80FDD-E488-4E0D-ACC6-829645B3EFD5}"/>
              </a:ext>
            </a:extLst>
          </p:cNvPr>
          <p:cNvSpPr>
            <a:spLocks xmlns:a="http://schemas.openxmlformats.org/drawingml/2006/main" noGrp="1"/>
          </p:cNvSpPr>
          <p:nvPr/>
        </p:nvSpPr>
        <p:spPr>
          <a:xfrm xmlns:a="http://schemas.openxmlformats.org/drawingml/2006/main">
            <a:off x="6858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5F0C9810-3945-436D-B869-3E14613C19F0}"/>
              </a:ext>
            </a:extLst>
          </p:cNvPr>
          <p:cNvSpPr>
            <a:spLocks xmlns:a="http://schemas.openxmlformats.org/drawingml/2006/main" noGrp="1"/>
          </p:cNvSpPr>
          <p:nvPr/>
        </p:nvSpPr>
        <p:spPr>
          <a:xfrm xmlns:a="http://schemas.openxmlformats.org/drawingml/2006/main">
            <a:off x="6858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Learner knowledge</a:t>
            </a:r>
          </a:p>
        </p:txBody>
      </p:sp>
      <p:sp>
        <p:nvSpPr>
          <p:cNvPr id="7" name="">
            <a:extLst xmlns:a="http://schemas.openxmlformats.org/drawingml/2006/main">
              <a:ext uri="{FF2B5EF4-FFF2-40B4-BE49-F238E27FC236}">
                <a16:creationId xmlns:a16="http://schemas.microsoft.com/office/drawing/2014/main" id="{2D1787C2-2089-401D-8F5A-DEB39B5D93AF}"/>
              </a:ext>
            </a:extLst>
          </p:cNvPr>
          <p:cNvSpPr>
            <a:spLocks xmlns:a="http://schemas.openxmlformats.org/drawingml/2006/main" noGrp="1"/>
          </p:cNvSpPr>
          <p:nvPr/>
        </p:nvSpPr>
        <p:spPr>
          <a:xfrm xmlns:a="http://schemas.openxmlformats.org/drawingml/2006/main">
            <a:off x="3390900" y="1619250"/>
            <a:ext cx="2266950" cy="1200150"/>
          </a:xfrm>
          <a:prstGeom xmlns:a="http://schemas.openxmlformats.org/drawingml/2006/main" prst="roundRect">
            <a:avLst>
              <a:gd name="adj" fmla="val 9524"/>
            </a:avLst>
          </a:prstGeom>
          <a:solidFill xmlns:a="http://schemas.openxmlformats.org/drawingml/2006/main">
            <a:srgbClr val="FFF1F0"/>
          </a:solidFill>
          <a:ln xmlns:a="http://schemas.openxmlformats.org/drawingml/2006/main" w="9525">
            <a:solidFill>
              <a:srgbClr val="B42318"/>
            </a:solidFill>
            <a:prstDash val="solid"/>
          </a:ln>
        </p:spPr>
      </p:sp>
      <p:sp>
        <p:nvSpPr>
          <p:cNvPr id="8" name="">
            <a:extLst xmlns:a="http://schemas.openxmlformats.org/drawingml/2006/main">
              <a:ext uri="{FF2B5EF4-FFF2-40B4-BE49-F238E27FC236}">
                <a16:creationId xmlns:a16="http://schemas.microsoft.com/office/drawing/2014/main" id="{168E2FBE-5A5F-4A9B-B8A0-727FFBB77B74}"/>
              </a:ext>
            </a:extLst>
          </p:cNvPr>
          <p:cNvSpPr>
            <a:spLocks xmlns:a="http://schemas.openxmlformats.org/drawingml/2006/main" noGrp="1"/>
          </p:cNvSpPr>
          <p:nvPr/>
        </p:nvSpPr>
        <p:spPr>
          <a:xfrm xmlns:a="http://schemas.openxmlformats.org/drawingml/2006/main">
            <a:off x="35623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B42318"/>
                </a:solidFill>
                <a:latin typeface="Aptos"/>
                <a:ea typeface="Aptos"/>
                <a:cs typeface="Aptos"/>
              </a:defRPr>
            </a:pPr>
            <a:r>
              <a:rPr sz="1275" b="1">
                <a:solidFill>
                  <a:srgbClr val="B42318"/>
                </a:solidFill>
                <a:latin typeface="Aptos"/>
                <a:ea typeface="Aptos"/>
                <a:cs typeface="Aptos"/>
              </a:rPr>
              <a:t>2</a:t>
            </a:r>
          </a:p>
        </p:txBody>
      </p:sp>
      <p:sp>
        <p:nvSpPr>
          <p:cNvPr id="9" name="">
            <a:extLst xmlns:a="http://schemas.openxmlformats.org/drawingml/2006/main">
              <a:ext uri="{FF2B5EF4-FFF2-40B4-BE49-F238E27FC236}">
                <a16:creationId xmlns:a16="http://schemas.microsoft.com/office/drawing/2014/main" id="{435BA027-1CCB-4D15-A030-7C1D83F3E619}"/>
              </a:ext>
            </a:extLst>
          </p:cNvPr>
          <p:cNvSpPr>
            <a:spLocks xmlns:a="http://schemas.openxmlformats.org/drawingml/2006/main" noGrp="1"/>
          </p:cNvSpPr>
          <p:nvPr/>
        </p:nvSpPr>
        <p:spPr>
          <a:xfrm xmlns:a="http://schemas.openxmlformats.org/drawingml/2006/main">
            <a:off x="35623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B42318"/>
                </a:solidFill>
                <a:latin typeface="Aptos"/>
                <a:ea typeface="Aptos"/>
                <a:cs typeface="Aptos"/>
              </a:defRPr>
            </a:pPr>
            <a:r>
              <a:rPr sz="1650" b="1">
                <a:solidFill>
                  <a:srgbClr val="B42318"/>
                </a:solidFill>
                <a:latin typeface="Aptos"/>
                <a:ea typeface="Aptos"/>
                <a:cs typeface="Aptos"/>
              </a:rPr>
              <a:t>Skill gaps</a:t>
            </a:r>
          </a:p>
        </p:txBody>
      </p:sp>
      <p:sp>
        <p:nvSpPr>
          <p:cNvPr id="10" name="">
            <a:extLst xmlns:a="http://schemas.openxmlformats.org/drawingml/2006/main">
              <a:ext uri="{FF2B5EF4-FFF2-40B4-BE49-F238E27FC236}">
                <a16:creationId xmlns:a16="http://schemas.microsoft.com/office/drawing/2014/main" id="{1DB30B7D-78C3-466A-B2D4-C9BA5FEC8521}"/>
              </a:ext>
            </a:extLst>
          </p:cNvPr>
          <p:cNvSpPr>
            <a:spLocks xmlns:a="http://schemas.openxmlformats.org/drawingml/2006/main" noGrp="1"/>
          </p:cNvSpPr>
          <p:nvPr/>
        </p:nvSpPr>
        <p:spPr>
          <a:xfrm xmlns:a="http://schemas.openxmlformats.org/drawingml/2006/main">
            <a:off x="6267450" y="161925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11" name="">
            <a:extLst xmlns:a="http://schemas.openxmlformats.org/drawingml/2006/main">
              <a:ext uri="{FF2B5EF4-FFF2-40B4-BE49-F238E27FC236}">
                <a16:creationId xmlns:a16="http://schemas.microsoft.com/office/drawing/2014/main" id="{ACCBA4AB-2318-4075-912D-C713EF586166}"/>
              </a:ext>
            </a:extLst>
          </p:cNvPr>
          <p:cNvSpPr>
            <a:spLocks xmlns:a="http://schemas.openxmlformats.org/drawingml/2006/main" noGrp="1"/>
          </p:cNvSpPr>
          <p:nvPr/>
        </p:nvSpPr>
        <p:spPr>
          <a:xfrm xmlns:a="http://schemas.openxmlformats.org/drawingml/2006/main">
            <a:off x="64389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3</a:t>
            </a:r>
          </a:p>
        </p:txBody>
      </p:sp>
      <p:sp>
        <p:nvSpPr>
          <p:cNvPr id="12" name="">
            <a:extLst xmlns:a="http://schemas.openxmlformats.org/drawingml/2006/main">
              <a:ext uri="{FF2B5EF4-FFF2-40B4-BE49-F238E27FC236}">
                <a16:creationId xmlns:a16="http://schemas.microsoft.com/office/drawing/2014/main" id="{5E105C70-8A7F-488C-A8C1-41967F949B17}"/>
              </a:ext>
            </a:extLst>
          </p:cNvPr>
          <p:cNvSpPr>
            <a:spLocks xmlns:a="http://schemas.openxmlformats.org/drawingml/2006/main" noGrp="1"/>
          </p:cNvSpPr>
          <p:nvPr/>
        </p:nvSpPr>
        <p:spPr>
          <a:xfrm xmlns:a="http://schemas.openxmlformats.org/drawingml/2006/main">
            <a:off x="64389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Prerequisite analysis</a:t>
            </a:r>
          </a:p>
        </p:txBody>
      </p:sp>
      <p:sp>
        <p:nvSpPr>
          <p:cNvPr id="13" name="">
            <a:extLst xmlns:a="http://schemas.openxmlformats.org/drawingml/2006/main">
              <a:ext uri="{FF2B5EF4-FFF2-40B4-BE49-F238E27FC236}">
                <a16:creationId xmlns:a16="http://schemas.microsoft.com/office/drawing/2014/main" id="{582DA4D5-8E64-4C67-AAA0-A36D158072E5}"/>
              </a:ext>
            </a:extLst>
          </p:cNvPr>
          <p:cNvSpPr>
            <a:spLocks xmlns:a="http://schemas.openxmlformats.org/drawingml/2006/main" noGrp="1"/>
          </p:cNvSpPr>
          <p:nvPr/>
        </p:nvSpPr>
        <p:spPr>
          <a:xfrm xmlns:a="http://schemas.openxmlformats.org/drawingml/2006/main">
            <a:off x="9144000" y="161925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526079"/>
            </a:solidFill>
            <a:prstDash val="solid"/>
          </a:ln>
        </p:spPr>
      </p:sp>
      <p:sp>
        <p:nvSpPr>
          <p:cNvPr id="14" name="">
            <a:extLst xmlns:a="http://schemas.openxmlformats.org/drawingml/2006/main">
              <a:ext uri="{FF2B5EF4-FFF2-40B4-BE49-F238E27FC236}">
                <a16:creationId xmlns:a16="http://schemas.microsoft.com/office/drawing/2014/main" id="{DE789E45-57FB-4A1C-89FF-079C11AE095E}"/>
              </a:ext>
            </a:extLst>
          </p:cNvPr>
          <p:cNvSpPr>
            <a:spLocks xmlns:a="http://schemas.openxmlformats.org/drawingml/2006/main" noGrp="1"/>
          </p:cNvSpPr>
          <p:nvPr/>
        </p:nvSpPr>
        <p:spPr>
          <a:xfrm xmlns:a="http://schemas.openxmlformats.org/drawingml/2006/main">
            <a:off x="93154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526079"/>
                </a:solidFill>
                <a:latin typeface="Aptos"/>
                <a:ea typeface="Aptos"/>
                <a:cs typeface="Aptos"/>
              </a:defRPr>
            </a:pPr>
            <a:r>
              <a:rPr sz="1275" b="1">
                <a:solidFill>
                  <a:srgbClr val="526079"/>
                </a:solidFill>
                <a:latin typeface="Aptos"/>
                <a:ea typeface="Aptos"/>
                <a:cs typeface="Aptos"/>
              </a:rPr>
              <a:t>4</a:t>
            </a:r>
          </a:p>
        </p:txBody>
      </p:sp>
      <p:sp>
        <p:nvSpPr>
          <p:cNvPr id="15" name="">
            <a:extLst xmlns:a="http://schemas.openxmlformats.org/drawingml/2006/main">
              <a:ext uri="{FF2B5EF4-FFF2-40B4-BE49-F238E27FC236}">
                <a16:creationId xmlns:a16="http://schemas.microsoft.com/office/drawing/2014/main" id="{2D885D6E-45D4-4064-922E-5D63E834DF05}"/>
              </a:ext>
            </a:extLst>
          </p:cNvPr>
          <p:cNvSpPr>
            <a:spLocks xmlns:a="http://schemas.openxmlformats.org/drawingml/2006/main" noGrp="1"/>
          </p:cNvSpPr>
          <p:nvPr/>
        </p:nvSpPr>
        <p:spPr>
          <a:xfrm xmlns:a="http://schemas.openxmlformats.org/drawingml/2006/main">
            <a:off x="93154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526079"/>
                </a:solidFill>
                <a:latin typeface="Aptos"/>
                <a:ea typeface="Aptos"/>
                <a:cs typeface="Aptos"/>
              </a:defRPr>
            </a:pPr>
            <a:r>
              <a:rPr sz="1650" b="1">
                <a:solidFill>
                  <a:srgbClr val="526079"/>
                </a:solidFill>
                <a:latin typeface="Aptos"/>
                <a:ea typeface="Aptos"/>
                <a:cs typeface="Aptos"/>
              </a:rPr>
              <a:t>Eligible candidates</a:t>
            </a:r>
          </a:p>
        </p:txBody>
      </p:sp>
      <p:sp>
        <p:nvSpPr>
          <p:cNvPr id="16" name="">
            <a:extLst xmlns:a="http://schemas.openxmlformats.org/drawingml/2006/main">
              <a:ext uri="{FF2B5EF4-FFF2-40B4-BE49-F238E27FC236}">
                <a16:creationId xmlns:a16="http://schemas.microsoft.com/office/drawing/2014/main" id="{951603B2-C21F-48FA-ADA7-BEFB8C437932}"/>
              </a:ext>
            </a:extLst>
          </p:cNvPr>
          <p:cNvSpPr>
            <a:spLocks xmlns:a="http://schemas.openxmlformats.org/drawingml/2006/main" noGrp="1"/>
          </p:cNvSpPr>
          <p:nvPr/>
        </p:nvSpPr>
        <p:spPr>
          <a:xfrm xmlns:a="http://schemas.openxmlformats.org/drawingml/2006/main">
            <a:off x="9144000" y="4000500"/>
            <a:ext cx="2266950" cy="1200150"/>
          </a:xfrm>
          <a:prstGeom xmlns:a="http://schemas.openxmlformats.org/drawingml/2006/main" prst="roundRect">
            <a:avLst>
              <a:gd name="adj" fmla="val 9524"/>
            </a:avLst>
          </a:prstGeom>
          <a:solidFill xmlns:a="http://schemas.openxmlformats.org/drawingml/2006/main">
            <a:srgbClr val="FFF7E8"/>
          </a:solidFill>
          <a:ln xmlns:a="http://schemas.openxmlformats.org/drawingml/2006/main" w="9525">
            <a:solidFill>
              <a:srgbClr val="D97706"/>
            </a:solidFill>
            <a:prstDash val="solid"/>
          </a:ln>
        </p:spPr>
      </p:sp>
      <p:sp>
        <p:nvSpPr>
          <p:cNvPr id="17" name="">
            <a:extLst xmlns:a="http://schemas.openxmlformats.org/drawingml/2006/main">
              <a:ext uri="{FF2B5EF4-FFF2-40B4-BE49-F238E27FC236}">
                <a16:creationId xmlns:a16="http://schemas.microsoft.com/office/drawing/2014/main" id="{1C8B1AE3-2987-4B1F-A9D3-3EAD42090EE6}"/>
              </a:ext>
            </a:extLst>
          </p:cNvPr>
          <p:cNvSpPr>
            <a:spLocks xmlns:a="http://schemas.openxmlformats.org/drawingml/2006/main" noGrp="1"/>
          </p:cNvSpPr>
          <p:nvPr/>
        </p:nvSpPr>
        <p:spPr>
          <a:xfrm xmlns:a="http://schemas.openxmlformats.org/drawingml/2006/main">
            <a:off x="93154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D97706"/>
                </a:solidFill>
                <a:latin typeface="Aptos"/>
                <a:ea typeface="Aptos"/>
                <a:cs typeface="Aptos"/>
              </a:defRPr>
            </a:pPr>
            <a:r>
              <a:rPr sz="1275" b="1">
                <a:solidFill>
                  <a:srgbClr val="D97706"/>
                </a:solidFill>
                <a:latin typeface="Aptos"/>
                <a:ea typeface="Aptos"/>
                <a:cs typeface="Aptos"/>
              </a:rPr>
              <a:t>5</a:t>
            </a:r>
          </a:p>
        </p:txBody>
      </p:sp>
      <p:sp>
        <p:nvSpPr>
          <p:cNvPr id="18" name="">
            <a:extLst xmlns:a="http://schemas.openxmlformats.org/drawingml/2006/main">
              <a:ext uri="{FF2B5EF4-FFF2-40B4-BE49-F238E27FC236}">
                <a16:creationId xmlns:a16="http://schemas.microsoft.com/office/drawing/2014/main" id="{8F89AF38-9B83-4C67-B956-209BFB681721}"/>
              </a:ext>
            </a:extLst>
          </p:cNvPr>
          <p:cNvSpPr>
            <a:spLocks xmlns:a="http://schemas.openxmlformats.org/drawingml/2006/main" noGrp="1"/>
          </p:cNvSpPr>
          <p:nvPr/>
        </p:nvSpPr>
        <p:spPr>
          <a:xfrm xmlns:a="http://schemas.openxmlformats.org/drawingml/2006/main">
            <a:off x="93154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ML ranking</a:t>
            </a:r>
          </a:p>
        </p:txBody>
      </p:sp>
      <p:sp>
        <p:nvSpPr>
          <p:cNvPr id="19" name="">
            <a:extLst xmlns:a="http://schemas.openxmlformats.org/drawingml/2006/main">
              <a:ext uri="{FF2B5EF4-FFF2-40B4-BE49-F238E27FC236}">
                <a16:creationId xmlns:a16="http://schemas.microsoft.com/office/drawing/2014/main" id="{065FDF03-B655-474C-B6D8-C0A5494CE0A8}"/>
              </a:ext>
            </a:extLst>
          </p:cNvPr>
          <p:cNvSpPr>
            <a:spLocks xmlns:a="http://schemas.openxmlformats.org/drawingml/2006/main" noGrp="1"/>
          </p:cNvSpPr>
          <p:nvPr/>
        </p:nvSpPr>
        <p:spPr>
          <a:xfrm xmlns:a="http://schemas.openxmlformats.org/drawingml/2006/main">
            <a:off x="6267450" y="400050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20" name="">
            <a:extLst xmlns:a="http://schemas.openxmlformats.org/drawingml/2006/main">
              <a:ext uri="{FF2B5EF4-FFF2-40B4-BE49-F238E27FC236}">
                <a16:creationId xmlns:a16="http://schemas.microsoft.com/office/drawing/2014/main" id="{17765F88-9C8A-4298-9B90-5006F23B6A53}"/>
              </a:ext>
            </a:extLst>
          </p:cNvPr>
          <p:cNvSpPr>
            <a:spLocks xmlns:a="http://schemas.openxmlformats.org/drawingml/2006/main" noGrp="1"/>
          </p:cNvSpPr>
          <p:nvPr/>
        </p:nvSpPr>
        <p:spPr>
          <a:xfrm xmlns:a="http://schemas.openxmlformats.org/drawingml/2006/main">
            <a:off x="64389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6</a:t>
            </a:r>
          </a:p>
        </p:txBody>
      </p:sp>
      <p:sp>
        <p:nvSpPr>
          <p:cNvPr id="21" name="">
            <a:extLst xmlns:a="http://schemas.openxmlformats.org/drawingml/2006/main">
              <a:ext uri="{FF2B5EF4-FFF2-40B4-BE49-F238E27FC236}">
                <a16:creationId xmlns:a16="http://schemas.microsoft.com/office/drawing/2014/main" id="{8C474206-4330-4417-B87D-477C65283B77}"/>
              </a:ext>
            </a:extLst>
          </p:cNvPr>
          <p:cNvSpPr>
            <a:spLocks xmlns:a="http://schemas.openxmlformats.org/drawingml/2006/main" noGrp="1"/>
          </p:cNvSpPr>
          <p:nvPr/>
        </p:nvSpPr>
        <p:spPr>
          <a:xfrm xmlns:a="http://schemas.openxmlformats.org/drawingml/2006/main">
            <a:off x="64389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Personalized path</a:t>
            </a:r>
          </a:p>
        </p:txBody>
      </p:sp>
      <p:sp>
        <p:nvSpPr>
          <p:cNvPr id="22" name="">
            <a:extLst xmlns:a="http://schemas.openxmlformats.org/drawingml/2006/main">
              <a:ext uri="{FF2B5EF4-FFF2-40B4-BE49-F238E27FC236}">
                <a16:creationId xmlns:a16="http://schemas.microsoft.com/office/drawing/2014/main" id="{493AC361-61F2-4FBC-A6F5-A172102B124A}"/>
              </a:ext>
            </a:extLst>
          </p:cNvPr>
          <p:cNvSpPr>
            <a:spLocks xmlns:a="http://schemas.openxmlformats.org/drawingml/2006/main" noGrp="1"/>
          </p:cNvSpPr>
          <p:nvPr/>
        </p:nvSpPr>
        <p:spPr>
          <a:xfrm xmlns:a="http://schemas.openxmlformats.org/drawingml/2006/main">
            <a:off x="3390900" y="400050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2A8347CA-1C6C-48FF-AAAB-D7E2A349FCAF}"/>
              </a:ext>
            </a:extLst>
          </p:cNvPr>
          <p:cNvSpPr>
            <a:spLocks xmlns:a="http://schemas.openxmlformats.org/drawingml/2006/main" noGrp="1"/>
          </p:cNvSpPr>
          <p:nvPr/>
        </p:nvSpPr>
        <p:spPr>
          <a:xfrm xmlns:a="http://schemas.openxmlformats.org/drawingml/2006/main">
            <a:off x="35623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7</a:t>
            </a:r>
          </a:p>
        </p:txBody>
      </p:sp>
      <p:sp>
        <p:nvSpPr>
          <p:cNvPr id="24" name="">
            <a:extLst xmlns:a="http://schemas.openxmlformats.org/drawingml/2006/main">
              <a:ext uri="{FF2B5EF4-FFF2-40B4-BE49-F238E27FC236}">
                <a16:creationId xmlns:a16="http://schemas.microsoft.com/office/drawing/2014/main" id="{56DECFE9-397C-4087-89FE-4C25A5B38D97}"/>
              </a:ext>
            </a:extLst>
          </p:cNvPr>
          <p:cNvSpPr>
            <a:spLocks xmlns:a="http://schemas.openxmlformats.org/drawingml/2006/main" noGrp="1"/>
          </p:cNvSpPr>
          <p:nvPr/>
        </p:nvSpPr>
        <p:spPr>
          <a:xfrm xmlns:a="http://schemas.openxmlformats.org/drawingml/2006/main">
            <a:off x="35623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Learning and assessment</a:t>
            </a:r>
          </a:p>
        </p:txBody>
      </p:sp>
      <p:sp>
        <p:nvSpPr>
          <p:cNvPr id="25" name="">
            <a:extLst xmlns:a="http://schemas.openxmlformats.org/drawingml/2006/main">
              <a:ext uri="{FF2B5EF4-FFF2-40B4-BE49-F238E27FC236}">
                <a16:creationId xmlns:a16="http://schemas.microsoft.com/office/drawing/2014/main" id="{13EC956B-82AE-4453-BA4B-C391CDB0608B}"/>
              </a:ext>
            </a:extLst>
          </p:cNvPr>
          <p:cNvSpPr>
            <a:spLocks xmlns:a="http://schemas.openxmlformats.org/drawingml/2006/main" noGrp="1"/>
          </p:cNvSpPr>
          <p:nvPr/>
        </p:nvSpPr>
        <p:spPr>
          <a:xfrm xmlns:a="http://schemas.openxmlformats.org/drawingml/2006/main">
            <a:off x="514350" y="400050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0F172A"/>
            </a:solidFill>
            <a:prstDash val="solid"/>
          </a:ln>
        </p:spPr>
      </p:sp>
      <p:sp>
        <p:nvSpPr>
          <p:cNvPr id="26" name="">
            <a:extLst xmlns:a="http://schemas.openxmlformats.org/drawingml/2006/main">
              <a:ext uri="{FF2B5EF4-FFF2-40B4-BE49-F238E27FC236}">
                <a16:creationId xmlns:a16="http://schemas.microsoft.com/office/drawing/2014/main" id="{7A1A18EE-C5F1-4FB1-B432-5AEEAA7C8555}"/>
              </a:ext>
            </a:extLst>
          </p:cNvPr>
          <p:cNvSpPr>
            <a:spLocks xmlns:a="http://schemas.openxmlformats.org/drawingml/2006/main" noGrp="1"/>
          </p:cNvSpPr>
          <p:nvPr/>
        </p:nvSpPr>
        <p:spPr>
          <a:xfrm xmlns:a="http://schemas.openxmlformats.org/drawingml/2006/main">
            <a:off x="6858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8</a:t>
            </a:r>
          </a:p>
        </p:txBody>
      </p:sp>
      <p:sp>
        <p:nvSpPr>
          <p:cNvPr id="27" name="">
            <a:extLst xmlns:a="http://schemas.openxmlformats.org/drawingml/2006/main">
              <a:ext uri="{FF2B5EF4-FFF2-40B4-BE49-F238E27FC236}">
                <a16:creationId xmlns:a16="http://schemas.microsoft.com/office/drawing/2014/main" id="{7F252A67-792E-4670-8964-1608D67C64AD}"/>
              </a:ext>
            </a:extLst>
          </p:cNvPr>
          <p:cNvSpPr>
            <a:spLocks xmlns:a="http://schemas.openxmlformats.org/drawingml/2006/main" noGrp="1"/>
          </p:cNvSpPr>
          <p:nvPr/>
        </p:nvSpPr>
        <p:spPr>
          <a:xfrm xmlns:a="http://schemas.openxmlformats.org/drawingml/2006/main">
            <a:off x="6858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and retention update</a:t>
            </a:r>
          </a:p>
        </p:txBody>
      </p:sp>
      <p:cxnSp>
        <p:nvCxnSpPr>
          <p:cNvPr id="64" name=""/>
          <p:cNvCxnSpPr>
            <a:stCxn xmlns:a="http://schemas.openxmlformats.org/drawingml/2006/main" id="4" idx="3"/>
            <a:endCxn xmlns:a="http://schemas.openxmlformats.org/drawingml/2006/main" id="7" idx="1"/>
          </p:cNvCxnSpPr>
          <p:nvPr/>
        </p:nvCxnSpPr>
        <p:spPr>
          <a:xfrm xmlns:a="http://schemas.openxmlformats.org/drawingml/2006/main">
            <a:off x="27813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5" name=""/>
          <p:cNvCxnSpPr>
            <a:stCxn xmlns:a="http://schemas.openxmlformats.org/drawingml/2006/main" id="7" idx="3"/>
            <a:endCxn xmlns:a="http://schemas.openxmlformats.org/drawingml/2006/main" id="10" idx="1"/>
          </p:cNvCxnSpPr>
          <p:nvPr/>
        </p:nvCxnSpPr>
        <p:spPr>
          <a:xfrm xmlns:a="http://schemas.openxmlformats.org/drawingml/2006/main">
            <a:off x="565785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6" name=""/>
          <p:cNvCxnSpPr>
            <a:stCxn xmlns:a="http://schemas.openxmlformats.org/drawingml/2006/main" id="10" idx="3"/>
            <a:endCxn xmlns:a="http://schemas.openxmlformats.org/drawingml/2006/main" id="13" idx="1"/>
          </p:cNvCxnSpPr>
          <p:nvPr/>
        </p:nvCxnSpPr>
        <p:spPr>
          <a:xfrm xmlns:a="http://schemas.openxmlformats.org/drawingml/2006/main">
            <a:off x="85344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7" name=""/>
          <p:cNvCxnSpPr>
            <a:stCxn xmlns:a="http://schemas.openxmlformats.org/drawingml/2006/main" id="13" idx="2"/>
            <a:endCxn xmlns:a="http://schemas.openxmlformats.org/drawingml/2006/main" id="16" idx="0"/>
          </p:cNvCxnSpPr>
          <p:nvPr/>
        </p:nvCxnSpPr>
        <p:spPr>
          <a:xfrm xmlns:a="http://schemas.openxmlformats.org/drawingml/2006/main">
            <a:off x="10277475" y="2819400"/>
            <a:ext cx="0" cy="118110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8" name=""/>
          <p:cNvCxnSpPr>
            <a:stCxn xmlns:a="http://schemas.openxmlformats.org/drawingml/2006/main" id="16" idx="1"/>
            <a:endCxn xmlns:a="http://schemas.openxmlformats.org/drawingml/2006/main" id="19" idx="3"/>
          </p:cNvCxnSpPr>
          <p:nvPr/>
        </p:nvCxnSpPr>
        <p:spPr>
          <a:xfrm xmlns:a="http://schemas.openxmlformats.org/drawingml/2006/main" flipH="1">
            <a:off x="85344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9" name=""/>
          <p:cNvCxnSpPr>
            <a:stCxn xmlns:a="http://schemas.openxmlformats.org/drawingml/2006/main" id="19" idx="1"/>
            <a:endCxn xmlns:a="http://schemas.openxmlformats.org/drawingml/2006/main" id="22" idx="3"/>
          </p:cNvCxnSpPr>
          <p:nvPr/>
        </p:nvCxnSpPr>
        <p:spPr>
          <a:xfrm xmlns:a="http://schemas.openxmlformats.org/drawingml/2006/main" flipH="1">
            <a:off x="565785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0" name=""/>
          <p:cNvCxnSpPr>
            <a:stCxn xmlns:a="http://schemas.openxmlformats.org/drawingml/2006/main" id="22" idx="1"/>
            <a:endCxn xmlns:a="http://schemas.openxmlformats.org/drawingml/2006/main" id="25" idx="3"/>
          </p:cNvCxnSpPr>
          <p:nvPr/>
        </p:nvCxnSpPr>
        <p:spPr>
          <a:xfrm xmlns:a="http://schemas.openxmlformats.org/drawingml/2006/main" flipH="1">
            <a:off x="27813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1" name=""/>
          <p:cNvCxnSpPr>
            <a:stCxn xmlns:a="http://schemas.openxmlformats.org/drawingml/2006/main" id="25" idx="0"/>
            <a:endCxn xmlns:a="http://schemas.openxmlformats.org/drawingml/2006/main" id="4" idx="2"/>
          </p:cNvCxnSpPr>
          <p:nvPr/>
        </p:nvCxnSpPr>
        <p:spPr>
          <a:xfrm xmlns:a="http://schemas.openxmlformats.org/drawingml/2006/main" flipV="1">
            <a:off x="1647825" y="2819400"/>
            <a:ext cx="0" cy="1181100"/>
          </a:xfrm>
          <a:prstGeom xmlns:a="http://schemas.openxmlformats.org/drawingml/2006/main" prst="straightConnector1">
            <a:avLst/>
          </a:prstGeom>
          <a:ln xmlns:a="http://schemas.openxmlformats.org/drawingml/2006/main" w="19050">
            <a:solidFill>
              <a:srgbClr val="4F46E5"/>
            </a:solidFill>
            <a:prstDash val="dash"/>
            <a:tailEnd type="triangle" w="sm" len="sm"/>
          </a:ln>
        </p:spPr>
      </p:cxnSp>
      <p:sp>
        <p:nvSpPr>
          <p:cNvPr id="36" name="">
            <a:extLst xmlns:a="http://schemas.openxmlformats.org/drawingml/2006/main">
              <a:ext uri="{FF2B5EF4-FFF2-40B4-BE49-F238E27FC236}">
                <a16:creationId xmlns:a16="http://schemas.microsoft.com/office/drawing/2014/main" id="{34866347-6E9B-4B29-886C-2C7DD302190F}"/>
              </a:ext>
            </a:extLst>
          </p:cNvPr>
          <p:cNvSpPr>
            <a:spLocks xmlns:a="http://schemas.openxmlformats.org/drawingml/2006/main" noGrp="1"/>
          </p:cNvSpPr>
          <p:nvPr/>
        </p:nvSpPr>
        <p:spPr>
          <a:xfrm xmlns:a="http://schemas.openxmlformats.org/drawingml/2006/main">
            <a:off x="1714500" y="5810250"/>
            <a:ext cx="876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0">
                <a:solidFill>
                  <a:srgbClr val="526079"/>
                </a:solidFill>
                <a:latin typeface="Aptos"/>
                <a:ea typeface="Aptos"/>
                <a:cs typeface="Aptos"/>
              </a:defRPr>
            </a:pPr>
            <a:r>
              <a:rPr sz="1575" b="0">
                <a:solidFill>
                  <a:srgbClr val="526079"/>
                </a:solidFill>
                <a:latin typeface="Aptos"/>
                <a:ea typeface="Aptos"/>
                <a:cs typeface="Aptos"/>
              </a:rPr>
              <a:t>New evidence marks the current path stale. Regeneration reruns the full decision pipeline.</a:t>
            </a:r>
          </a:p>
        </p:txBody>
      </p:sp>
    </p:spTree>
    <p:extLst>
      <p:ext uri="{BB962C8B-B14F-4D97-AF65-F5344CB8AC3E}">
        <p14:creationId xmlns:p14="http://schemas.microsoft.com/office/powerpoint/2010/main" val="19104674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C177F6A3-6686-4D0D-8F21-6935EE192789}"/>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System architecture and decision authority</a:t>
            </a:r>
          </a:p>
        </p:txBody>
      </p:sp>
      <p:sp>
        <p:nvSpPr>
          <p:cNvPr id="2" name="">
            <a:extLst xmlns:a="http://schemas.openxmlformats.org/drawingml/2006/main">
              <a:ext uri="{FF2B5EF4-FFF2-40B4-BE49-F238E27FC236}">
                <a16:creationId xmlns:a16="http://schemas.microsoft.com/office/drawing/2014/main" id="{7546F837-62EE-426A-A10E-BB94E262B4D5}"/>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API owns learner decisions. Python services provide bounded intelligence</a:t>
            </a:r>
          </a:p>
        </p:txBody>
      </p:sp>
      <p:sp>
        <p:nvSpPr>
          <p:cNvPr id="3" name="">
            <a:extLst xmlns:a="http://schemas.openxmlformats.org/drawingml/2006/main">
              <a:ext uri="{FF2B5EF4-FFF2-40B4-BE49-F238E27FC236}">
                <a16:creationId xmlns:a16="http://schemas.microsoft.com/office/drawing/2014/main" id="{3CCF68E8-58F7-428F-A4DB-D7E09C809256}"/>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44526B3C-52EC-49D6-94DC-367EF0856FBD}"/>
              </a:ext>
            </a:extLst>
          </p:cNvPr>
          <p:cNvSpPr>
            <a:spLocks xmlns:a="http://schemas.openxmlformats.org/drawingml/2006/main" noGrp="1"/>
          </p:cNvSpPr>
          <p:nvPr/>
        </p:nvSpPr>
        <p:spPr>
          <a:xfrm xmlns:a="http://schemas.openxmlformats.org/drawingml/2006/main">
            <a:off x="533400" y="2000250"/>
            <a:ext cx="2381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C48F6F6B-EE74-4B91-B142-FBF17C8AB11C}"/>
              </a:ext>
            </a:extLst>
          </p:cNvPr>
          <p:cNvSpPr>
            <a:spLocks xmlns:a="http://schemas.openxmlformats.org/drawingml/2006/main" noGrp="1"/>
          </p:cNvSpPr>
          <p:nvPr/>
        </p:nvSpPr>
        <p:spPr>
          <a:xfrm xmlns:a="http://schemas.openxmlformats.org/drawingml/2006/main">
            <a:off x="3476625" y="1657350"/>
            <a:ext cx="2667000" cy="2495550"/>
          </a:xfrm>
          <a:prstGeom xmlns:a="http://schemas.openxmlformats.org/drawingml/2006/main" prst="roundRect">
            <a:avLst>
              <a:gd name="adj" fmla="val 4580"/>
            </a:avLst>
          </a:prstGeom>
          <a:solidFill xmlns:a="http://schemas.openxmlformats.org/drawingml/2006/main">
            <a:srgbClr val="ECFDF5"/>
          </a:solidFill>
          <a:ln xmlns:a="http://schemas.openxmlformats.org/drawingml/2006/main" w="9525">
            <a:solidFill>
              <a:srgbClr val="0F766E"/>
            </a:solidFill>
            <a:prstDash val="solid"/>
          </a:ln>
        </p:spPr>
      </p:sp>
      <p:sp>
        <p:nvSpPr>
          <p:cNvPr id="6" name="">
            <a:extLst xmlns:a="http://schemas.openxmlformats.org/drawingml/2006/main">
              <a:ext uri="{FF2B5EF4-FFF2-40B4-BE49-F238E27FC236}">
                <a16:creationId xmlns:a16="http://schemas.microsoft.com/office/drawing/2014/main" id="{4FEBCD69-C9CF-44F1-BF37-A80DFEF7602B}"/>
              </a:ext>
            </a:extLst>
          </p:cNvPr>
          <p:cNvSpPr>
            <a:spLocks xmlns:a="http://schemas.openxmlformats.org/drawingml/2006/main" noGrp="1"/>
          </p:cNvSpPr>
          <p:nvPr/>
        </p:nvSpPr>
        <p:spPr>
          <a:xfrm xmlns:a="http://schemas.openxmlformats.org/drawingml/2006/main">
            <a:off x="6705600" y="2000250"/>
            <a:ext cx="228600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7" name="">
            <a:extLst xmlns:a="http://schemas.openxmlformats.org/drawingml/2006/main">
              <a:ext uri="{FF2B5EF4-FFF2-40B4-BE49-F238E27FC236}">
                <a16:creationId xmlns:a16="http://schemas.microsoft.com/office/drawing/2014/main" id="{E4163686-B7B6-402E-B2C0-49BD5394B05A}"/>
              </a:ext>
            </a:extLst>
          </p:cNvPr>
          <p:cNvSpPr>
            <a:spLocks xmlns:a="http://schemas.openxmlformats.org/drawingml/2006/main" noGrp="1"/>
          </p:cNvSpPr>
          <p:nvPr/>
        </p:nvSpPr>
        <p:spPr>
          <a:xfrm xmlns:a="http://schemas.openxmlformats.org/drawingml/2006/main">
            <a:off x="9553575" y="2000250"/>
            <a:ext cx="209550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8" name="">
            <a:extLst xmlns:a="http://schemas.openxmlformats.org/drawingml/2006/main">
              <a:ext uri="{FF2B5EF4-FFF2-40B4-BE49-F238E27FC236}">
                <a16:creationId xmlns:a16="http://schemas.microsoft.com/office/drawing/2014/main" id="{330C4E70-46AA-4ED3-AE84-5D49A946D8E9}"/>
              </a:ext>
            </a:extLst>
          </p:cNvPr>
          <p:cNvSpPr>
            <a:spLocks xmlns:a="http://schemas.openxmlformats.org/drawingml/2006/main" noGrp="1"/>
          </p:cNvSpPr>
          <p:nvPr/>
        </p:nvSpPr>
        <p:spPr>
          <a:xfrm xmlns:a="http://schemas.openxmlformats.org/drawingml/2006/main">
            <a:off x="742950" y="2266950"/>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React and Vite</a:t>
            </a:r>
          </a:p>
        </p:txBody>
      </p:sp>
      <p:sp>
        <p:nvSpPr>
          <p:cNvPr id="9" name="">
            <a:extLst xmlns:a="http://schemas.openxmlformats.org/drawingml/2006/main">
              <a:ext uri="{FF2B5EF4-FFF2-40B4-BE49-F238E27FC236}">
                <a16:creationId xmlns:a16="http://schemas.microsoft.com/office/drawing/2014/main" id="{9DDCD71F-ED5E-4451-913A-8DA6C0AA0C27}"/>
              </a:ext>
            </a:extLst>
          </p:cNvPr>
          <p:cNvSpPr>
            <a:spLocks xmlns:a="http://schemas.openxmlformats.org/drawingml/2006/main" noGrp="1"/>
          </p:cNvSpPr>
          <p:nvPr/>
        </p:nvSpPr>
        <p:spPr>
          <a:xfrm xmlns:a="http://schemas.openxmlformats.org/drawingml/2006/main">
            <a:off x="742950" y="2781300"/>
            <a:ext cx="1962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Navigation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Visual explanations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Learner actions</a:t>
            </a:r>
          </a:p>
        </p:txBody>
      </p:sp>
      <p:sp>
        <p:nvSpPr>
          <p:cNvPr id="10" name="">
            <a:extLst xmlns:a="http://schemas.openxmlformats.org/drawingml/2006/main">
              <a:ext uri="{FF2B5EF4-FFF2-40B4-BE49-F238E27FC236}">
                <a16:creationId xmlns:a16="http://schemas.microsoft.com/office/drawing/2014/main" id="{91BD57A4-1471-49EB-A70F-B4E9DA91B75C}"/>
              </a:ext>
            </a:extLst>
          </p:cNvPr>
          <p:cNvSpPr>
            <a:spLocks xmlns:a="http://schemas.openxmlformats.org/drawingml/2006/main" noGrp="1"/>
          </p:cNvSpPr>
          <p:nvPr/>
        </p:nvSpPr>
        <p:spPr>
          <a:xfrm xmlns:a="http://schemas.openxmlformats.org/drawingml/2006/main">
            <a:off x="3705225" y="1924050"/>
            <a:ext cx="2209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Express TypeScript API</a:t>
            </a:r>
          </a:p>
        </p:txBody>
      </p:sp>
      <p:sp>
        <p:nvSpPr>
          <p:cNvPr id="11" name="">
            <a:extLst xmlns:a="http://schemas.openxmlformats.org/drawingml/2006/main">
              <a:ext uri="{FF2B5EF4-FFF2-40B4-BE49-F238E27FC236}">
                <a16:creationId xmlns:a16="http://schemas.microsoft.com/office/drawing/2014/main" id="{23E2FE13-50F3-48AA-8789-FFEB5354058A}"/>
              </a:ext>
            </a:extLst>
          </p:cNvPr>
          <p:cNvSpPr>
            <a:spLocks xmlns:a="http://schemas.openxmlformats.org/drawingml/2006/main" noGrp="1"/>
          </p:cNvSpPr>
          <p:nvPr/>
        </p:nvSpPr>
        <p:spPr>
          <a:xfrm xmlns:a="http://schemas.openxmlformats.org/drawingml/2006/main">
            <a:off x="3705225" y="2419350"/>
            <a:ext cx="2209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Authentication</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Mastery and confidence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Diagnostic policy</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Prerequisite gates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Candidate and path policy</a:t>
            </a:r>
          </a:p>
        </p:txBody>
      </p:sp>
      <p:sp>
        <p:nvSpPr>
          <p:cNvPr id="12" name="">
            <a:extLst xmlns:a="http://schemas.openxmlformats.org/drawingml/2006/main">
              <a:ext uri="{FF2B5EF4-FFF2-40B4-BE49-F238E27FC236}">
                <a16:creationId xmlns:a16="http://schemas.microsoft.com/office/drawing/2014/main" id="{0EED36F3-54A4-4C33-BB83-C9E6EF806A7E}"/>
              </a:ext>
            </a:extLst>
          </p:cNvPr>
          <p:cNvSpPr>
            <a:spLocks xmlns:a="http://schemas.openxmlformats.org/drawingml/2006/main" noGrp="1"/>
          </p:cNvSpPr>
          <p:nvPr/>
        </p:nvSpPr>
        <p:spPr>
          <a:xfrm xmlns:a="http://schemas.openxmlformats.org/drawingml/2006/main">
            <a:off x="6953250" y="226695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PostgreSQL</a:t>
            </a:r>
          </a:p>
        </p:txBody>
      </p:sp>
      <p:sp>
        <p:nvSpPr>
          <p:cNvPr id="13" name="">
            <a:extLst xmlns:a="http://schemas.openxmlformats.org/drawingml/2006/main">
              <a:ext uri="{FF2B5EF4-FFF2-40B4-BE49-F238E27FC236}">
                <a16:creationId xmlns:a16="http://schemas.microsoft.com/office/drawing/2014/main" id="{6719DF34-C308-4143-B2E5-B011D0472B7A}"/>
              </a:ext>
            </a:extLst>
          </p:cNvPr>
          <p:cNvSpPr>
            <a:spLocks xmlns:a="http://schemas.openxmlformats.org/drawingml/2006/main" noGrp="1"/>
          </p:cNvSpPr>
          <p:nvPr/>
        </p:nvSpPr>
        <p:spPr>
          <a:xfrm xmlns:a="http://schemas.openxmlformats.org/drawingml/2006/main">
            <a:off x="6953250" y="2781300"/>
            <a:ext cx="1790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Curriculum graph</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learner state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Append-only evidence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Versioned paths</a:t>
            </a:r>
          </a:p>
        </p:txBody>
      </p:sp>
      <p:sp>
        <p:nvSpPr>
          <p:cNvPr id="14" name="">
            <a:extLst xmlns:a="http://schemas.openxmlformats.org/drawingml/2006/main">
              <a:ext uri="{FF2B5EF4-FFF2-40B4-BE49-F238E27FC236}">
                <a16:creationId xmlns:a16="http://schemas.microsoft.com/office/drawing/2014/main" id="{CEF789C6-5561-4040-BC4F-E1FE66DA771A}"/>
              </a:ext>
            </a:extLst>
          </p:cNvPr>
          <p:cNvSpPr>
            <a:spLocks xmlns:a="http://schemas.openxmlformats.org/drawingml/2006/main" noGrp="1"/>
          </p:cNvSpPr>
          <p:nvPr/>
        </p:nvSpPr>
        <p:spPr>
          <a:xfrm xmlns:a="http://schemas.openxmlformats.org/drawingml/2006/main">
            <a:off x="9782175" y="2266950"/>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Python service</a:t>
            </a:r>
          </a:p>
        </p:txBody>
      </p:sp>
      <p:sp>
        <p:nvSpPr>
          <p:cNvPr id="15" name="">
            <a:extLst xmlns:a="http://schemas.openxmlformats.org/drawingml/2006/main">
              <a:ext uri="{FF2B5EF4-FFF2-40B4-BE49-F238E27FC236}">
                <a16:creationId xmlns:a16="http://schemas.microsoft.com/office/drawing/2014/main" id="{B51D2A2B-3CD7-432F-91C7-8DEBBCEE60C7}"/>
              </a:ext>
            </a:extLst>
          </p:cNvPr>
          <p:cNvSpPr>
            <a:spLocks xmlns:a="http://schemas.openxmlformats.org/drawingml/2006/main" noGrp="1"/>
          </p:cNvSpPr>
          <p:nvPr/>
        </p:nvSpPr>
        <p:spPr>
          <a:xfrm xmlns:a="http://schemas.openxmlformats.org/drawingml/2006/main">
            <a:off x="9782175" y="2781300"/>
            <a:ext cx="1657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Random Forest</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NetworkX analytics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Read-only advisory work</a:t>
            </a:r>
          </a:p>
        </p:txBody>
      </p:sp>
      <p:cxnSp>
        <p:nvCxnSpPr>
          <p:cNvPr id="37" name=""/>
          <p:cNvCxnSpPr>
            <a:stCxn xmlns:a="http://schemas.openxmlformats.org/drawingml/2006/main" id="4" idx="3"/>
            <a:endCxn xmlns:a="http://schemas.openxmlformats.org/drawingml/2006/main" id="5" idx="1"/>
          </p:cNvCxnSpPr>
          <p:nvPr/>
        </p:nvCxnSpPr>
        <p:spPr>
          <a:xfrm xmlns:a="http://schemas.openxmlformats.org/drawingml/2006/main">
            <a:off x="2914650" y="2905125"/>
            <a:ext cx="561975"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38" name=""/>
          <p:cNvCxnSpPr>
            <a:stCxn xmlns:a="http://schemas.openxmlformats.org/drawingml/2006/main" id="5" idx="3"/>
            <a:endCxn xmlns:a="http://schemas.openxmlformats.org/drawingml/2006/main" id="6" idx="1"/>
          </p:cNvCxnSpPr>
          <p:nvPr/>
        </p:nvCxnSpPr>
        <p:spPr>
          <a:xfrm xmlns:a="http://schemas.openxmlformats.org/drawingml/2006/main">
            <a:off x="6143625" y="2905125"/>
            <a:ext cx="561975" cy="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39" name=""/>
          <p:cNvCxnSpPr>
            <a:stCxn xmlns:a="http://schemas.openxmlformats.org/drawingml/2006/main" id="5" idx="0"/>
            <a:endCxn xmlns:a="http://schemas.openxmlformats.org/drawingml/2006/main" id="7" idx="0"/>
          </p:cNvCxnSpPr>
          <p:nvPr/>
        </p:nvCxnSpPr>
        <p:spPr>
          <a:xfrm xmlns:a="http://schemas.openxmlformats.org/drawingml/2006/main">
            <a:off x="4810125" y="1428750"/>
            <a:ext cx="5791200" cy="571500"/>
          </a:xfrm>
          <a:prstGeom xmlns:a="http://schemas.openxmlformats.org/drawingml/2006/main" prst="bentConnector4">
            <a:avLst/>
          </a:prstGeom>
          <a:ln xmlns:a="http://schemas.openxmlformats.org/drawingml/2006/main" w="19050">
            <a:solidFill>
              <a:srgbClr val="D97706"/>
            </a:solidFill>
            <a:prstDash val="solid"/>
            <a:tailEnd type="triangle" w="sm" len="sm"/>
          </a:ln>
        </p:spPr>
      </p:cxnSp>
      <p:sp>
        <p:nvSpPr>
          <p:cNvPr id="19" name="">
            <a:extLst xmlns:a="http://schemas.openxmlformats.org/drawingml/2006/main">
              <a:ext uri="{FF2B5EF4-FFF2-40B4-BE49-F238E27FC236}">
                <a16:creationId xmlns:a16="http://schemas.microsoft.com/office/drawing/2014/main" id="{4F7AFB28-2FF3-46E2-AFC2-54389146B4D9}"/>
              </a:ext>
            </a:extLst>
          </p:cNvPr>
          <p:cNvSpPr>
            <a:spLocks xmlns:a="http://schemas.openxmlformats.org/drawingml/2006/main" noGrp="1"/>
          </p:cNvSpPr>
          <p:nvPr/>
        </p:nvSpPr>
        <p:spPr>
          <a:xfrm xmlns:a="http://schemas.openxmlformats.org/drawingml/2006/main">
            <a:off x="1866900" y="4762500"/>
            <a:ext cx="8458200" cy="1104900"/>
          </a:xfrm>
          <a:prstGeom xmlns:a="http://schemas.openxmlformats.org/drawingml/2006/main" prst="roundRect">
            <a:avLst>
              <a:gd name="adj" fmla="val 10345"/>
            </a:avLst>
          </a:prstGeom>
          <a:solidFill xmlns:a="http://schemas.openxmlformats.org/drawingml/2006/main">
            <a:srgbClr val="F4F6F9"/>
          </a:solidFill>
          <a:ln xmlns:a="http://schemas.openxmlformats.org/drawingml/2006/main" w="9525">
            <a:solidFill>
              <a:srgbClr val="DCE3EC"/>
            </a:solidFill>
            <a:prstDash val="solid"/>
          </a:ln>
        </p:spPr>
      </p:sp>
      <p:sp>
        <p:nvSpPr>
          <p:cNvPr id="20" name="">
            <a:extLst xmlns:a="http://schemas.openxmlformats.org/drawingml/2006/main">
              <a:ext uri="{FF2B5EF4-FFF2-40B4-BE49-F238E27FC236}">
                <a16:creationId xmlns:a16="http://schemas.microsoft.com/office/drawing/2014/main" id="{10887982-A11E-4FBF-8F76-F3F063BA180A}"/>
              </a:ext>
            </a:extLst>
          </p:cNvPr>
          <p:cNvSpPr>
            <a:spLocks xmlns:a="http://schemas.openxmlformats.org/drawingml/2006/main" noGrp="1"/>
          </p:cNvSpPr>
          <p:nvPr/>
        </p:nvSpPr>
        <p:spPr>
          <a:xfrm xmlns:a="http://schemas.openxmlformats.org/drawingml/2006/main">
            <a:off x="2076450" y="495300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Single source of truth</a:t>
            </a:r>
          </a:p>
        </p:txBody>
      </p:sp>
      <p:sp>
        <p:nvSpPr>
          <p:cNvPr id="21" name="">
            <a:extLst xmlns:a="http://schemas.openxmlformats.org/drawingml/2006/main">
              <a:ext uri="{FF2B5EF4-FFF2-40B4-BE49-F238E27FC236}">
                <a16:creationId xmlns:a16="http://schemas.microsoft.com/office/drawing/2014/main" id="{90B33A2F-2F21-49EA-A9DB-2CBBF0BE6C16}"/>
              </a:ext>
            </a:extLst>
          </p:cNvPr>
          <p:cNvSpPr>
            <a:spLocks xmlns:a="http://schemas.openxmlformats.org/drawingml/2006/main" noGrp="1"/>
          </p:cNvSpPr>
          <p:nvPr/>
        </p:nvSpPr>
        <p:spPr>
          <a:xfrm xmlns:a="http://schemas.openxmlformats.org/drawingml/2006/main">
            <a:off x="2076450" y="5353050"/>
            <a:ext cx="803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PostgreSQL stores durable truth. The browser cannot invent scores, and the Python service cannot write learner state.</a:t>
            </a:r>
          </a:p>
        </p:txBody>
      </p:sp>
    </p:spTree>
    <p:extLst>
      <p:ext uri="{BB962C8B-B14F-4D97-AF65-F5344CB8AC3E}">
        <p14:creationId xmlns:p14="http://schemas.microsoft.com/office/powerpoint/2010/main" val="6782262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6534C857-3AC4-4CF9-AF56-24058AEA3A21}"/>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Global Skill Passport</a:t>
            </a:r>
          </a:p>
        </p:txBody>
      </p:sp>
      <p:sp>
        <p:nvSpPr>
          <p:cNvPr id="2" name="">
            <a:extLst xmlns:a="http://schemas.openxmlformats.org/drawingml/2006/main">
              <a:ext uri="{FF2B5EF4-FFF2-40B4-BE49-F238E27FC236}">
                <a16:creationId xmlns:a16="http://schemas.microsoft.com/office/drawing/2014/main" id="{770DCE2C-5F11-4E08-9CDB-77009D4D8D41}"/>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Knowledge follows the learner across courses while progress remains enrollment-specific</a:t>
            </a:r>
          </a:p>
        </p:txBody>
      </p:sp>
      <p:sp>
        <p:nvSpPr>
          <p:cNvPr id="3" name="">
            <a:extLst xmlns:a="http://schemas.openxmlformats.org/drawingml/2006/main">
              <a:ext uri="{FF2B5EF4-FFF2-40B4-BE49-F238E27FC236}">
                <a16:creationId xmlns:a16="http://schemas.microsoft.com/office/drawing/2014/main" id="{65EA3CAC-0D96-4187-B9F1-AD45077B4B0A}"/>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5B1346EC-4720-4A52-B0AF-80959D8A6897}"/>
              </a:ext>
            </a:extLst>
          </p:cNvPr>
          <p:cNvSpPr>
            <a:spLocks xmlns:a="http://schemas.openxmlformats.org/drawingml/2006/main" noGrp="1"/>
          </p:cNvSpPr>
          <p:nvPr/>
        </p:nvSpPr>
        <p:spPr>
          <a:xfrm xmlns:a="http://schemas.openxmlformats.org/drawingml/2006/main">
            <a:off x="666750" y="2095500"/>
            <a:ext cx="2857500" cy="1714500"/>
          </a:xfrm>
          <a:prstGeom xmlns:a="http://schemas.openxmlformats.org/drawingml/2006/main" prst="roundRect">
            <a:avLst>
              <a:gd name="adj" fmla="val 6667"/>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72CD821D-12C3-4EE1-84D7-8CEEED2DF27D}"/>
              </a:ext>
            </a:extLst>
          </p:cNvPr>
          <p:cNvSpPr>
            <a:spLocks xmlns:a="http://schemas.openxmlformats.org/drawingml/2006/main" noGrp="1"/>
          </p:cNvSpPr>
          <p:nvPr/>
        </p:nvSpPr>
        <p:spPr>
          <a:xfrm xmlns:a="http://schemas.openxmlformats.org/drawingml/2006/main">
            <a:off x="4572000" y="1714500"/>
            <a:ext cx="304800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0F766E"/>
            </a:solidFill>
            <a:prstDash val="solid"/>
          </a:ln>
        </p:spPr>
      </p:sp>
      <p:sp>
        <p:nvSpPr>
          <p:cNvPr id="6" name="">
            <a:extLst xmlns:a="http://schemas.openxmlformats.org/drawingml/2006/main">
              <a:ext uri="{FF2B5EF4-FFF2-40B4-BE49-F238E27FC236}">
                <a16:creationId xmlns:a16="http://schemas.microsoft.com/office/drawing/2014/main" id="{79B9E5B4-4FF6-4998-B751-8625F7F512CF}"/>
              </a:ext>
            </a:extLst>
          </p:cNvPr>
          <p:cNvSpPr>
            <a:spLocks xmlns:a="http://schemas.openxmlformats.org/drawingml/2006/main" noGrp="1"/>
          </p:cNvSpPr>
          <p:nvPr/>
        </p:nvSpPr>
        <p:spPr>
          <a:xfrm xmlns:a="http://schemas.openxmlformats.org/drawingml/2006/main">
            <a:off x="8667750" y="2095500"/>
            <a:ext cx="2857500" cy="1714500"/>
          </a:xfrm>
          <a:prstGeom xmlns:a="http://schemas.openxmlformats.org/drawingml/2006/main" prst="roundRect">
            <a:avLst>
              <a:gd name="adj" fmla="val 6667"/>
            </a:avLst>
          </a:prstGeom>
          <a:solidFill xmlns:a="http://schemas.openxmlformats.org/drawingml/2006/main">
            <a:srgbClr val="FFF7E8"/>
          </a:solidFill>
          <a:ln xmlns:a="http://schemas.openxmlformats.org/drawingml/2006/main" w="9525">
            <a:solidFill>
              <a:srgbClr val="D97706"/>
            </a:solidFill>
            <a:prstDash val="solid"/>
          </a:ln>
        </p:spPr>
      </p:sp>
      <p:sp>
        <p:nvSpPr>
          <p:cNvPr id="7" name="">
            <a:extLst xmlns:a="http://schemas.openxmlformats.org/drawingml/2006/main">
              <a:ext uri="{FF2B5EF4-FFF2-40B4-BE49-F238E27FC236}">
                <a16:creationId xmlns:a16="http://schemas.microsoft.com/office/drawing/2014/main" id="{CB28F27B-6260-4E36-AB02-34C7AB4E9E40}"/>
              </a:ext>
            </a:extLst>
          </p:cNvPr>
          <p:cNvSpPr>
            <a:spLocks xmlns:a="http://schemas.openxmlformats.org/drawingml/2006/main" noGrp="1"/>
          </p:cNvSpPr>
          <p:nvPr/>
        </p:nvSpPr>
        <p:spPr>
          <a:xfrm xmlns:a="http://schemas.openxmlformats.org/drawingml/2006/main">
            <a:off x="914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A evidence</a:t>
            </a:r>
          </a:p>
        </p:txBody>
      </p:sp>
      <p:sp>
        <p:nvSpPr>
          <p:cNvPr id="8" name="">
            <a:extLst xmlns:a="http://schemas.openxmlformats.org/drawingml/2006/main">
              <a:ext uri="{FF2B5EF4-FFF2-40B4-BE49-F238E27FC236}">
                <a16:creationId xmlns:a16="http://schemas.microsoft.com/office/drawing/2014/main" id="{FF06667A-0233-4999-BDAB-50434DCEAD1A}"/>
              </a:ext>
            </a:extLst>
          </p:cNvPr>
          <p:cNvSpPr>
            <a:spLocks xmlns:a="http://schemas.openxmlformats.org/drawingml/2006/main" noGrp="1"/>
          </p:cNvSpPr>
          <p:nvPr/>
        </p:nvSpPr>
        <p:spPr>
          <a:xfrm xmlns:a="http://schemas.openxmlformats.org/drawingml/2006/main">
            <a:off x="914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assessment</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0.80</a:t>
            </a:r>
          </a:p>
        </p:txBody>
      </p:sp>
      <p:sp>
        <p:nvSpPr>
          <p:cNvPr id="9" name="">
            <a:extLst xmlns:a="http://schemas.openxmlformats.org/drawingml/2006/main">
              <a:ext uri="{FF2B5EF4-FFF2-40B4-BE49-F238E27FC236}">
                <a16:creationId xmlns:a16="http://schemas.microsoft.com/office/drawing/2014/main" id="{9D603832-DFAF-4A4A-B140-04BA9432E333}"/>
              </a:ext>
            </a:extLst>
          </p:cNvPr>
          <p:cNvSpPr>
            <a:spLocks xmlns:a="http://schemas.openxmlformats.org/drawingml/2006/main" noGrp="1"/>
          </p:cNvSpPr>
          <p:nvPr/>
        </p:nvSpPr>
        <p:spPr>
          <a:xfrm xmlns:a="http://schemas.openxmlformats.org/drawingml/2006/main">
            <a:off x="4857750" y="2038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One learner-skill row</a:t>
            </a:r>
          </a:p>
        </p:txBody>
      </p:sp>
      <p:sp>
        <p:nvSpPr>
          <p:cNvPr id="10" name="">
            <a:extLst xmlns:a="http://schemas.openxmlformats.org/drawingml/2006/main">
              <a:ext uri="{FF2B5EF4-FFF2-40B4-BE49-F238E27FC236}">
                <a16:creationId xmlns:a16="http://schemas.microsoft.com/office/drawing/2014/main" id="{7149AF10-B7C2-464D-9DA1-3ECC88B32457}"/>
              </a:ext>
            </a:extLst>
          </p:cNvPr>
          <p:cNvSpPr>
            <a:spLocks xmlns:a="http://schemas.openxmlformats.org/drawingml/2006/main" noGrp="1"/>
          </p:cNvSpPr>
          <p:nvPr/>
        </p:nvSpPr>
        <p:spPr>
          <a:xfrm xmlns:a="http://schemas.openxmlformats.org/drawingml/2006/main">
            <a:off x="4857750" y="2628900"/>
            <a:ext cx="247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recursion</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mastery 0.82</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confidence 0.71</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evidence state ASSESSED</a:t>
            </a:r>
          </a:p>
        </p:txBody>
      </p:sp>
      <p:sp>
        <p:nvSpPr>
          <p:cNvPr id="11" name="">
            <a:extLst xmlns:a="http://schemas.openxmlformats.org/drawingml/2006/main">
              <a:ext uri="{FF2B5EF4-FFF2-40B4-BE49-F238E27FC236}">
                <a16:creationId xmlns:a16="http://schemas.microsoft.com/office/drawing/2014/main" id="{F51C0FD5-804F-475B-9C6B-40DCF2F9E582}"/>
              </a:ext>
            </a:extLst>
          </p:cNvPr>
          <p:cNvSpPr>
            <a:spLocks xmlns:a="http://schemas.openxmlformats.org/drawingml/2006/main" noGrp="1"/>
          </p:cNvSpPr>
          <p:nvPr/>
        </p:nvSpPr>
        <p:spPr>
          <a:xfrm xmlns:a="http://schemas.openxmlformats.org/drawingml/2006/main">
            <a:off x="8915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B decision</a:t>
            </a:r>
          </a:p>
        </p:txBody>
      </p:sp>
      <p:sp>
        <p:nvSpPr>
          <p:cNvPr id="12" name="">
            <a:extLst xmlns:a="http://schemas.openxmlformats.org/drawingml/2006/main">
              <a:ext uri="{FF2B5EF4-FFF2-40B4-BE49-F238E27FC236}">
                <a16:creationId xmlns:a16="http://schemas.microsoft.com/office/drawing/2014/main" id="{C8E5C9A1-7832-41F4-A176-5143A3BE48D9}"/>
              </a:ext>
            </a:extLst>
          </p:cNvPr>
          <p:cNvSpPr>
            <a:spLocks xmlns:a="http://schemas.openxmlformats.org/drawingml/2006/main" noGrp="1"/>
          </p:cNvSpPr>
          <p:nvPr/>
        </p:nvSpPr>
        <p:spPr>
          <a:xfrm xmlns:a="http://schemas.openxmlformats.org/drawingml/2006/main">
            <a:off x="8915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prerequisite</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recognized as satisfied</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3524250" y="2952750"/>
            <a:ext cx="1047750"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7620000" y="2952750"/>
            <a:ext cx="1047750" cy="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5" name="">
            <a:extLst xmlns:a="http://schemas.openxmlformats.org/drawingml/2006/main">
              <a:ext uri="{FF2B5EF4-FFF2-40B4-BE49-F238E27FC236}">
                <a16:creationId xmlns:a16="http://schemas.microsoft.com/office/drawing/2014/main" id="{883FBC1C-80C2-4646-B859-99A285985443}"/>
              </a:ext>
            </a:extLst>
          </p:cNvPr>
          <p:cNvSpPr>
            <a:spLocks xmlns:a="http://schemas.openxmlformats.org/drawingml/2006/main" noGrp="1"/>
          </p:cNvSpPr>
          <p:nvPr/>
        </p:nvSpPr>
        <p:spPr>
          <a:xfrm xmlns:a="http://schemas.openxmlformats.org/drawingml/2006/main">
            <a:off x="5010150" y="470535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Shared</a:t>
            </a:r>
          </a:p>
        </p:txBody>
      </p:sp>
      <p:sp>
        <p:nvSpPr>
          <p:cNvPr id="16" name="">
            <a:extLst xmlns:a="http://schemas.openxmlformats.org/drawingml/2006/main">
              <a:ext uri="{FF2B5EF4-FFF2-40B4-BE49-F238E27FC236}">
                <a16:creationId xmlns:a16="http://schemas.microsoft.com/office/drawing/2014/main" id="{852D39EA-F927-42B0-A3F0-01D9A6DC92FA}"/>
              </a:ext>
            </a:extLst>
          </p:cNvPr>
          <p:cNvSpPr>
            <a:spLocks xmlns:a="http://schemas.openxmlformats.org/drawingml/2006/main" noGrp="1"/>
          </p:cNvSpPr>
          <p:nvPr/>
        </p:nvSpPr>
        <p:spPr>
          <a:xfrm xmlns:a="http://schemas.openxmlformats.org/drawingml/2006/main">
            <a:off x="5010150" y="5048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confidence, evidence and retention</a:t>
            </a:r>
          </a:p>
        </p:txBody>
      </p:sp>
      <p:sp>
        <p:nvSpPr>
          <p:cNvPr id="17" name="">
            <a:extLst xmlns:a="http://schemas.openxmlformats.org/drawingml/2006/main">
              <a:ext uri="{FF2B5EF4-FFF2-40B4-BE49-F238E27FC236}">
                <a16:creationId xmlns:a16="http://schemas.microsoft.com/office/drawing/2014/main" id="{81E185F4-7BF8-4DCC-81B4-7D13B4497189}"/>
              </a:ext>
            </a:extLst>
          </p:cNvPr>
          <p:cNvSpPr>
            <a:spLocks xmlns:a="http://schemas.openxmlformats.org/drawingml/2006/main" noGrp="1"/>
          </p:cNvSpPr>
          <p:nvPr/>
        </p:nvSpPr>
        <p:spPr>
          <a:xfrm xmlns:a="http://schemas.openxmlformats.org/drawingml/2006/main">
            <a:off x="5010150" y="552450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Separate</a:t>
            </a:r>
          </a:p>
        </p:txBody>
      </p:sp>
      <p:sp>
        <p:nvSpPr>
          <p:cNvPr id="18" name="">
            <a:extLst xmlns:a="http://schemas.openxmlformats.org/drawingml/2006/main">
              <a:ext uri="{FF2B5EF4-FFF2-40B4-BE49-F238E27FC236}">
                <a16:creationId xmlns:a16="http://schemas.microsoft.com/office/drawing/2014/main" id="{41AFC523-DFE9-4295-B5AC-869C7A521C23}"/>
              </a:ext>
            </a:extLst>
          </p:cNvPr>
          <p:cNvSpPr>
            <a:spLocks xmlns:a="http://schemas.openxmlformats.org/drawingml/2006/main" noGrp="1"/>
          </p:cNvSpPr>
          <p:nvPr/>
        </p:nvSpPr>
        <p:spPr>
          <a:xfrm xmlns:a="http://schemas.openxmlformats.org/drawingml/2006/main">
            <a:off x="5010150" y="58674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module completion, course progress and path history</a:t>
            </a:r>
          </a:p>
        </p:txBody>
      </p:sp>
    </p:spTree>
    <p:extLst>
      <p:ext uri="{BB962C8B-B14F-4D97-AF65-F5344CB8AC3E}">
        <p14:creationId xmlns:p14="http://schemas.microsoft.com/office/powerpoint/2010/main" val="15168995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lide-title">
            <a:extLst xmlns:a="http://schemas.openxmlformats.org/drawingml/2006/main">
              <a:ext uri="{FF2B5EF4-FFF2-40B4-BE49-F238E27FC236}">
                <a16:creationId xmlns:a16="http://schemas.microsoft.com/office/drawing/2014/main" id="{C313E0B5-E079-4FD9-AFFA-462719870931}"/>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diagnostic v3</a:t>
            </a:r>
          </a:p>
        </p:txBody>
      </p:sp>
      <p:sp>
        <p:nvSpPr>
          <p:cNvPr id="2" name="">
            <a:extLst xmlns:a="http://schemas.openxmlformats.org/drawingml/2006/main">
              <a:ext uri="{FF2B5EF4-FFF2-40B4-BE49-F238E27FC236}">
                <a16:creationId xmlns:a16="http://schemas.microsoft.com/office/drawing/2014/main" id="{F57C23CC-EE37-4E6E-9AD4-5CBBF5FFB268}"/>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short assessment gathers useful starting evidence without claiming complete certainty</a:t>
            </a:r>
          </a:p>
        </p:txBody>
      </p:sp>
      <p:sp>
        <p:nvSpPr>
          <p:cNvPr id="3" name="">
            <a:extLst xmlns:a="http://schemas.openxmlformats.org/drawingml/2006/main">
              <a:ext uri="{FF2B5EF4-FFF2-40B4-BE49-F238E27FC236}">
                <a16:creationId xmlns:a16="http://schemas.microsoft.com/office/drawing/2014/main" id="{AE8888B7-A02B-43DC-B9E1-1C05AEC7A5C5}"/>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BBF15CD5-23EC-4EF5-8053-C0246EC30CDB}"/>
              </a:ext>
            </a:extLst>
          </p:cNvPr>
          <p:cNvSpPr>
            <a:spLocks xmlns:a="http://schemas.openxmlformats.org/drawingml/2006/main" noGrp="1"/>
          </p:cNvSpPr>
          <p:nvPr/>
        </p:nvSpPr>
        <p:spPr>
          <a:xfrm xmlns:a="http://schemas.openxmlformats.org/drawingml/2006/main">
            <a:off x="552450" y="1562100"/>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1">
                <a:solidFill>
                  <a:srgbClr val="4F46E5"/>
                </a:solidFill>
                <a:latin typeface="Aptos"/>
                <a:ea typeface="Aptos"/>
                <a:cs typeface="Aptos"/>
              </a:defRPr>
            </a:pPr>
            <a:r>
              <a:rPr sz="4950" b="1">
                <a:solidFill>
                  <a:srgbClr val="4F46E5"/>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E5B6F72E-949B-4B97-9441-84F151427917}"/>
              </a:ext>
            </a:extLst>
          </p:cNvPr>
          <p:cNvSpPr>
            <a:spLocks xmlns:a="http://schemas.openxmlformats.org/drawingml/2006/main" noGrp="1"/>
          </p:cNvSpPr>
          <p:nvPr/>
        </p:nvSpPr>
        <p:spPr>
          <a:xfrm xmlns:a="http://schemas.openxmlformats.org/drawingml/2006/main">
            <a:off x="590550" y="2419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maximum questions</a:t>
            </a:r>
          </a:p>
        </p:txBody>
      </p:sp>
      <p:sp>
        <p:nvSpPr>
          <p:cNvPr id="6" name="">
            <a:extLst xmlns:a="http://schemas.openxmlformats.org/drawingml/2006/main">
              <a:ext uri="{FF2B5EF4-FFF2-40B4-BE49-F238E27FC236}">
                <a16:creationId xmlns:a16="http://schemas.microsoft.com/office/drawing/2014/main" id="{D905695E-D865-4BAA-A09D-22C7FF4DB7B6}"/>
              </a:ext>
            </a:extLst>
          </p:cNvPr>
          <p:cNvSpPr>
            <a:spLocks xmlns:a="http://schemas.openxmlformats.org/drawingml/2006/main" noGrp="1"/>
          </p:cNvSpPr>
          <p:nvPr/>
        </p:nvSpPr>
        <p:spPr>
          <a:xfrm xmlns:a="http://schemas.openxmlformats.org/drawingml/2006/main">
            <a:off x="2476500" y="1752600"/>
            <a:ext cx="2000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7" name="">
            <a:extLst xmlns:a="http://schemas.openxmlformats.org/drawingml/2006/main">
              <a:ext uri="{FF2B5EF4-FFF2-40B4-BE49-F238E27FC236}">
                <a16:creationId xmlns:a16="http://schemas.microsoft.com/office/drawing/2014/main" id="{8B095983-A639-48AC-8258-0E8439DB83B1}"/>
              </a:ext>
            </a:extLst>
          </p:cNvPr>
          <p:cNvSpPr>
            <a:spLocks xmlns:a="http://schemas.openxmlformats.org/drawingml/2006/main" noGrp="1"/>
          </p:cNvSpPr>
          <p:nvPr/>
        </p:nvSpPr>
        <p:spPr>
          <a:xfrm xmlns:a="http://schemas.openxmlformats.org/drawingml/2006/main">
            <a:off x="26670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Coverage</a:t>
            </a:r>
          </a:p>
        </p:txBody>
      </p:sp>
      <p:sp>
        <p:nvSpPr>
          <p:cNvPr id="8" name="">
            <a:extLst xmlns:a="http://schemas.openxmlformats.org/drawingml/2006/main">
              <a:ext uri="{FF2B5EF4-FFF2-40B4-BE49-F238E27FC236}">
                <a16:creationId xmlns:a16="http://schemas.microsoft.com/office/drawing/2014/main" id="{59D17FAC-5461-4E3B-905A-0F6EFFD1F37D}"/>
              </a:ext>
            </a:extLst>
          </p:cNvPr>
          <p:cNvSpPr>
            <a:spLocks xmlns:a="http://schemas.openxmlformats.org/drawingml/2006/main" noGrp="1"/>
          </p:cNvSpPr>
          <p:nvPr/>
        </p:nvSpPr>
        <p:spPr>
          <a:xfrm xmlns:a="http://schemas.openxmlformats.org/drawingml/2006/main">
            <a:off x="26670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5 items</a:t>
            </a:r>
          </a:p>
        </p:txBody>
      </p:sp>
      <p:sp>
        <p:nvSpPr>
          <p:cNvPr id="9" name="">
            <a:extLst xmlns:a="http://schemas.openxmlformats.org/drawingml/2006/main">
              <a:ext uri="{FF2B5EF4-FFF2-40B4-BE49-F238E27FC236}">
                <a16:creationId xmlns:a16="http://schemas.microsoft.com/office/drawing/2014/main" id="{159E535F-48FF-4C4A-A69B-184B5F5E9F65}"/>
              </a:ext>
            </a:extLst>
          </p:cNvPr>
          <p:cNvSpPr>
            <a:spLocks xmlns:a="http://schemas.openxmlformats.org/drawingml/2006/main" noGrp="1"/>
          </p:cNvSpPr>
          <p:nvPr/>
        </p:nvSpPr>
        <p:spPr>
          <a:xfrm xmlns:a="http://schemas.openxmlformats.org/drawingml/2006/main">
            <a:off x="26670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Sample important and unknown skills</a:t>
            </a:r>
          </a:p>
        </p:txBody>
      </p:sp>
      <p:sp>
        <p:nvSpPr>
          <p:cNvPr id="10" name="">
            <a:extLst xmlns:a="http://schemas.openxmlformats.org/drawingml/2006/main">
              <a:ext uri="{FF2B5EF4-FFF2-40B4-BE49-F238E27FC236}">
                <a16:creationId xmlns:a16="http://schemas.microsoft.com/office/drawing/2014/main" id="{1182FC93-0A10-4D4A-A211-F9990CB9D392}"/>
              </a:ext>
            </a:extLst>
          </p:cNvPr>
          <p:cNvSpPr>
            <a:spLocks xmlns:a="http://schemas.openxmlformats.org/drawingml/2006/main" noGrp="1"/>
          </p:cNvSpPr>
          <p:nvPr/>
        </p:nvSpPr>
        <p:spPr>
          <a:xfrm xmlns:a="http://schemas.openxmlformats.org/drawingml/2006/main">
            <a:off x="4819650" y="1752600"/>
            <a:ext cx="2000250" cy="1809750"/>
          </a:xfrm>
          <a:prstGeom xmlns:a="http://schemas.openxmlformats.org/drawingml/2006/main" prst="roundRect">
            <a:avLst>
              <a:gd name="adj" fmla="val 6316"/>
            </a:avLst>
          </a:prstGeom>
          <a:solidFill xmlns:a="http://schemas.openxmlformats.org/drawingml/2006/main">
            <a:srgbClr val="ECFDF5"/>
          </a:solidFill>
          <a:ln xmlns:a="http://schemas.openxmlformats.org/drawingml/2006/main" w="9525">
            <a:solidFill>
              <a:srgbClr val="0F766E"/>
            </a:solidFill>
            <a:prstDash val="solid"/>
          </a:ln>
        </p:spPr>
      </p:sp>
      <p:sp>
        <p:nvSpPr>
          <p:cNvPr id="11" name="">
            <a:extLst xmlns:a="http://schemas.openxmlformats.org/drawingml/2006/main">
              <a:ext uri="{FF2B5EF4-FFF2-40B4-BE49-F238E27FC236}">
                <a16:creationId xmlns:a16="http://schemas.microsoft.com/office/drawing/2014/main" id="{DEAC4CCE-7D9A-4884-963B-E1B1B22140A1}"/>
              </a:ext>
            </a:extLst>
          </p:cNvPr>
          <p:cNvSpPr>
            <a:spLocks xmlns:a="http://schemas.openxmlformats.org/drawingml/2006/main" noGrp="1"/>
          </p:cNvSpPr>
          <p:nvPr/>
        </p:nvSpPr>
        <p:spPr>
          <a:xfrm xmlns:a="http://schemas.openxmlformats.org/drawingml/2006/main">
            <a:off x="50101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Confirmation</a:t>
            </a:r>
          </a:p>
        </p:txBody>
      </p:sp>
      <p:sp>
        <p:nvSpPr>
          <p:cNvPr id="12" name="">
            <a:extLst xmlns:a="http://schemas.openxmlformats.org/drawingml/2006/main">
              <a:ext uri="{FF2B5EF4-FFF2-40B4-BE49-F238E27FC236}">
                <a16:creationId xmlns:a16="http://schemas.microsoft.com/office/drawing/2014/main" id="{9AE4B097-5C01-481B-B198-714494BD0F72}"/>
              </a:ext>
            </a:extLst>
          </p:cNvPr>
          <p:cNvSpPr>
            <a:spLocks xmlns:a="http://schemas.openxmlformats.org/drawingml/2006/main" noGrp="1"/>
          </p:cNvSpPr>
          <p:nvPr/>
        </p:nvSpPr>
        <p:spPr>
          <a:xfrm xmlns:a="http://schemas.openxmlformats.org/drawingml/2006/main">
            <a:off x="50101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8 items</a:t>
            </a:r>
          </a:p>
        </p:txBody>
      </p:sp>
      <p:sp>
        <p:nvSpPr>
          <p:cNvPr id="13" name="">
            <a:extLst xmlns:a="http://schemas.openxmlformats.org/drawingml/2006/main">
              <a:ext uri="{FF2B5EF4-FFF2-40B4-BE49-F238E27FC236}">
                <a16:creationId xmlns:a16="http://schemas.microsoft.com/office/drawing/2014/main" id="{6DFD898B-1877-4946-96B7-C7A4B5E1E6C0}"/>
              </a:ext>
            </a:extLst>
          </p:cNvPr>
          <p:cNvSpPr>
            <a:spLocks xmlns:a="http://schemas.openxmlformats.org/drawingml/2006/main" noGrp="1"/>
          </p:cNvSpPr>
          <p:nvPr/>
        </p:nvSpPr>
        <p:spPr>
          <a:xfrm xmlns:a="http://schemas.openxmlformats.org/drawingml/2006/main">
            <a:off x="50101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Return to uncertain or contradictory results</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44767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5" name="">
            <a:extLst xmlns:a="http://schemas.openxmlformats.org/drawingml/2006/main">
              <a:ext uri="{FF2B5EF4-FFF2-40B4-BE49-F238E27FC236}">
                <a16:creationId xmlns:a16="http://schemas.microsoft.com/office/drawing/2014/main" id="{04769564-0F3D-45C6-8950-9811F2E615DF}"/>
              </a:ext>
            </a:extLst>
          </p:cNvPr>
          <p:cNvSpPr>
            <a:spLocks xmlns:a="http://schemas.openxmlformats.org/drawingml/2006/main" noGrp="1"/>
          </p:cNvSpPr>
          <p:nvPr/>
        </p:nvSpPr>
        <p:spPr>
          <a:xfrm xmlns:a="http://schemas.openxmlformats.org/drawingml/2006/main">
            <a:off x="7162800" y="1752600"/>
            <a:ext cx="200025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16" name="">
            <a:extLst xmlns:a="http://schemas.openxmlformats.org/drawingml/2006/main">
              <a:ext uri="{FF2B5EF4-FFF2-40B4-BE49-F238E27FC236}">
                <a16:creationId xmlns:a16="http://schemas.microsoft.com/office/drawing/2014/main" id="{79DA8B6C-0DC6-406C-9150-0581D1A1FF17}"/>
              </a:ext>
            </a:extLst>
          </p:cNvPr>
          <p:cNvSpPr>
            <a:spLocks xmlns:a="http://schemas.openxmlformats.org/drawingml/2006/main" noGrp="1"/>
          </p:cNvSpPr>
          <p:nvPr/>
        </p:nvSpPr>
        <p:spPr>
          <a:xfrm xmlns:a="http://schemas.openxmlformats.org/drawingml/2006/main">
            <a:off x="73533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Verification</a:t>
            </a:r>
          </a:p>
        </p:txBody>
      </p:sp>
      <p:sp>
        <p:nvSpPr>
          <p:cNvPr id="17" name="">
            <a:extLst xmlns:a="http://schemas.openxmlformats.org/drawingml/2006/main">
              <a:ext uri="{FF2B5EF4-FFF2-40B4-BE49-F238E27FC236}">
                <a16:creationId xmlns:a16="http://schemas.microsoft.com/office/drawing/2014/main" id="{C003027E-2B5C-4DE4-BD30-41FA77CF09E7}"/>
              </a:ext>
            </a:extLst>
          </p:cNvPr>
          <p:cNvSpPr>
            <a:spLocks xmlns:a="http://schemas.openxmlformats.org/drawingml/2006/main" noGrp="1"/>
          </p:cNvSpPr>
          <p:nvPr/>
        </p:nvSpPr>
        <p:spPr>
          <a:xfrm xmlns:a="http://schemas.openxmlformats.org/drawingml/2006/main">
            <a:off x="73533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2 items</a:t>
            </a:r>
          </a:p>
        </p:txBody>
      </p:sp>
      <p:sp>
        <p:nvSpPr>
          <p:cNvPr id="18" name="">
            <a:extLst xmlns:a="http://schemas.openxmlformats.org/drawingml/2006/main">
              <a:ext uri="{FF2B5EF4-FFF2-40B4-BE49-F238E27FC236}">
                <a16:creationId xmlns:a16="http://schemas.microsoft.com/office/drawing/2014/main" id="{904D1103-B4CC-45E4-8EEE-30BB43026673}"/>
              </a:ext>
            </a:extLst>
          </p:cNvPr>
          <p:cNvSpPr>
            <a:spLocks xmlns:a="http://schemas.openxmlformats.org/drawingml/2006/main" noGrp="1"/>
          </p:cNvSpPr>
          <p:nvPr/>
        </p:nvSpPr>
        <p:spPr>
          <a:xfrm xmlns:a="http://schemas.openxmlformats.org/drawingml/2006/main">
            <a:off x="73533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Seek application-level evidence</a:t>
            </a:r>
          </a:p>
        </p:txBody>
      </p:sp>
      <p:cxnSp>
        <p:nvCxnSpPr>
          <p:cNvPr id="52" name=""/>
          <p:cNvCxnSpPr>
            <a:stCxn xmlns:a="http://schemas.openxmlformats.org/drawingml/2006/main" id="10" idx="3"/>
            <a:endCxn xmlns:a="http://schemas.openxmlformats.org/drawingml/2006/main" id="15" idx="1"/>
          </p:cNvCxnSpPr>
          <p:nvPr/>
        </p:nvCxnSpPr>
        <p:spPr>
          <a:xfrm xmlns:a="http://schemas.openxmlformats.org/drawingml/2006/main">
            <a:off x="681990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0" name="">
            <a:extLst xmlns:a="http://schemas.openxmlformats.org/drawingml/2006/main">
              <a:ext uri="{FF2B5EF4-FFF2-40B4-BE49-F238E27FC236}">
                <a16:creationId xmlns:a16="http://schemas.microsoft.com/office/drawing/2014/main" id="{23928002-1D9D-404E-9C8B-7F4DE963E280}"/>
              </a:ext>
            </a:extLst>
          </p:cNvPr>
          <p:cNvSpPr>
            <a:spLocks xmlns:a="http://schemas.openxmlformats.org/drawingml/2006/main" noGrp="1"/>
          </p:cNvSpPr>
          <p:nvPr/>
        </p:nvSpPr>
        <p:spPr>
          <a:xfrm xmlns:a="http://schemas.openxmlformats.org/drawingml/2006/main">
            <a:off x="9505950" y="1752600"/>
            <a:ext cx="200025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21" name="">
            <a:extLst xmlns:a="http://schemas.openxmlformats.org/drawingml/2006/main">
              <a:ext uri="{FF2B5EF4-FFF2-40B4-BE49-F238E27FC236}">
                <a16:creationId xmlns:a16="http://schemas.microsoft.com/office/drawing/2014/main" id="{AE36BF22-39C5-4C34-ABB7-C13B6CDFF9F0}"/>
              </a:ext>
            </a:extLst>
          </p:cNvPr>
          <p:cNvSpPr>
            <a:spLocks xmlns:a="http://schemas.openxmlformats.org/drawingml/2006/main" noGrp="1"/>
          </p:cNvSpPr>
          <p:nvPr/>
        </p:nvSpPr>
        <p:spPr>
          <a:xfrm xmlns:a="http://schemas.openxmlformats.org/drawingml/2006/main">
            <a:off x="96964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Result</a:t>
            </a:r>
          </a:p>
        </p:txBody>
      </p:sp>
      <p:sp>
        <p:nvSpPr>
          <p:cNvPr id="22" name="">
            <a:extLst xmlns:a="http://schemas.openxmlformats.org/drawingml/2006/main">
              <a:ext uri="{FF2B5EF4-FFF2-40B4-BE49-F238E27FC236}">
                <a16:creationId xmlns:a16="http://schemas.microsoft.com/office/drawing/2014/main" id="{CFD73494-56D5-400F-A2D5-C28740B03B5B}"/>
              </a:ext>
            </a:extLst>
          </p:cNvPr>
          <p:cNvSpPr>
            <a:spLocks xmlns:a="http://schemas.openxmlformats.org/drawingml/2006/main" noGrp="1"/>
          </p:cNvSpPr>
          <p:nvPr/>
        </p:nvSpPr>
        <p:spPr>
          <a:xfrm xmlns:a="http://schemas.openxmlformats.org/drawingml/2006/main">
            <a:off x="96964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Per skill</a:t>
            </a:r>
          </a:p>
        </p:txBody>
      </p:sp>
      <p:sp>
        <p:nvSpPr>
          <p:cNvPr id="23" name="">
            <a:extLst xmlns:a="http://schemas.openxmlformats.org/drawingml/2006/main">
              <a:ext uri="{FF2B5EF4-FFF2-40B4-BE49-F238E27FC236}">
                <a16:creationId xmlns:a16="http://schemas.microsoft.com/office/drawing/2014/main" id="{F0C8F641-5991-49DF-AE0D-3D728AB0C07E}"/>
              </a:ext>
            </a:extLst>
          </p:cNvPr>
          <p:cNvSpPr>
            <a:spLocks xmlns:a="http://schemas.openxmlformats.org/drawingml/2006/main" noGrp="1"/>
          </p:cNvSpPr>
          <p:nvPr/>
        </p:nvSpPr>
        <p:spPr>
          <a:xfrm xmlns:a="http://schemas.openxmlformats.org/drawingml/2006/main">
            <a:off x="96964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Classification, interval and untested skills</a:t>
            </a:r>
          </a:p>
        </p:txBody>
      </p:sp>
      <p:cxnSp>
        <p:nvCxnSpPr>
          <p:cNvPr id="57" name=""/>
          <p:cNvCxnSpPr>
            <a:stCxn xmlns:a="http://schemas.openxmlformats.org/drawingml/2006/main" id="15" idx="3"/>
            <a:endCxn xmlns:a="http://schemas.openxmlformats.org/drawingml/2006/main" id="20" idx="1"/>
          </p:cNvCxnSpPr>
          <p:nvPr/>
        </p:nvCxnSpPr>
        <p:spPr>
          <a:xfrm xmlns:a="http://schemas.openxmlformats.org/drawingml/2006/main">
            <a:off x="91630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5" name="">
            <a:extLst xmlns:a="http://schemas.openxmlformats.org/drawingml/2006/main">
              <a:ext uri="{FF2B5EF4-FFF2-40B4-BE49-F238E27FC236}">
                <a16:creationId xmlns:a16="http://schemas.microsoft.com/office/drawing/2014/main" id="{D71417FE-97EE-4412-9D16-68607995A9C1}"/>
              </a:ext>
            </a:extLst>
          </p:cNvPr>
          <p:cNvSpPr>
            <a:spLocks xmlns:a="http://schemas.openxmlformats.org/drawingml/2006/main" noGrp="1"/>
          </p:cNvSpPr>
          <p:nvPr/>
        </p:nvSpPr>
        <p:spPr>
          <a:xfrm xmlns:a="http://schemas.openxmlformats.org/drawingml/2006/main">
            <a:off x="742950" y="4229100"/>
            <a:ext cx="3333750" cy="1428750"/>
          </a:xfrm>
          <a:prstGeom xmlns:a="http://schemas.openxmlformats.org/drawingml/2006/main" prst="roundRect">
            <a:avLst>
              <a:gd name="adj" fmla="val 8000"/>
            </a:avLst>
          </a:prstGeom>
          <a:solidFill xmlns:a="http://schemas.openxmlformats.org/drawingml/2006/main">
            <a:srgbClr val="FFF1F0"/>
          </a:solidFill>
          <a:ln xmlns:a="http://schemas.openxmlformats.org/drawingml/2006/main" w="9525">
            <a:solidFill>
              <a:srgbClr val="B42318"/>
            </a:solidFill>
            <a:prstDash val="solid"/>
          </a:ln>
        </p:spPr>
      </p:sp>
      <p:sp>
        <p:nvSpPr>
          <p:cNvPr id="26" name="">
            <a:extLst xmlns:a="http://schemas.openxmlformats.org/drawingml/2006/main">
              <a:ext uri="{FF2B5EF4-FFF2-40B4-BE49-F238E27FC236}">
                <a16:creationId xmlns:a16="http://schemas.microsoft.com/office/drawing/2014/main" id="{99FF19CB-0F45-433D-8398-6333A1CF4AA1}"/>
              </a:ext>
            </a:extLst>
          </p:cNvPr>
          <p:cNvSpPr>
            <a:spLocks xmlns:a="http://schemas.openxmlformats.org/drawingml/2006/main" noGrp="1"/>
          </p:cNvSpPr>
          <p:nvPr/>
        </p:nvSpPr>
        <p:spPr>
          <a:xfrm xmlns:a="http://schemas.openxmlformats.org/drawingml/2006/main">
            <a:off x="95250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B42318"/>
                </a:solidFill>
                <a:latin typeface="Aptos"/>
                <a:ea typeface="Aptos"/>
                <a:cs typeface="Aptos"/>
              </a:defRPr>
            </a:pPr>
            <a:r>
              <a:rPr sz="1725" b="1">
                <a:solidFill>
                  <a:srgbClr val="B42318"/>
                </a:solidFill>
                <a:latin typeface="Aptos"/>
                <a:ea typeface="Aptos"/>
                <a:cs typeface="Aptos"/>
              </a:rPr>
              <a:t>One correct answer</a:t>
            </a:r>
          </a:p>
        </p:txBody>
      </p:sp>
      <p:sp>
        <p:nvSpPr>
          <p:cNvPr id="27" name="">
            <a:extLst xmlns:a="http://schemas.openxmlformats.org/drawingml/2006/main">
              <a:ext uri="{FF2B5EF4-FFF2-40B4-BE49-F238E27FC236}">
                <a16:creationId xmlns:a16="http://schemas.microsoft.com/office/drawing/2014/main" id="{E32ACFE5-CDEE-4086-BE34-40C6725145B1}"/>
              </a:ext>
            </a:extLst>
          </p:cNvPr>
          <p:cNvSpPr>
            <a:spLocks xmlns:a="http://schemas.openxmlformats.org/drawingml/2006/main" noGrp="1"/>
          </p:cNvSpPr>
          <p:nvPr/>
        </p:nvSpPr>
        <p:spPr>
          <a:xfrm xmlns:a="http://schemas.openxmlformats.org/drawingml/2006/main">
            <a:off x="95250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Produces PROBED. It never creates certified mastery.</a:t>
            </a:r>
          </a:p>
        </p:txBody>
      </p:sp>
      <p:sp>
        <p:nvSpPr>
          <p:cNvPr id="28" name="">
            <a:extLst xmlns:a="http://schemas.openxmlformats.org/drawingml/2006/main">
              <a:ext uri="{FF2B5EF4-FFF2-40B4-BE49-F238E27FC236}">
                <a16:creationId xmlns:a16="http://schemas.microsoft.com/office/drawing/2014/main" id="{E53ACB05-8E68-4D4C-9858-9F003F1EE76C}"/>
              </a:ext>
            </a:extLst>
          </p:cNvPr>
          <p:cNvSpPr>
            <a:spLocks xmlns:a="http://schemas.openxmlformats.org/drawingml/2006/main" noGrp="1"/>
          </p:cNvSpPr>
          <p:nvPr/>
        </p:nvSpPr>
        <p:spPr>
          <a:xfrm xmlns:a="http://schemas.openxmlformats.org/drawingml/2006/main">
            <a:off x="4429125" y="4229100"/>
            <a:ext cx="3333750" cy="1428750"/>
          </a:xfrm>
          <a:prstGeom xmlns:a="http://schemas.openxmlformats.org/drawingml/2006/main" prst="roundRect">
            <a:avLst>
              <a:gd name="adj" fmla="val 8000"/>
            </a:avLst>
          </a:prstGeom>
          <a:solidFill xmlns:a="http://schemas.openxmlformats.org/drawingml/2006/main">
            <a:srgbClr val="EFFCF4"/>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18439DBB-6C5F-4FF8-BDB9-99B821A88F93}"/>
              </a:ext>
            </a:extLst>
          </p:cNvPr>
          <p:cNvSpPr>
            <a:spLocks xmlns:a="http://schemas.openxmlformats.org/drawingml/2006/main" noGrp="1"/>
          </p:cNvSpPr>
          <p:nvPr/>
        </p:nvSpPr>
        <p:spPr>
          <a:xfrm xmlns:a="http://schemas.openxmlformats.org/drawingml/2006/main">
            <a:off x="4638675"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5803D"/>
                </a:solidFill>
                <a:latin typeface="Aptos"/>
                <a:ea typeface="Aptos"/>
                <a:cs typeface="Aptos"/>
              </a:defRPr>
            </a:pPr>
            <a:r>
              <a:rPr sz="1725" b="1">
                <a:solidFill>
                  <a:srgbClr val="15803D"/>
                </a:solidFill>
                <a:latin typeface="Aptos"/>
                <a:ea typeface="Aptos"/>
                <a:cs typeface="Aptos"/>
              </a:rPr>
              <a:t>Mastered</a:t>
            </a:r>
          </a:p>
        </p:txBody>
      </p:sp>
      <p:sp>
        <p:nvSpPr>
          <p:cNvPr id="30" name="">
            <a:extLst xmlns:a="http://schemas.openxmlformats.org/drawingml/2006/main">
              <a:ext uri="{FF2B5EF4-FFF2-40B4-BE49-F238E27FC236}">
                <a16:creationId xmlns:a16="http://schemas.microsoft.com/office/drawing/2014/main" id="{9B00EE7E-E22C-43D1-8AC1-5904E747C20E}"/>
              </a:ext>
            </a:extLst>
          </p:cNvPr>
          <p:cNvSpPr>
            <a:spLocks xmlns:a="http://schemas.openxmlformats.org/drawingml/2006/main" noGrp="1"/>
          </p:cNvSpPr>
          <p:nvPr/>
        </p:nvSpPr>
        <p:spPr>
          <a:xfrm xmlns:a="http://schemas.openxmlformats.org/drawingml/2006/main">
            <a:off x="4638675"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Needs at least 3 observations, target mastery, confidence and an APPLY or ANALYZE success.</a:t>
            </a:r>
          </a:p>
        </p:txBody>
      </p:sp>
      <p:sp>
        <p:nvSpPr>
          <p:cNvPr id="31" name="">
            <a:extLst xmlns:a="http://schemas.openxmlformats.org/drawingml/2006/main">
              <a:ext uri="{FF2B5EF4-FFF2-40B4-BE49-F238E27FC236}">
                <a16:creationId xmlns:a16="http://schemas.microsoft.com/office/drawing/2014/main" id="{6D1F2470-6EC4-400C-A84B-FD586277251A}"/>
              </a:ext>
            </a:extLst>
          </p:cNvPr>
          <p:cNvSpPr>
            <a:spLocks xmlns:a="http://schemas.openxmlformats.org/drawingml/2006/main" noGrp="1"/>
          </p:cNvSpPr>
          <p:nvPr/>
        </p:nvSpPr>
        <p:spPr>
          <a:xfrm xmlns:a="http://schemas.openxmlformats.org/drawingml/2006/main">
            <a:off x="8115300" y="4229100"/>
            <a:ext cx="333375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32" name="">
            <a:extLst xmlns:a="http://schemas.openxmlformats.org/drawingml/2006/main">
              <a:ext uri="{FF2B5EF4-FFF2-40B4-BE49-F238E27FC236}">
                <a16:creationId xmlns:a16="http://schemas.microsoft.com/office/drawing/2014/main" id="{81CEC2FF-C462-44CF-8F47-569D62ED027A}"/>
              </a:ext>
            </a:extLst>
          </p:cNvPr>
          <p:cNvSpPr>
            <a:spLocks xmlns:a="http://schemas.openxmlformats.org/drawingml/2006/main" noGrp="1"/>
          </p:cNvSpPr>
          <p:nvPr/>
        </p:nvSpPr>
        <p:spPr>
          <a:xfrm xmlns:a="http://schemas.openxmlformats.org/drawingml/2006/main">
            <a:off x="832485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Not tested</a:t>
            </a:r>
          </a:p>
        </p:txBody>
      </p:sp>
      <p:sp>
        <p:nvSpPr>
          <p:cNvPr id="33" name="">
            <a:extLst xmlns:a="http://schemas.openxmlformats.org/drawingml/2006/main">
              <a:ext uri="{FF2B5EF4-FFF2-40B4-BE49-F238E27FC236}">
                <a16:creationId xmlns:a16="http://schemas.microsoft.com/office/drawing/2014/main" id="{FF0FE342-CA78-4C21-B0CD-200A811E8631}"/>
              </a:ext>
            </a:extLst>
          </p:cNvPr>
          <p:cNvSpPr>
            <a:spLocks xmlns:a="http://schemas.openxmlformats.org/drawingml/2006/main" noGrp="1"/>
          </p:cNvSpPr>
          <p:nvPr/>
        </p:nvSpPr>
        <p:spPr>
          <a:xfrm xmlns:a="http://schemas.openxmlformats.org/drawingml/2006/main">
            <a:off x="832485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Remains explicit when the question budget cannot sample that skill.</a:t>
            </a:r>
          </a:p>
        </p:txBody>
      </p:sp>
    </p:spTree>
    <p:extLst>
      <p:ext uri="{BB962C8B-B14F-4D97-AF65-F5344CB8AC3E}">
        <p14:creationId xmlns:p14="http://schemas.microsoft.com/office/powerpoint/2010/main" val="14258309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F72290B7-078C-4B0E-8201-359145465F56}"/>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Knowledge Graph v2</a:t>
            </a:r>
          </a:p>
        </p:txBody>
      </p:sp>
      <p:sp>
        <p:nvSpPr>
          <p:cNvPr id="2" name="">
            <a:extLst xmlns:a="http://schemas.openxmlformats.org/drawingml/2006/main">
              <a:ext uri="{FF2B5EF4-FFF2-40B4-BE49-F238E27FC236}">
                <a16:creationId xmlns:a16="http://schemas.microsoft.com/office/drawing/2014/main" id="{6A715357-06D4-46AB-9C5E-664D99E6478C}"/>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Deterministic prerequisite safety and graph analytics remain separate</a:t>
            </a:r>
          </a:p>
        </p:txBody>
      </p:sp>
      <p:sp>
        <p:nvSpPr>
          <p:cNvPr id="3" name="">
            <a:extLst xmlns:a="http://schemas.openxmlformats.org/drawingml/2006/main">
              <a:ext uri="{FF2B5EF4-FFF2-40B4-BE49-F238E27FC236}">
                <a16:creationId xmlns:a16="http://schemas.microsoft.com/office/drawing/2014/main" id="{27AFDDF1-1C2B-474A-9827-456FB7BF76D5}"/>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26C268CD-E29D-467C-9DD0-68D4C4B7545C}"/>
              </a:ext>
            </a:extLst>
          </p:cNvPr>
          <p:cNvSpPr>
            <a:spLocks xmlns:a="http://schemas.openxmlformats.org/drawingml/2006/main" noGrp="1"/>
          </p:cNvSpPr>
          <p:nvPr/>
        </p:nvSpPr>
        <p:spPr>
          <a:xfrm xmlns:a="http://schemas.openxmlformats.org/drawingml/2006/main">
            <a:off x="495300" y="1447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IMPLEMENTATION LAYERS</a:t>
            </a:r>
          </a:p>
        </p:txBody>
      </p:sp>
      <p:sp>
        <p:nvSpPr>
          <p:cNvPr id="5" name="">
            <a:extLst xmlns:a="http://schemas.openxmlformats.org/drawingml/2006/main">
              <a:ext uri="{FF2B5EF4-FFF2-40B4-BE49-F238E27FC236}">
                <a16:creationId xmlns:a16="http://schemas.microsoft.com/office/drawing/2014/main" id="{A8691791-65FC-4480-8D00-8F3C9BFCABFD}"/>
              </a:ext>
            </a:extLst>
          </p:cNvPr>
          <p:cNvSpPr>
            <a:spLocks xmlns:a="http://schemas.openxmlformats.org/drawingml/2006/main" noGrp="1"/>
          </p:cNvSpPr>
          <p:nvPr/>
        </p:nvSpPr>
        <p:spPr>
          <a:xfrm xmlns:a="http://schemas.openxmlformats.org/drawingml/2006/main">
            <a:off x="495300" y="1847850"/>
            <a:ext cx="2667000" cy="1009650"/>
          </a:xfrm>
          <a:prstGeom xmlns:a="http://schemas.openxmlformats.org/drawingml/2006/main" prst="roundRect">
            <a:avLst>
              <a:gd name="adj" fmla="val 11321"/>
            </a:avLst>
          </a:prstGeom>
          <a:solidFill xmlns:a="http://schemas.openxmlformats.org/drawingml/2006/main">
            <a:srgbClr val="F4F6F9"/>
          </a:solidFill>
          <a:ln xmlns:a="http://schemas.openxmlformats.org/drawingml/2006/main" w="9525">
            <a:solidFill>
              <a:srgbClr val="0F172A"/>
            </a:solidFill>
            <a:prstDash val="solid"/>
          </a:ln>
        </p:spPr>
      </p:sp>
      <p:sp>
        <p:nvSpPr>
          <p:cNvPr id="6" name="">
            <a:extLst xmlns:a="http://schemas.openxmlformats.org/drawingml/2006/main">
              <a:ext uri="{FF2B5EF4-FFF2-40B4-BE49-F238E27FC236}">
                <a16:creationId xmlns:a16="http://schemas.microsoft.com/office/drawing/2014/main" id="{9C0AF8F2-52CD-4583-9811-68D0E43BC32E}"/>
              </a:ext>
            </a:extLst>
          </p:cNvPr>
          <p:cNvSpPr>
            <a:spLocks xmlns:a="http://schemas.openxmlformats.org/drawingml/2006/main" noGrp="1"/>
          </p:cNvSpPr>
          <p:nvPr/>
        </p:nvSpPr>
        <p:spPr>
          <a:xfrm xmlns:a="http://schemas.openxmlformats.org/drawingml/2006/main">
            <a:off x="495300" y="3143250"/>
            <a:ext cx="2667000" cy="1009650"/>
          </a:xfrm>
          <a:prstGeom xmlns:a="http://schemas.openxmlformats.org/drawingml/2006/main" prst="roundRect">
            <a:avLst>
              <a:gd name="adj" fmla="val 11321"/>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479CBEE0-28F4-47BF-901C-84A712F8483B}"/>
              </a:ext>
            </a:extLst>
          </p:cNvPr>
          <p:cNvSpPr>
            <a:spLocks xmlns:a="http://schemas.openxmlformats.org/drawingml/2006/main" noGrp="1"/>
          </p:cNvSpPr>
          <p:nvPr/>
        </p:nvSpPr>
        <p:spPr>
          <a:xfrm xmlns:a="http://schemas.openxmlformats.org/drawingml/2006/main">
            <a:off x="495300" y="4438650"/>
            <a:ext cx="2667000" cy="1009650"/>
          </a:xfrm>
          <a:prstGeom xmlns:a="http://schemas.openxmlformats.org/drawingml/2006/main" prst="roundRect">
            <a:avLst>
              <a:gd name="adj" fmla="val 11321"/>
            </a:avLst>
          </a:prstGeom>
          <a:solidFill xmlns:a="http://schemas.openxmlformats.org/drawingml/2006/main">
            <a:srgbClr val="FFF7E8"/>
          </a:solidFill>
          <a:ln xmlns:a="http://schemas.openxmlformats.org/drawingml/2006/main" w="9525">
            <a:solidFill>
              <a:srgbClr val="D97706"/>
            </a:solidFill>
            <a:prstDash val="solid"/>
          </a:ln>
        </p:spPr>
      </p:sp>
      <p:sp>
        <p:nvSpPr>
          <p:cNvPr id="8" name="">
            <a:extLst xmlns:a="http://schemas.openxmlformats.org/drawingml/2006/main">
              <a:ext uri="{FF2B5EF4-FFF2-40B4-BE49-F238E27FC236}">
                <a16:creationId xmlns:a16="http://schemas.microsoft.com/office/drawing/2014/main" id="{46DCCACF-AB19-4D65-A6AD-650BDE7D73E0}"/>
              </a:ext>
            </a:extLst>
          </p:cNvPr>
          <p:cNvSpPr>
            <a:spLocks xmlns:a="http://schemas.openxmlformats.org/drawingml/2006/main" noGrp="1"/>
          </p:cNvSpPr>
          <p:nvPr/>
        </p:nvSpPr>
        <p:spPr>
          <a:xfrm xmlns:a="http://schemas.openxmlformats.org/drawingml/2006/main">
            <a:off x="704850" y="21145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PostgreSQL graph truth</a:t>
            </a:r>
          </a:p>
        </p:txBody>
      </p:sp>
      <p:sp>
        <p:nvSpPr>
          <p:cNvPr id="9" name="">
            <a:extLst xmlns:a="http://schemas.openxmlformats.org/drawingml/2006/main">
              <a:ext uri="{FF2B5EF4-FFF2-40B4-BE49-F238E27FC236}">
                <a16:creationId xmlns:a16="http://schemas.microsoft.com/office/drawing/2014/main" id="{E1D21551-3533-43D4-B0FB-638E898A7B7B}"/>
              </a:ext>
            </a:extLst>
          </p:cNvPr>
          <p:cNvSpPr>
            <a:spLocks xmlns:a="http://schemas.openxmlformats.org/drawingml/2006/main" noGrp="1"/>
          </p:cNvSpPr>
          <p:nvPr/>
        </p:nvSpPr>
        <p:spPr>
          <a:xfrm xmlns:a="http://schemas.openxmlformats.org/drawingml/2006/main">
            <a:off x="704850" y="24765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Skills, course mappings and typed edges</a:t>
            </a:r>
          </a:p>
        </p:txBody>
      </p:sp>
      <p:sp>
        <p:nvSpPr>
          <p:cNvPr id="10" name="">
            <a:extLst xmlns:a="http://schemas.openxmlformats.org/drawingml/2006/main">
              <a:ext uri="{FF2B5EF4-FFF2-40B4-BE49-F238E27FC236}">
                <a16:creationId xmlns:a16="http://schemas.microsoft.com/office/drawing/2014/main" id="{B56F322F-564F-4711-8D7A-9A319951C3A7}"/>
              </a:ext>
            </a:extLst>
          </p:cNvPr>
          <p:cNvSpPr>
            <a:spLocks xmlns:a="http://schemas.openxmlformats.org/drawingml/2006/main" noGrp="1"/>
          </p:cNvSpPr>
          <p:nvPr/>
        </p:nvSpPr>
        <p:spPr>
          <a:xfrm xmlns:a="http://schemas.openxmlformats.org/drawingml/2006/main">
            <a:off x="704850" y="34099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TypeScript gate</a:t>
            </a:r>
          </a:p>
        </p:txBody>
      </p:sp>
      <p:sp>
        <p:nvSpPr>
          <p:cNvPr id="11" name="">
            <a:extLst xmlns:a="http://schemas.openxmlformats.org/drawingml/2006/main">
              <a:ext uri="{FF2B5EF4-FFF2-40B4-BE49-F238E27FC236}">
                <a16:creationId xmlns:a16="http://schemas.microsoft.com/office/drawing/2014/main" id="{348325C3-60D7-479C-8FBF-26FEED95CC3E}"/>
              </a:ext>
            </a:extLst>
          </p:cNvPr>
          <p:cNvSpPr>
            <a:spLocks xmlns:a="http://schemas.openxmlformats.org/drawingml/2006/main" noGrp="1"/>
          </p:cNvSpPr>
          <p:nvPr/>
        </p:nvSpPr>
        <p:spPr>
          <a:xfrm xmlns:a="http://schemas.openxmlformats.org/drawingml/2006/main">
            <a:off x="704850" y="37719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Recursive closure and required thresholds</a:t>
            </a:r>
          </a:p>
        </p:txBody>
      </p:sp>
      <p:sp>
        <p:nvSpPr>
          <p:cNvPr id="12" name="">
            <a:extLst xmlns:a="http://schemas.openxmlformats.org/drawingml/2006/main">
              <a:ext uri="{FF2B5EF4-FFF2-40B4-BE49-F238E27FC236}">
                <a16:creationId xmlns:a16="http://schemas.microsoft.com/office/drawing/2014/main" id="{4DB41313-1438-45D3-AF10-D6B3FB9B2B6D}"/>
              </a:ext>
            </a:extLst>
          </p:cNvPr>
          <p:cNvSpPr>
            <a:spLocks xmlns:a="http://schemas.openxmlformats.org/drawingml/2006/main" noGrp="1"/>
          </p:cNvSpPr>
          <p:nvPr/>
        </p:nvSpPr>
        <p:spPr>
          <a:xfrm xmlns:a="http://schemas.openxmlformats.org/drawingml/2006/main">
            <a:off x="704850" y="47053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NetworkX analytics</a:t>
            </a:r>
          </a:p>
        </p:txBody>
      </p:sp>
      <p:sp>
        <p:nvSpPr>
          <p:cNvPr id="13" name="">
            <a:extLst xmlns:a="http://schemas.openxmlformats.org/drawingml/2006/main">
              <a:ext uri="{FF2B5EF4-FFF2-40B4-BE49-F238E27FC236}">
                <a16:creationId xmlns:a16="http://schemas.microsoft.com/office/drawing/2014/main" id="{AE4DCCFB-0D35-4DC2-A38E-31DDA10BF680}"/>
              </a:ext>
            </a:extLst>
          </p:cNvPr>
          <p:cNvSpPr>
            <a:spLocks xmlns:a="http://schemas.openxmlformats.org/drawingml/2006/main" noGrp="1"/>
          </p:cNvSpPr>
          <p:nvPr/>
        </p:nvSpPr>
        <p:spPr>
          <a:xfrm xmlns:a="http://schemas.openxmlformats.org/drawingml/2006/main">
            <a:off x="704850" y="506730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Layers, routes, bottlenecks and unlock leverage</a:t>
            </a:r>
          </a:p>
        </p:txBody>
      </p:sp>
      <p:cxnSp>
        <p:nvCxnSpPr>
          <p:cNvPr id="48" name=""/>
          <p:cNvCxnSpPr>
            <a:stCxn xmlns:a="http://schemas.openxmlformats.org/drawingml/2006/main" id="5" idx="2"/>
            <a:endCxn xmlns:a="http://schemas.openxmlformats.org/drawingml/2006/main" id="6" idx="0"/>
          </p:cNvCxnSpPr>
          <p:nvPr/>
        </p:nvCxnSpPr>
        <p:spPr>
          <a:xfrm xmlns:a="http://schemas.openxmlformats.org/drawingml/2006/main">
            <a:off x="1828800" y="2857500"/>
            <a:ext cx="0" cy="28575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49" name=""/>
          <p:cNvCxnSpPr>
            <a:stCxn xmlns:a="http://schemas.openxmlformats.org/drawingml/2006/main" id="6" idx="2"/>
            <a:endCxn xmlns:a="http://schemas.openxmlformats.org/drawingml/2006/main" id="7" idx="0"/>
          </p:cNvCxnSpPr>
          <p:nvPr/>
        </p:nvCxnSpPr>
        <p:spPr>
          <a:xfrm xmlns:a="http://schemas.openxmlformats.org/drawingml/2006/main">
            <a:off x="1828800" y="4152900"/>
            <a:ext cx="0" cy="2857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6" name="">
            <a:extLst xmlns:a="http://schemas.openxmlformats.org/drawingml/2006/main">
              <a:ext uri="{FF2B5EF4-FFF2-40B4-BE49-F238E27FC236}">
                <a16:creationId xmlns:a16="http://schemas.microsoft.com/office/drawing/2014/main" id="{492D443F-549F-482E-8128-7005CE94478B}"/>
              </a:ext>
            </a:extLst>
          </p:cNvPr>
          <p:cNvSpPr>
            <a:spLocks xmlns:a="http://schemas.openxmlformats.org/drawingml/2006/main" noGrp="1"/>
          </p:cNvSpPr>
          <p:nvPr/>
        </p:nvSpPr>
        <p:spPr>
          <a:xfrm xmlns:a="http://schemas.openxmlformats.org/drawingml/2006/main">
            <a:off x="4095750" y="14478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LEARNER PREREQUISITE VIEW</a:t>
            </a:r>
          </a:p>
        </p:txBody>
      </p:sp>
      <p:sp>
        <p:nvSpPr>
          <p:cNvPr id="17" name="">
            <a:extLst xmlns:a="http://schemas.openxmlformats.org/drawingml/2006/main">
              <a:ext uri="{FF2B5EF4-FFF2-40B4-BE49-F238E27FC236}">
                <a16:creationId xmlns:a16="http://schemas.microsoft.com/office/drawing/2014/main" id="{81CB973D-AC76-4DF2-ABCE-0F4FAD730014}"/>
              </a:ext>
            </a:extLst>
          </p:cNvPr>
          <p:cNvSpPr>
            <a:spLocks xmlns:a="http://schemas.openxmlformats.org/drawingml/2006/main" noGrp="1"/>
          </p:cNvSpPr>
          <p:nvPr/>
        </p:nvSpPr>
        <p:spPr>
          <a:xfrm xmlns:a="http://schemas.openxmlformats.org/drawingml/2006/main">
            <a:off x="4305300" y="217170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8" name="">
            <a:extLst xmlns:a="http://schemas.openxmlformats.org/drawingml/2006/main">
              <a:ext uri="{FF2B5EF4-FFF2-40B4-BE49-F238E27FC236}">
                <a16:creationId xmlns:a16="http://schemas.microsoft.com/office/drawing/2014/main" id="{E423965A-F20D-4718-AED2-DACB480A1429}"/>
              </a:ext>
            </a:extLst>
          </p:cNvPr>
          <p:cNvSpPr>
            <a:spLocks xmlns:a="http://schemas.openxmlformats.org/drawingml/2006/main" noGrp="1"/>
          </p:cNvSpPr>
          <p:nvPr/>
        </p:nvSpPr>
        <p:spPr>
          <a:xfrm xmlns:a="http://schemas.openxmlformats.org/drawingml/2006/main">
            <a:off x="4305300" y="24003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Arrays</a:t>
            </a:r>
          </a:p>
        </p:txBody>
      </p:sp>
      <p:sp>
        <p:nvSpPr>
          <p:cNvPr id="19" name="">
            <a:extLst xmlns:a="http://schemas.openxmlformats.org/drawingml/2006/main">
              <a:ext uri="{FF2B5EF4-FFF2-40B4-BE49-F238E27FC236}">
                <a16:creationId xmlns:a16="http://schemas.microsoft.com/office/drawing/2014/main" id="{74D25D83-C4E3-4951-B141-D7BDB0695EDB}"/>
              </a:ext>
            </a:extLst>
          </p:cNvPr>
          <p:cNvSpPr>
            <a:spLocks xmlns:a="http://schemas.openxmlformats.org/drawingml/2006/main" noGrp="1"/>
          </p:cNvSpPr>
          <p:nvPr/>
        </p:nvSpPr>
        <p:spPr>
          <a:xfrm xmlns:a="http://schemas.openxmlformats.org/drawingml/2006/main">
            <a:off x="6400800" y="188595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20" name="">
            <a:extLst xmlns:a="http://schemas.openxmlformats.org/drawingml/2006/main">
              <a:ext uri="{FF2B5EF4-FFF2-40B4-BE49-F238E27FC236}">
                <a16:creationId xmlns:a16="http://schemas.microsoft.com/office/drawing/2014/main" id="{AA36DF7B-1F7D-41C6-8D9B-CD5C6BA7028D}"/>
              </a:ext>
            </a:extLst>
          </p:cNvPr>
          <p:cNvSpPr>
            <a:spLocks xmlns:a="http://schemas.openxmlformats.org/drawingml/2006/main" noGrp="1"/>
          </p:cNvSpPr>
          <p:nvPr/>
        </p:nvSpPr>
        <p:spPr>
          <a:xfrm xmlns:a="http://schemas.openxmlformats.org/drawingml/2006/main">
            <a:off x="6400800" y="2114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Searching</a:t>
            </a:r>
          </a:p>
        </p:txBody>
      </p:sp>
      <p:sp>
        <p:nvSpPr>
          <p:cNvPr id="21" name="">
            <a:extLst xmlns:a="http://schemas.openxmlformats.org/drawingml/2006/main">
              <a:ext uri="{FF2B5EF4-FFF2-40B4-BE49-F238E27FC236}">
                <a16:creationId xmlns:a16="http://schemas.microsoft.com/office/drawing/2014/main" id="{15A6DDE2-FCA7-4E1E-AFEB-76157D651D2C}"/>
              </a:ext>
            </a:extLst>
          </p:cNvPr>
          <p:cNvSpPr>
            <a:spLocks xmlns:a="http://schemas.openxmlformats.org/drawingml/2006/main" noGrp="1"/>
          </p:cNvSpPr>
          <p:nvPr/>
        </p:nvSpPr>
        <p:spPr>
          <a:xfrm xmlns:a="http://schemas.openxmlformats.org/drawingml/2006/main">
            <a:off x="6400800" y="3429000"/>
            <a:ext cx="121920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22" name="">
            <a:extLst xmlns:a="http://schemas.openxmlformats.org/drawingml/2006/main">
              <a:ext uri="{FF2B5EF4-FFF2-40B4-BE49-F238E27FC236}">
                <a16:creationId xmlns:a16="http://schemas.microsoft.com/office/drawing/2014/main" id="{88745E71-50A0-40BE-B58A-D5062011F817}"/>
              </a:ext>
            </a:extLst>
          </p:cNvPr>
          <p:cNvSpPr>
            <a:spLocks xmlns:a="http://schemas.openxmlformats.org/drawingml/2006/main" noGrp="1"/>
          </p:cNvSpPr>
          <p:nvPr/>
        </p:nvSpPr>
        <p:spPr>
          <a:xfrm xmlns:a="http://schemas.openxmlformats.org/drawingml/2006/main">
            <a:off x="6400800" y="36576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4F46E5"/>
                </a:solidFill>
                <a:latin typeface="Aptos"/>
                <a:ea typeface="Aptos"/>
                <a:cs typeface="Aptos"/>
              </a:defRPr>
            </a:pPr>
            <a:r>
              <a:rPr sz="1500" b="1">
                <a:solidFill>
                  <a:srgbClr val="4F46E5"/>
                </a:solidFill>
                <a:latin typeface="Aptos"/>
                <a:ea typeface="Aptos"/>
                <a:cs typeface="Aptos"/>
              </a:rPr>
              <a:t>Recursion</a:t>
            </a:r>
          </a:p>
        </p:txBody>
      </p:sp>
      <p:sp>
        <p:nvSpPr>
          <p:cNvPr id="23" name="">
            <a:extLst xmlns:a="http://schemas.openxmlformats.org/drawingml/2006/main">
              <a:ext uri="{FF2B5EF4-FFF2-40B4-BE49-F238E27FC236}">
                <a16:creationId xmlns:a16="http://schemas.microsoft.com/office/drawing/2014/main" id="{27DB535E-E50E-422D-AB3F-97C8B47F01C5}"/>
              </a:ext>
            </a:extLst>
          </p:cNvPr>
          <p:cNvSpPr>
            <a:spLocks xmlns:a="http://schemas.openxmlformats.org/drawingml/2006/main" noGrp="1"/>
          </p:cNvSpPr>
          <p:nvPr/>
        </p:nvSpPr>
        <p:spPr>
          <a:xfrm xmlns:a="http://schemas.openxmlformats.org/drawingml/2006/main">
            <a:off x="8763000" y="2647950"/>
            <a:ext cx="121920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4" name="">
            <a:extLst xmlns:a="http://schemas.openxmlformats.org/drawingml/2006/main">
              <a:ext uri="{FF2B5EF4-FFF2-40B4-BE49-F238E27FC236}">
                <a16:creationId xmlns:a16="http://schemas.microsoft.com/office/drawing/2014/main" id="{5E4030A3-79D8-4654-9BFA-1FC62AC797AD}"/>
              </a:ext>
            </a:extLst>
          </p:cNvPr>
          <p:cNvSpPr>
            <a:spLocks xmlns:a="http://schemas.openxmlformats.org/drawingml/2006/main" noGrp="1"/>
          </p:cNvSpPr>
          <p:nvPr/>
        </p:nvSpPr>
        <p:spPr>
          <a:xfrm xmlns:a="http://schemas.openxmlformats.org/drawingml/2006/main">
            <a:off x="8763000" y="2876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D97706"/>
                </a:solidFill>
                <a:latin typeface="Aptos"/>
                <a:ea typeface="Aptos"/>
                <a:cs typeface="Aptos"/>
              </a:defRPr>
            </a:pPr>
            <a:r>
              <a:rPr sz="1500" b="1">
                <a:solidFill>
                  <a:srgbClr val="D97706"/>
                </a:solidFill>
                <a:latin typeface="Aptos"/>
                <a:ea typeface="Aptos"/>
                <a:cs typeface="Aptos"/>
              </a:rPr>
              <a:t>Trees</a:t>
            </a:r>
          </a:p>
        </p:txBody>
      </p:sp>
      <p:sp>
        <p:nvSpPr>
          <p:cNvPr id="25" name="">
            <a:extLst xmlns:a="http://schemas.openxmlformats.org/drawingml/2006/main">
              <a:ext uri="{FF2B5EF4-FFF2-40B4-BE49-F238E27FC236}">
                <a16:creationId xmlns:a16="http://schemas.microsoft.com/office/drawing/2014/main" id="{CBEB7C17-4967-41DE-9867-B78C4E60A83D}"/>
              </a:ext>
            </a:extLst>
          </p:cNvPr>
          <p:cNvSpPr>
            <a:spLocks xmlns:a="http://schemas.openxmlformats.org/drawingml/2006/main" noGrp="1"/>
          </p:cNvSpPr>
          <p:nvPr/>
        </p:nvSpPr>
        <p:spPr>
          <a:xfrm xmlns:a="http://schemas.openxmlformats.org/drawingml/2006/main">
            <a:off x="10363200" y="4000500"/>
            <a:ext cx="121920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94A3B8"/>
            </a:solidFill>
            <a:prstDash val="solid"/>
          </a:ln>
        </p:spPr>
      </p:sp>
      <p:sp>
        <p:nvSpPr>
          <p:cNvPr id="26" name="">
            <a:extLst xmlns:a="http://schemas.openxmlformats.org/drawingml/2006/main">
              <a:ext uri="{FF2B5EF4-FFF2-40B4-BE49-F238E27FC236}">
                <a16:creationId xmlns:a16="http://schemas.microsoft.com/office/drawing/2014/main" id="{9E48BF80-D223-4B14-A331-83027E6FC21C}"/>
              </a:ext>
            </a:extLst>
          </p:cNvPr>
          <p:cNvSpPr>
            <a:spLocks xmlns:a="http://schemas.openxmlformats.org/drawingml/2006/main" noGrp="1"/>
          </p:cNvSpPr>
          <p:nvPr/>
        </p:nvSpPr>
        <p:spPr>
          <a:xfrm xmlns:a="http://schemas.openxmlformats.org/drawingml/2006/main">
            <a:off x="10363200" y="42291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94A3B8"/>
                </a:solidFill>
                <a:latin typeface="Aptos"/>
                <a:ea typeface="Aptos"/>
                <a:cs typeface="Aptos"/>
              </a:defRPr>
            </a:pPr>
            <a:r>
              <a:rPr sz="1500" b="1">
                <a:solidFill>
                  <a:srgbClr val="94A3B8"/>
                </a:solidFill>
                <a:latin typeface="Aptos"/>
                <a:ea typeface="Aptos"/>
                <a:cs typeface="Aptos"/>
              </a:rPr>
              <a:t>Graphs</a:t>
            </a:r>
          </a:p>
        </p:txBody>
      </p:sp>
      <p:cxnSp>
        <p:nvCxnSpPr>
          <p:cNvPr id="61" name=""/>
          <p:cNvCxnSpPr>
            <a:stCxn xmlns:a="http://schemas.openxmlformats.org/drawingml/2006/main" id="17" idx="6"/>
            <a:endCxn xmlns:a="http://schemas.openxmlformats.org/drawingml/2006/main" id="19" idx="2"/>
          </p:cNvCxnSpPr>
          <p:nvPr/>
        </p:nvCxnSpPr>
        <p:spPr>
          <a:xfrm xmlns:a="http://schemas.openxmlformats.org/drawingml/2006/main" flipV="1">
            <a:off x="5524500" y="2276475"/>
            <a:ext cx="876300" cy="285750"/>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62" name=""/>
          <p:cNvCxnSpPr>
            <a:stCxn xmlns:a="http://schemas.openxmlformats.org/drawingml/2006/main" id="17" idx="6"/>
            <a:endCxn xmlns:a="http://schemas.openxmlformats.org/drawingml/2006/main" id="21" idx="2"/>
          </p:cNvCxnSpPr>
          <p:nvPr/>
        </p:nvCxnSpPr>
        <p:spPr>
          <a:xfrm xmlns:a="http://schemas.openxmlformats.org/drawingml/2006/main">
            <a:off x="5524500" y="2562225"/>
            <a:ext cx="876300" cy="12573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63" name=""/>
          <p:cNvCxnSpPr>
            <a:stCxn xmlns:a="http://schemas.openxmlformats.org/drawingml/2006/main" id="19" idx="6"/>
            <a:endCxn xmlns:a="http://schemas.openxmlformats.org/drawingml/2006/main" id="23" idx="2"/>
          </p:cNvCxnSpPr>
          <p:nvPr/>
        </p:nvCxnSpPr>
        <p:spPr>
          <a:xfrm xmlns:a="http://schemas.openxmlformats.org/drawingml/2006/main">
            <a:off x="7620000" y="2276475"/>
            <a:ext cx="1143000" cy="76200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4" name=""/>
          <p:cNvCxnSpPr>
            <a:stCxn xmlns:a="http://schemas.openxmlformats.org/drawingml/2006/main" id="21" idx="6"/>
            <a:endCxn xmlns:a="http://schemas.openxmlformats.org/drawingml/2006/main" id="23" idx="2"/>
          </p:cNvCxnSpPr>
          <p:nvPr/>
        </p:nvCxnSpPr>
        <p:spPr>
          <a:xfrm xmlns:a="http://schemas.openxmlformats.org/drawingml/2006/main" flipV="1">
            <a:off x="7620000" y="3038475"/>
            <a:ext cx="1143000" cy="7810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5" name=""/>
          <p:cNvCxnSpPr>
            <a:stCxn xmlns:a="http://schemas.openxmlformats.org/drawingml/2006/main" id="23" idx="6"/>
            <a:endCxn xmlns:a="http://schemas.openxmlformats.org/drawingml/2006/main" id="25" idx="2"/>
          </p:cNvCxnSpPr>
          <p:nvPr/>
        </p:nvCxnSpPr>
        <p:spPr>
          <a:xfrm xmlns:a="http://schemas.openxmlformats.org/drawingml/2006/main">
            <a:off x="9982200" y="3038475"/>
            <a:ext cx="381000" cy="135255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2" name="">
            <a:extLst xmlns:a="http://schemas.openxmlformats.org/drawingml/2006/main">
              <a:ext uri="{FF2B5EF4-FFF2-40B4-BE49-F238E27FC236}">
                <a16:creationId xmlns:a16="http://schemas.microsoft.com/office/drawing/2014/main" id="{01E2BE54-E6DA-42E6-9A76-BC46705ED962}"/>
              </a:ext>
            </a:extLst>
          </p:cNvPr>
          <p:cNvSpPr>
            <a:spLocks xmlns:a="http://schemas.openxmlformats.org/drawingml/2006/main" noGrp="1"/>
          </p:cNvSpPr>
          <p:nvPr/>
        </p:nvSpPr>
        <p:spPr>
          <a:xfrm xmlns:a="http://schemas.openxmlformats.org/drawingml/2006/main">
            <a:off x="4286250" y="51435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0F766E"/>
                </a:solidFill>
                <a:latin typeface="Aptos"/>
                <a:ea typeface="Aptos"/>
                <a:cs typeface="Aptos"/>
              </a:defRPr>
            </a:pPr>
            <a:r>
              <a:rPr sz="1350" b="0">
                <a:solidFill>
                  <a:srgbClr val="0F766E"/>
                </a:solidFill>
                <a:latin typeface="Aptos"/>
                <a:ea typeface="Aptos"/>
                <a:cs typeface="Aptos"/>
              </a:rPr>
              <a:t>Required edge: blocks until the threshold passes</a:t>
            </a:r>
          </a:p>
        </p:txBody>
      </p:sp>
      <p:sp>
        <p:nvSpPr>
          <p:cNvPr id="33" name="">
            <a:extLst xmlns:a="http://schemas.openxmlformats.org/drawingml/2006/main">
              <a:ext uri="{FF2B5EF4-FFF2-40B4-BE49-F238E27FC236}">
                <a16:creationId xmlns:a16="http://schemas.microsoft.com/office/drawing/2014/main" id="{343E5FB6-84F8-4C00-AC1A-7C414C9FF8E2}"/>
              </a:ext>
            </a:extLst>
          </p:cNvPr>
          <p:cNvSpPr>
            <a:spLocks xmlns:a="http://schemas.openxmlformats.org/drawingml/2006/main" noGrp="1"/>
          </p:cNvSpPr>
          <p:nvPr/>
        </p:nvSpPr>
        <p:spPr>
          <a:xfrm xmlns:a="http://schemas.openxmlformats.org/drawingml/2006/main">
            <a:off x="4286250" y="55054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D97706"/>
                </a:solidFill>
                <a:latin typeface="Aptos"/>
                <a:ea typeface="Aptos"/>
                <a:cs typeface="Aptos"/>
              </a:defRPr>
            </a:pPr>
            <a:r>
              <a:rPr sz="1350" b="0">
                <a:solidFill>
                  <a:srgbClr val="D97706"/>
                </a:solidFill>
                <a:latin typeface="Aptos"/>
                <a:ea typeface="Aptos"/>
                <a:cs typeface="Aptos"/>
              </a:rPr>
              <a:t>Recommended edge: informs the explanation without blocking</a:t>
            </a:r>
          </a:p>
        </p:txBody>
      </p:sp>
      <p:sp>
        <p:nvSpPr>
          <p:cNvPr id="34" name="">
            <a:extLst xmlns:a="http://schemas.openxmlformats.org/drawingml/2006/main">
              <a:ext uri="{FF2B5EF4-FFF2-40B4-BE49-F238E27FC236}">
                <a16:creationId xmlns:a16="http://schemas.microsoft.com/office/drawing/2014/main" id="{869C7215-FAA2-4F7B-B3C4-A443454A397A}"/>
              </a:ext>
            </a:extLst>
          </p:cNvPr>
          <p:cNvSpPr>
            <a:spLocks xmlns:a="http://schemas.openxmlformats.org/drawingml/2006/main" noGrp="1"/>
          </p:cNvSpPr>
          <p:nvPr/>
        </p:nvSpPr>
        <p:spPr>
          <a:xfrm xmlns:a="http://schemas.openxmlformats.org/drawingml/2006/main">
            <a:off x="4286250" y="58674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Gateway score contributes at most 0.06 to final path priority</a:t>
            </a:r>
          </a:p>
        </p:txBody>
      </p:sp>
    </p:spTree>
    <p:extLst>
      <p:ext uri="{BB962C8B-B14F-4D97-AF65-F5344CB8AC3E}">
        <p14:creationId xmlns:p14="http://schemas.microsoft.com/office/powerpoint/2010/main" val="6200932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A8782000-04D5-4EF3-AB41-D56DCC223624}"/>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Candidate safety and the ML boundary</a:t>
            </a:r>
          </a:p>
        </p:txBody>
      </p:sp>
      <p:sp>
        <p:nvSpPr>
          <p:cNvPr id="2" name="">
            <a:extLst xmlns:a="http://schemas.openxmlformats.org/drawingml/2006/main">
              <a:ext uri="{FF2B5EF4-FFF2-40B4-BE49-F238E27FC236}">
                <a16:creationId xmlns:a16="http://schemas.microsoft.com/office/drawing/2014/main" id="{F239E114-D0D7-4F75-AEF3-0880BB226013}"/>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model ranks eligible skills only</a:t>
            </a:r>
          </a:p>
        </p:txBody>
      </p:sp>
      <p:sp>
        <p:nvSpPr>
          <p:cNvPr id="3" name="">
            <a:extLst xmlns:a="http://schemas.openxmlformats.org/drawingml/2006/main">
              <a:ext uri="{FF2B5EF4-FFF2-40B4-BE49-F238E27FC236}">
                <a16:creationId xmlns:a16="http://schemas.microsoft.com/office/drawing/2014/main" id="{213097E6-93B9-482E-9658-85A7B34A654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565C35FE-0DCA-4D33-9EB5-B625E07B86DA}"/>
              </a:ext>
            </a:extLst>
          </p:cNvPr>
          <p:cNvSpPr>
            <a:spLocks xmlns:a="http://schemas.openxmlformats.org/drawingml/2006/main" noGrp="1"/>
          </p:cNvSpPr>
          <p:nvPr/>
        </p:nvSpPr>
        <p:spPr>
          <a:xfrm xmlns:a="http://schemas.openxmlformats.org/drawingml/2006/main">
            <a:off x="514350" y="2266950"/>
            <a:ext cx="2000250" cy="1676400"/>
          </a:xfrm>
          <a:prstGeom xmlns:a="http://schemas.openxmlformats.org/drawingml/2006/main" prst="roundRect">
            <a:avLst>
              <a:gd name="adj" fmla="val 6818"/>
            </a:avLst>
          </a:prstGeom>
          <a:solidFill xmlns:a="http://schemas.openxmlformats.org/drawingml/2006/main">
            <a:srgbClr val="F4F6F9"/>
          </a:solidFill>
          <a:ln xmlns:a="http://schemas.openxmlformats.org/drawingml/2006/main" w="9525">
            <a:solidFill>
              <a:srgbClr val="0F172A"/>
            </a:solidFill>
            <a:prstDash val="solid"/>
          </a:ln>
        </p:spPr>
      </p:sp>
      <p:sp>
        <p:nvSpPr>
          <p:cNvPr id="5" name="">
            <a:extLst xmlns:a="http://schemas.openxmlformats.org/drawingml/2006/main">
              <a:ext uri="{FF2B5EF4-FFF2-40B4-BE49-F238E27FC236}">
                <a16:creationId xmlns:a16="http://schemas.microsoft.com/office/drawing/2014/main" id="{9DF73C65-8627-4F3D-B76B-E66ABD3D2E53}"/>
              </a:ext>
            </a:extLst>
          </p:cNvPr>
          <p:cNvSpPr>
            <a:spLocks xmlns:a="http://schemas.openxmlformats.org/drawingml/2006/main" noGrp="1"/>
          </p:cNvSpPr>
          <p:nvPr/>
        </p:nvSpPr>
        <p:spPr>
          <a:xfrm xmlns:a="http://schemas.openxmlformats.org/drawingml/2006/main">
            <a:off x="723900" y="2533650"/>
            <a:ext cx="158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skills</a:t>
            </a:r>
          </a:p>
        </p:txBody>
      </p:sp>
      <p:sp>
        <p:nvSpPr>
          <p:cNvPr id="6" name="">
            <a:extLst xmlns:a="http://schemas.openxmlformats.org/drawingml/2006/main">
              <a:ext uri="{FF2B5EF4-FFF2-40B4-BE49-F238E27FC236}">
                <a16:creationId xmlns:a16="http://schemas.microsoft.com/office/drawing/2014/main" id="{E5A7704C-0B0E-41D2-82E9-10A5F8DCAEC0}"/>
              </a:ext>
            </a:extLst>
          </p:cNvPr>
          <p:cNvSpPr>
            <a:spLocks xmlns:a="http://schemas.openxmlformats.org/drawingml/2006/main" noGrp="1"/>
          </p:cNvSpPr>
          <p:nvPr/>
        </p:nvSpPr>
        <p:spPr>
          <a:xfrm xmlns:a="http://schemas.openxmlformats.org/drawingml/2006/main">
            <a:off x="723900" y="3028950"/>
            <a:ext cx="1581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Targets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retention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activity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course context</a:t>
            </a:r>
          </a:p>
        </p:txBody>
      </p:sp>
      <p:sp>
        <p:nvSpPr>
          <p:cNvPr id="7" name="">
            <a:extLst xmlns:a="http://schemas.openxmlformats.org/drawingml/2006/main">
              <a:ext uri="{FF2B5EF4-FFF2-40B4-BE49-F238E27FC236}">
                <a16:creationId xmlns:a16="http://schemas.microsoft.com/office/drawing/2014/main" id="{EB3CB568-7849-4EEF-AE7C-A592F6B97824}"/>
              </a:ext>
            </a:extLst>
          </p:cNvPr>
          <p:cNvSpPr>
            <a:spLocks xmlns:a="http://schemas.openxmlformats.org/drawingml/2006/main" noGrp="1"/>
          </p:cNvSpPr>
          <p:nvPr/>
        </p:nvSpPr>
        <p:spPr>
          <a:xfrm xmlns:a="http://schemas.openxmlformats.org/drawingml/2006/main">
            <a:off x="3238500" y="1466850"/>
            <a:ext cx="2381250" cy="1238250"/>
          </a:xfrm>
          <a:prstGeom xmlns:a="http://schemas.openxmlformats.org/drawingml/2006/main" prst="roundRect">
            <a:avLst>
              <a:gd name="adj" fmla="val 9231"/>
            </a:avLst>
          </a:prstGeom>
          <a:solidFill xmlns:a="http://schemas.openxmlformats.org/drawingml/2006/main">
            <a:srgbClr val="EFFCF4"/>
          </a:solidFill>
          <a:ln xmlns:a="http://schemas.openxmlformats.org/drawingml/2006/main" w="9525">
            <a:solidFill>
              <a:srgbClr val="15803D"/>
            </a:solidFill>
            <a:prstDash val="solid"/>
          </a:ln>
        </p:spPr>
      </p:sp>
      <p:sp>
        <p:nvSpPr>
          <p:cNvPr id="8" name="">
            <a:extLst xmlns:a="http://schemas.openxmlformats.org/drawingml/2006/main">
              <a:ext uri="{FF2B5EF4-FFF2-40B4-BE49-F238E27FC236}">
                <a16:creationId xmlns:a16="http://schemas.microsoft.com/office/drawing/2014/main" id="{B0DEC5DC-6007-4726-9D2A-DDDF4B223138}"/>
              </a:ext>
            </a:extLst>
          </p:cNvPr>
          <p:cNvSpPr>
            <a:spLocks xmlns:a="http://schemas.openxmlformats.org/drawingml/2006/main" noGrp="1"/>
          </p:cNvSpPr>
          <p:nvPr/>
        </p:nvSpPr>
        <p:spPr>
          <a:xfrm xmlns:a="http://schemas.openxmlformats.org/drawingml/2006/main">
            <a:off x="3238500" y="2990850"/>
            <a:ext cx="2381250" cy="1238250"/>
          </a:xfrm>
          <a:prstGeom xmlns:a="http://schemas.openxmlformats.org/drawingml/2006/main" prst="roundRect">
            <a:avLst>
              <a:gd name="adj" fmla="val 9231"/>
            </a:avLst>
          </a:prstGeom>
          <a:solidFill xmlns:a="http://schemas.openxmlformats.org/drawingml/2006/main">
            <a:srgbClr val="FFF1F0"/>
          </a:solidFill>
          <a:ln xmlns:a="http://schemas.openxmlformats.org/drawingml/2006/main" w="9525">
            <a:solidFill>
              <a:srgbClr val="B42318"/>
            </a:solidFill>
            <a:prstDash val="solid"/>
          </a:ln>
        </p:spPr>
      </p:sp>
      <p:sp>
        <p:nvSpPr>
          <p:cNvPr id="9" name="">
            <a:extLst xmlns:a="http://schemas.openxmlformats.org/drawingml/2006/main">
              <a:ext uri="{FF2B5EF4-FFF2-40B4-BE49-F238E27FC236}">
                <a16:creationId xmlns:a16="http://schemas.microsoft.com/office/drawing/2014/main" id="{E9FB9567-6949-401A-849D-7DFE281953FA}"/>
              </a:ext>
            </a:extLst>
          </p:cNvPr>
          <p:cNvSpPr>
            <a:spLocks xmlns:a="http://schemas.openxmlformats.org/drawingml/2006/main" noGrp="1"/>
          </p:cNvSpPr>
          <p:nvPr/>
        </p:nvSpPr>
        <p:spPr>
          <a:xfrm xmlns:a="http://schemas.openxmlformats.org/drawingml/2006/main">
            <a:off x="3238500" y="4514850"/>
            <a:ext cx="2381250" cy="1238250"/>
          </a:xfrm>
          <a:prstGeom xmlns:a="http://schemas.openxmlformats.org/drawingml/2006/main" prst="roundRect">
            <a:avLst>
              <a:gd name="adj" fmla="val 9231"/>
            </a:avLst>
          </a:prstGeom>
          <a:solidFill xmlns:a="http://schemas.openxmlformats.org/drawingml/2006/main">
            <a:srgbClr val="EEF2FF"/>
          </a:solidFill>
          <a:ln xmlns:a="http://schemas.openxmlformats.org/drawingml/2006/main" w="9525">
            <a:solidFill>
              <a:srgbClr val="4F46E5"/>
            </a:solidFill>
            <a:prstDash val="solid"/>
          </a:ln>
        </p:spPr>
      </p:sp>
      <p:sp>
        <p:nvSpPr>
          <p:cNvPr id="10" name="">
            <a:extLst xmlns:a="http://schemas.openxmlformats.org/drawingml/2006/main">
              <a:ext uri="{FF2B5EF4-FFF2-40B4-BE49-F238E27FC236}">
                <a16:creationId xmlns:a16="http://schemas.microsoft.com/office/drawing/2014/main" id="{EB39221C-7D80-4468-B949-61207C3E54F5}"/>
              </a:ext>
            </a:extLst>
          </p:cNvPr>
          <p:cNvSpPr>
            <a:spLocks xmlns:a="http://schemas.openxmlformats.org/drawingml/2006/main" noGrp="1"/>
          </p:cNvSpPr>
          <p:nvPr/>
        </p:nvSpPr>
        <p:spPr>
          <a:xfrm xmlns:a="http://schemas.openxmlformats.org/drawingml/2006/main">
            <a:off x="3467100" y="1695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5803D"/>
                </a:solidFill>
                <a:latin typeface="Aptos"/>
                <a:ea typeface="Aptos"/>
                <a:cs typeface="Aptos"/>
              </a:defRPr>
            </a:pPr>
            <a:r>
              <a:rPr sz="1350" b="1">
                <a:solidFill>
                  <a:srgbClr val="15803D"/>
                </a:solidFill>
                <a:latin typeface="Aptos"/>
                <a:ea typeface="Aptos"/>
                <a:cs typeface="Aptos"/>
              </a:rPr>
              <a:t>ELIGIBLE</a:t>
            </a:r>
          </a:p>
        </p:txBody>
      </p:sp>
      <p:sp>
        <p:nvSpPr>
          <p:cNvPr id="11" name="">
            <a:extLst xmlns:a="http://schemas.openxmlformats.org/drawingml/2006/main">
              <a:ext uri="{FF2B5EF4-FFF2-40B4-BE49-F238E27FC236}">
                <a16:creationId xmlns:a16="http://schemas.microsoft.com/office/drawing/2014/main" id="{4086CDDA-617D-4670-B7C9-E8FA2EF68074}"/>
              </a:ext>
            </a:extLst>
          </p:cNvPr>
          <p:cNvSpPr>
            <a:spLocks xmlns:a="http://schemas.openxmlformats.org/drawingml/2006/main" noGrp="1"/>
          </p:cNvSpPr>
          <p:nvPr/>
        </p:nvSpPr>
        <p:spPr>
          <a:xfrm xmlns:a="http://schemas.openxmlformats.org/drawingml/2006/main">
            <a:off x="3467100" y="2095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Every required prerequisite passes</a:t>
            </a:r>
          </a:p>
        </p:txBody>
      </p:sp>
      <p:sp>
        <p:nvSpPr>
          <p:cNvPr id="12" name="">
            <a:extLst xmlns:a="http://schemas.openxmlformats.org/drawingml/2006/main">
              <a:ext uri="{FF2B5EF4-FFF2-40B4-BE49-F238E27FC236}">
                <a16:creationId xmlns:a16="http://schemas.microsoft.com/office/drawing/2014/main" id="{9B376535-5F73-4197-9161-2651871979D5}"/>
              </a:ext>
            </a:extLst>
          </p:cNvPr>
          <p:cNvSpPr>
            <a:spLocks xmlns:a="http://schemas.openxmlformats.org/drawingml/2006/main" noGrp="1"/>
          </p:cNvSpPr>
          <p:nvPr/>
        </p:nvSpPr>
        <p:spPr>
          <a:xfrm xmlns:a="http://schemas.openxmlformats.org/drawingml/2006/main">
            <a:off x="3467100" y="3219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LOCKED</a:t>
            </a:r>
          </a:p>
        </p:txBody>
      </p:sp>
      <p:sp>
        <p:nvSpPr>
          <p:cNvPr id="13" name="">
            <a:extLst xmlns:a="http://schemas.openxmlformats.org/drawingml/2006/main">
              <a:ext uri="{FF2B5EF4-FFF2-40B4-BE49-F238E27FC236}">
                <a16:creationId xmlns:a16="http://schemas.microsoft.com/office/drawing/2014/main" id="{94316103-D58A-4288-8365-D9378F4FE55F}"/>
              </a:ext>
            </a:extLst>
          </p:cNvPr>
          <p:cNvSpPr>
            <a:spLocks xmlns:a="http://schemas.openxmlformats.org/drawingml/2006/main" noGrp="1"/>
          </p:cNvSpPr>
          <p:nvPr/>
        </p:nvSpPr>
        <p:spPr>
          <a:xfrm xmlns:a="http://schemas.openxmlformats.org/drawingml/2006/main">
            <a:off x="3467100" y="3619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At least one required edge fails</a:t>
            </a:r>
          </a:p>
        </p:txBody>
      </p:sp>
      <p:sp>
        <p:nvSpPr>
          <p:cNvPr id="14" name="">
            <a:extLst xmlns:a="http://schemas.openxmlformats.org/drawingml/2006/main">
              <a:ext uri="{FF2B5EF4-FFF2-40B4-BE49-F238E27FC236}">
                <a16:creationId xmlns:a16="http://schemas.microsoft.com/office/drawing/2014/main" id="{79AD751E-D87F-45E1-A463-613D74BFDE3E}"/>
              </a:ext>
            </a:extLst>
          </p:cNvPr>
          <p:cNvSpPr>
            <a:spLocks xmlns:a="http://schemas.openxmlformats.org/drawingml/2006/main" noGrp="1"/>
          </p:cNvSpPr>
          <p:nvPr/>
        </p:nvSpPr>
        <p:spPr>
          <a:xfrm xmlns:a="http://schemas.openxmlformats.org/drawingml/2006/main">
            <a:off x="3467100" y="4743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RECOGNIZED</a:t>
            </a:r>
          </a:p>
        </p:txBody>
      </p:sp>
      <p:sp>
        <p:nvSpPr>
          <p:cNvPr id="15" name="">
            <a:extLst xmlns:a="http://schemas.openxmlformats.org/drawingml/2006/main">
              <a:ext uri="{FF2B5EF4-FFF2-40B4-BE49-F238E27FC236}">
                <a16:creationId xmlns:a16="http://schemas.microsoft.com/office/drawing/2014/main" id="{A7DAFD22-FA1A-41B2-9D04-777F7293D7F6}"/>
              </a:ext>
            </a:extLst>
          </p:cNvPr>
          <p:cNvSpPr>
            <a:spLocks xmlns:a="http://schemas.openxmlformats.org/drawingml/2006/main" noGrp="1"/>
          </p:cNvSpPr>
          <p:nvPr/>
        </p:nvSpPr>
        <p:spPr>
          <a:xfrm xmlns:a="http://schemas.openxmlformats.org/drawingml/2006/main">
            <a:off x="3467100" y="5143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knowledge already meets target</a:t>
            </a:r>
          </a:p>
        </p:txBody>
      </p:sp>
      <p:sp>
        <p:nvSpPr>
          <p:cNvPr id="16" name="">
            <a:extLst xmlns:a="http://schemas.openxmlformats.org/drawingml/2006/main">
              <a:ext uri="{FF2B5EF4-FFF2-40B4-BE49-F238E27FC236}">
                <a16:creationId xmlns:a16="http://schemas.microsoft.com/office/drawing/2014/main" id="{7E1F9C12-C6D7-4EB9-B035-24789B3935AF}"/>
              </a:ext>
            </a:extLst>
          </p:cNvPr>
          <p:cNvSpPr>
            <a:spLocks xmlns:a="http://schemas.openxmlformats.org/drawingml/2006/main" noGrp="1"/>
          </p:cNvSpPr>
          <p:nvPr/>
        </p:nvSpPr>
        <p:spPr>
          <a:xfrm xmlns:a="http://schemas.openxmlformats.org/drawingml/2006/main">
            <a:off x="6572250" y="1943100"/>
            <a:ext cx="2381250" cy="2057400"/>
          </a:xfrm>
          <a:prstGeom xmlns:a="http://schemas.openxmlformats.org/drawingml/2006/main" prst="roundRect">
            <a:avLst>
              <a:gd name="adj" fmla="val 5556"/>
            </a:avLst>
          </a:prstGeom>
          <a:solidFill xmlns:a="http://schemas.openxmlformats.org/drawingml/2006/main">
            <a:srgbClr val="FFF7E8"/>
          </a:solidFill>
          <a:ln xmlns:a="http://schemas.openxmlformats.org/drawingml/2006/main" w="9525">
            <a:solidFill>
              <a:srgbClr val="D97706"/>
            </a:solidFill>
            <a:prstDash val="solid"/>
          </a:ln>
        </p:spPr>
      </p:sp>
      <p:sp>
        <p:nvSpPr>
          <p:cNvPr id="17" name="">
            <a:extLst xmlns:a="http://schemas.openxmlformats.org/drawingml/2006/main">
              <a:ext uri="{FF2B5EF4-FFF2-40B4-BE49-F238E27FC236}">
                <a16:creationId xmlns:a16="http://schemas.microsoft.com/office/drawing/2014/main" id="{381AA302-08BB-4B99-A949-60F119AFA17E}"/>
              </a:ext>
            </a:extLst>
          </p:cNvPr>
          <p:cNvSpPr>
            <a:spLocks xmlns:a="http://schemas.openxmlformats.org/drawingml/2006/main" noGrp="1"/>
          </p:cNvSpPr>
          <p:nvPr/>
        </p:nvSpPr>
        <p:spPr>
          <a:xfrm xmlns:a="http://schemas.openxmlformats.org/drawingml/2006/main">
            <a:off x="6819900" y="2247900"/>
            <a:ext cx="1885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D97706"/>
                </a:solidFill>
                <a:latin typeface="Aptos"/>
                <a:ea typeface="Aptos"/>
                <a:cs typeface="Aptos"/>
              </a:defRPr>
            </a:pPr>
            <a:r>
              <a:rPr sz="1950" b="1">
                <a:solidFill>
                  <a:srgbClr val="D97706"/>
                </a:solidFill>
                <a:latin typeface="Aptos"/>
                <a:ea typeface="Aptos"/>
                <a:cs typeface="Aptos"/>
              </a:rPr>
              <a:t>Random Forest</a:t>
            </a:r>
          </a:p>
        </p:txBody>
      </p:sp>
      <p:sp>
        <p:nvSpPr>
          <p:cNvPr id="18" name="">
            <a:extLst xmlns:a="http://schemas.openxmlformats.org/drawingml/2006/main">
              <a:ext uri="{FF2B5EF4-FFF2-40B4-BE49-F238E27FC236}">
                <a16:creationId xmlns:a16="http://schemas.microsoft.com/office/drawing/2014/main" id="{6B8570B2-F804-4358-A99E-5741136606BD}"/>
              </a:ext>
            </a:extLst>
          </p:cNvPr>
          <p:cNvSpPr>
            <a:spLocks xmlns:a="http://schemas.openxmlformats.org/drawingml/2006/main" noGrp="1"/>
          </p:cNvSpPr>
          <p:nvPr/>
        </p:nvSpPr>
        <p:spPr>
          <a:xfrm xmlns:a="http://schemas.openxmlformats.org/drawingml/2006/main">
            <a:off x="6819900" y="2819400"/>
            <a:ext cx="1885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55-feature contract</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benefit probability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checked artifact version</a:t>
            </a:r>
          </a:p>
        </p:txBody>
      </p:sp>
      <p:sp>
        <p:nvSpPr>
          <p:cNvPr id="19" name="">
            <a:extLst xmlns:a="http://schemas.openxmlformats.org/drawingml/2006/main">
              <a:ext uri="{FF2B5EF4-FFF2-40B4-BE49-F238E27FC236}">
                <a16:creationId xmlns:a16="http://schemas.microsoft.com/office/drawing/2014/main" id="{16BDCB44-767C-4CD4-86C4-FBBE4B7DCD3C}"/>
              </a:ext>
            </a:extLst>
          </p:cNvPr>
          <p:cNvSpPr>
            <a:spLocks xmlns:a="http://schemas.openxmlformats.org/drawingml/2006/main" noGrp="1"/>
          </p:cNvSpPr>
          <p:nvPr/>
        </p:nvSpPr>
        <p:spPr>
          <a:xfrm xmlns:a="http://schemas.openxmlformats.org/drawingml/2006/main">
            <a:off x="9715500" y="2266950"/>
            <a:ext cx="20002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0" name="">
            <a:extLst xmlns:a="http://schemas.openxmlformats.org/drawingml/2006/main">
              <a:ext uri="{FF2B5EF4-FFF2-40B4-BE49-F238E27FC236}">
                <a16:creationId xmlns:a16="http://schemas.microsoft.com/office/drawing/2014/main" id="{1F360F8E-E309-411A-A326-8039225C56C9}"/>
              </a:ext>
            </a:extLst>
          </p:cNvPr>
          <p:cNvSpPr>
            <a:spLocks xmlns:a="http://schemas.openxmlformats.org/drawingml/2006/main" noGrp="1"/>
          </p:cNvSpPr>
          <p:nvPr/>
        </p:nvSpPr>
        <p:spPr>
          <a:xfrm xmlns:a="http://schemas.openxmlformats.org/drawingml/2006/main">
            <a:off x="9944100" y="253365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4F46E5"/>
                </a:solidFill>
                <a:latin typeface="Aptos"/>
                <a:ea typeface="Aptos"/>
                <a:cs typeface="Aptos"/>
              </a:defRPr>
            </a:pPr>
            <a:r>
              <a:rPr sz="1950" b="1">
                <a:solidFill>
                  <a:srgbClr val="4F46E5"/>
                </a:solidFill>
                <a:latin typeface="Aptos"/>
                <a:ea typeface="Aptos"/>
                <a:cs typeface="Aptos"/>
              </a:rPr>
              <a:t>Learn Next</a:t>
            </a:r>
          </a:p>
        </p:txBody>
      </p:sp>
      <p:sp>
        <p:nvSpPr>
          <p:cNvPr id="21" name="">
            <a:extLst xmlns:a="http://schemas.openxmlformats.org/drawingml/2006/main">
              <a:ext uri="{FF2B5EF4-FFF2-40B4-BE49-F238E27FC236}">
                <a16:creationId xmlns:a16="http://schemas.microsoft.com/office/drawing/2014/main" id="{CA0E854B-EA48-4B04-8AC6-4ADBDBCFBFB6}"/>
              </a:ext>
            </a:extLst>
          </p:cNvPr>
          <p:cNvSpPr>
            <a:spLocks xmlns:a="http://schemas.openxmlformats.org/drawingml/2006/main" noGrp="1"/>
          </p:cNvSpPr>
          <p:nvPr/>
        </p:nvSpPr>
        <p:spPr>
          <a:xfrm xmlns:a="http://schemas.openxmlformats.org/drawingml/2006/main">
            <a:off x="9944100" y="3067050"/>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safe choice</a:t>
            </a:r>
          </a:p>
        </p:txBody>
      </p:sp>
      <p:cxnSp>
        <p:nvCxnSpPr>
          <p:cNvPr id="50" name=""/>
          <p:cNvCxnSpPr>
            <a:stCxn xmlns:a="http://schemas.openxmlformats.org/drawingml/2006/main" id="4" idx="3"/>
            <a:endCxn xmlns:a="http://schemas.openxmlformats.org/drawingml/2006/main" id="7" idx="1"/>
          </p:cNvCxnSpPr>
          <p:nvPr/>
        </p:nvCxnSpPr>
        <p:spPr>
          <a:xfrm xmlns:a="http://schemas.openxmlformats.org/drawingml/2006/main" flipV="1">
            <a:off x="2514600" y="2085975"/>
            <a:ext cx="723900" cy="101917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1" name=""/>
          <p:cNvCxnSpPr>
            <a:stCxn xmlns:a="http://schemas.openxmlformats.org/drawingml/2006/main" id="4" idx="3"/>
            <a:endCxn xmlns:a="http://schemas.openxmlformats.org/drawingml/2006/main" id="8" idx="1"/>
          </p:cNvCxnSpPr>
          <p:nvPr/>
        </p:nvCxnSpPr>
        <p:spPr>
          <a:xfrm xmlns:a="http://schemas.openxmlformats.org/drawingml/2006/main">
            <a:off x="2514600" y="3105150"/>
            <a:ext cx="723900" cy="504825"/>
          </a:xfrm>
          <a:prstGeom xmlns:a="http://schemas.openxmlformats.org/drawingml/2006/main" prst="straightConnector1">
            <a:avLst/>
          </a:prstGeom>
          <a:ln xmlns:a="http://schemas.openxmlformats.org/drawingml/2006/main" w="19050">
            <a:solidFill>
              <a:srgbClr val="B42318"/>
            </a:solidFill>
            <a:prstDash val="solid"/>
            <a:tailEnd type="triangle" w="sm" len="sm"/>
          </a:ln>
        </p:spPr>
      </p:cxnSp>
      <p:cxnSp>
        <p:nvCxnSpPr>
          <p:cNvPr id="52" name=""/>
          <p:cNvCxnSpPr>
            <a:stCxn xmlns:a="http://schemas.openxmlformats.org/drawingml/2006/main" id="4" idx="3"/>
            <a:endCxn xmlns:a="http://schemas.openxmlformats.org/drawingml/2006/main" id="9" idx="1"/>
          </p:cNvCxnSpPr>
          <p:nvPr/>
        </p:nvCxnSpPr>
        <p:spPr>
          <a:xfrm xmlns:a="http://schemas.openxmlformats.org/drawingml/2006/main">
            <a:off x="2514600" y="3105150"/>
            <a:ext cx="723900" cy="20288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53" name=""/>
          <p:cNvCxnSpPr>
            <a:stCxn xmlns:a="http://schemas.openxmlformats.org/drawingml/2006/main" id="7" idx="3"/>
            <a:endCxn xmlns:a="http://schemas.openxmlformats.org/drawingml/2006/main" id="16" idx="1"/>
          </p:cNvCxnSpPr>
          <p:nvPr/>
        </p:nvCxnSpPr>
        <p:spPr>
          <a:xfrm xmlns:a="http://schemas.openxmlformats.org/drawingml/2006/main">
            <a:off x="5619750" y="2085975"/>
            <a:ext cx="952500" cy="88582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4" name=""/>
          <p:cNvCxnSpPr>
            <a:stCxn xmlns:a="http://schemas.openxmlformats.org/drawingml/2006/main" id="16" idx="3"/>
            <a:endCxn xmlns:a="http://schemas.openxmlformats.org/drawingml/2006/main" id="19" idx="1"/>
          </p:cNvCxnSpPr>
          <p:nvPr/>
        </p:nvCxnSpPr>
        <p:spPr>
          <a:xfrm xmlns:a="http://schemas.openxmlformats.org/drawingml/2006/main">
            <a:off x="8953500" y="2971800"/>
            <a:ext cx="762000" cy="95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27" name="">
            <a:extLst xmlns:a="http://schemas.openxmlformats.org/drawingml/2006/main">
              <a:ext uri="{FF2B5EF4-FFF2-40B4-BE49-F238E27FC236}">
                <a16:creationId xmlns:a16="http://schemas.microsoft.com/office/drawing/2014/main" id="{EDC3D9A0-BB2E-44E1-BA84-4E442BC5F2AA}"/>
              </a:ext>
            </a:extLst>
          </p:cNvPr>
          <p:cNvSpPr>
            <a:spLocks xmlns:a="http://schemas.openxmlformats.org/drawingml/2006/main" noGrp="1"/>
          </p:cNvSpPr>
          <p:nvPr/>
        </p:nvSpPr>
        <p:spPr>
          <a:xfrm xmlns:a="http://schemas.openxmlformats.org/drawingml/2006/main">
            <a:off x="6419850" y="47625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B42318"/>
                </a:solidFill>
                <a:latin typeface="Aptos"/>
                <a:ea typeface="Aptos"/>
                <a:cs typeface="Aptos"/>
              </a:defRPr>
            </a:pPr>
            <a:r>
              <a:rPr sz="1725" b="1">
                <a:solidFill>
                  <a:srgbClr val="B42318"/>
                </a:solidFill>
                <a:latin typeface="Aptos"/>
                <a:ea typeface="Aptos"/>
                <a:cs typeface="Aptos"/>
              </a:rPr>
              <a:t>Locked and recognized skills never enter inference</a:t>
            </a:r>
          </a:p>
        </p:txBody>
      </p:sp>
      <p:sp>
        <p:nvSpPr>
          <p:cNvPr id="28" name="">
            <a:extLst xmlns:a="http://schemas.openxmlformats.org/drawingml/2006/main">
              <a:ext uri="{FF2B5EF4-FFF2-40B4-BE49-F238E27FC236}">
                <a16:creationId xmlns:a16="http://schemas.microsoft.com/office/drawing/2014/main" id="{9A037CC7-4EB9-4036-BC4E-B8A75EF7BA90}"/>
              </a:ext>
            </a:extLst>
          </p:cNvPr>
          <p:cNvSpPr>
            <a:spLocks xmlns:a="http://schemas.openxmlformats.org/drawingml/2006/main" noGrp="1"/>
          </p:cNvSpPr>
          <p:nvPr/>
        </p:nvSpPr>
        <p:spPr>
          <a:xfrm xmlns:a="http://schemas.openxmlformats.org/drawingml/2006/main">
            <a:off x="6419850" y="5257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TypeScript applies bounded revision and graph bonuses after inference</a:t>
            </a:r>
          </a:p>
        </p:txBody>
      </p:sp>
    </p:spTree>
    <p:extLst>
      <p:ext uri="{BB962C8B-B14F-4D97-AF65-F5344CB8AC3E}">
        <p14:creationId xmlns:p14="http://schemas.microsoft.com/office/powerpoint/2010/main" val="1840429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4D93141A-61FD-4542-8ED2-C7FF586E51C8}"/>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Random Forest selection and mixed test results</a:t>
            </a:r>
          </a:p>
        </p:txBody>
      </p:sp>
      <p:sp>
        <p:nvSpPr>
          <p:cNvPr id="2" name="">
            <a:extLst xmlns:a="http://schemas.openxmlformats.org/drawingml/2006/main">
              <a:ext uri="{FF2B5EF4-FFF2-40B4-BE49-F238E27FC236}">
                <a16:creationId xmlns:a16="http://schemas.microsoft.com/office/drawing/2014/main" id="{0E6494EA-1DE8-4649-8701-2090E8D301E7}"/>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Validation metric selected the deployed model. Real learner effectiveness remains unproven</a:t>
            </a:r>
          </a:p>
        </p:txBody>
      </p:sp>
      <p:sp>
        <p:nvSpPr>
          <p:cNvPr id="3" name="">
            <a:extLst xmlns:a="http://schemas.openxmlformats.org/drawingml/2006/main">
              <a:ext uri="{FF2B5EF4-FFF2-40B4-BE49-F238E27FC236}">
                <a16:creationId xmlns:a16="http://schemas.microsoft.com/office/drawing/2014/main" id="{E6B6C145-E3B9-4434-82AE-D2C0EFD57F5A}"/>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D3F3C672-2C58-4E4C-BCC1-240D3DF38019}"/>
              </a:ext>
            </a:extLst>
          </p:cNvPr>
          <p:cNvSpPr>
            <a:spLocks xmlns:a="http://schemas.openxmlformats.org/drawingml/2006/main" noGrp="1"/>
          </p:cNvSpPr>
          <p:nvPr/>
        </p:nvSpPr>
        <p:spPr>
          <a:xfrm xmlns:a="http://schemas.openxmlformats.org/drawingml/2006/main">
            <a:off x="495300" y="14478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Experiment design</a:t>
            </a:r>
          </a:p>
        </p:txBody>
      </p:sp>
      <p:sp>
        <p:nvSpPr>
          <p:cNvPr id="5" name="">
            <a:extLst xmlns:a="http://schemas.openxmlformats.org/drawingml/2006/main">
              <a:ext uri="{FF2B5EF4-FFF2-40B4-BE49-F238E27FC236}">
                <a16:creationId xmlns:a16="http://schemas.microsoft.com/office/drawing/2014/main" id="{A748307E-7FA5-4EDF-94BC-DDC3FC1563C4}"/>
              </a:ext>
            </a:extLst>
          </p:cNvPr>
          <p:cNvSpPr>
            <a:spLocks xmlns:a="http://schemas.openxmlformats.org/drawingml/2006/main" noGrp="1"/>
          </p:cNvSpPr>
          <p:nvPr/>
        </p:nvSpPr>
        <p:spPr>
          <a:xfrm xmlns:a="http://schemas.openxmlformats.org/drawingml/2006/main">
            <a:off x="495300" y="1943100"/>
            <a:ext cx="4095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1,000 synthetic learners and 20,000 interactions</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Seed 42 for reproducibility</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55 numeric features in a fixed order</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Learner-disjoint split of 700, 150 and 150</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Random Forest with 220 trees and depth 12</a:t>
            </a:r>
          </a:p>
        </p:txBody>
      </p:sp>
      <p:sp>
        <p:nvSpPr>
          <p:cNvPr id="6" name="">
            <a:extLst xmlns:a="http://schemas.openxmlformats.org/drawingml/2006/main">
              <a:ext uri="{FF2B5EF4-FFF2-40B4-BE49-F238E27FC236}">
                <a16:creationId xmlns:a16="http://schemas.microsoft.com/office/drawing/2014/main" id="{B8B3C73B-5BE7-47F4-B381-E40E84EFCE0F}"/>
              </a:ext>
            </a:extLst>
          </p:cNvPr>
          <p:cNvSpPr>
            <a:spLocks xmlns:a="http://schemas.openxmlformats.org/drawingml/2006/main" noGrp="1"/>
          </p:cNvSpPr>
          <p:nvPr/>
        </p:nvSpPr>
        <p:spPr>
          <a:xfrm xmlns:a="http://schemas.openxmlformats.org/drawingml/2006/main">
            <a:off x="495300" y="4762500"/>
            <a:ext cx="4095750" cy="1066800"/>
          </a:xfrm>
          <a:prstGeom xmlns:a="http://schemas.openxmlformats.org/drawingml/2006/main" prst="roundRect">
            <a:avLst>
              <a:gd name="adj" fmla="val 10714"/>
            </a:avLst>
          </a:prstGeom>
          <a:solidFill xmlns:a="http://schemas.openxmlformats.org/drawingml/2006/main">
            <a:srgbClr val="F4F6F9"/>
          </a:solidFill>
          <a:ln xmlns:a="http://schemas.openxmlformats.org/drawingml/2006/main" w="9525">
            <a:solidFill>
              <a:srgbClr val="DCE3EC"/>
            </a:solidFill>
            <a:prstDash val="solid"/>
          </a:ln>
        </p:spPr>
      </p:sp>
      <p:sp>
        <p:nvSpPr>
          <p:cNvPr id="7" name="">
            <a:extLst xmlns:a="http://schemas.openxmlformats.org/drawingml/2006/main">
              <a:ext uri="{FF2B5EF4-FFF2-40B4-BE49-F238E27FC236}">
                <a16:creationId xmlns:a16="http://schemas.microsoft.com/office/drawing/2014/main" id="{0EED2D36-E028-4205-9BE0-F9C9F569A623}"/>
              </a:ext>
            </a:extLst>
          </p:cNvPr>
          <p:cNvSpPr>
            <a:spLocks xmlns:a="http://schemas.openxmlformats.org/drawingml/2006/main" noGrp="1"/>
          </p:cNvSpPr>
          <p:nvPr/>
        </p:nvSpPr>
        <p:spPr>
          <a:xfrm xmlns:a="http://schemas.openxmlformats.org/drawingml/2006/main">
            <a:off x="704850" y="495300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Other test metrics</a:t>
            </a:r>
          </a:p>
        </p:txBody>
      </p:sp>
      <p:sp>
        <p:nvSpPr>
          <p:cNvPr id="8" name="">
            <a:extLst xmlns:a="http://schemas.openxmlformats.org/drawingml/2006/main">
              <a:ext uri="{FF2B5EF4-FFF2-40B4-BE49-F238E27FC236}">
                <a16:creationId xmlns:a16="http://schemas.microsoft.com/office/drawing/2014/main" id="{8A381A57-356D-460B-B5BF-90CDE3003A84}"/>
              </a:ext>
            </a:extLst>
          </p:cNvPr>
          <p:cNvSpPr>
            <a:spLocks xmlns:a="http://schemas.openxmlformats.org/drawingml/2006/main" noGrp="1"/>
          </p:cNvSpPr>
          <p:nvPr/>
        </p:nvSpPr>
        <p:spPr>
          <a:xfrm xmlns:a="http://schemas.openxmlformats.org/drawingml/2006/main">
            <a:off x="704850" y="535305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Random Forest ROC-AUC 0.801410</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Precision at 5 0.525333</a:t>
            </a:r>
          </a:p>
        </p:txBody>
      </p:sp>
      <p:graphicFrame>
        <p:nvGraphicFramePr>
          <p:cNvPr id="19" name="Chart"/>
          <p:cNvGraphicFramePr/>
          <p:nvPr/>
        </p:nvGraphicFramePr>
        <p:xfrm>
          <a:off xmlns:a="http://schemas.openxmlformats.org/drawingml/2006/main" x="5029200" y="1619250"/>
          <a:ext xmlns:a="http://schemas.openxmlformats.org/drawingml/2006/main" cx="6667500" cy="4000500"/>
        </p:xfrm>
        <a:graphic xmlns:a="http://schemas.openxmlformats.org/drawingml/2006/main">
          <a:graphicData uri="http://schemas.openxmlformats.org/drawingml/2006/chart">
            <c:chart xmlns:r="http://schemas.openxmlformats.org/officeDocument/2006/relationships" xmlns:c="http://schemas.openxmlformats.org/drawingml/2006/chart" r:id="Raa20e79ba8a547fd"/>
          </a:graphicData>
        </a:graphic>
      </p:graphicFrame>
      <p:sp>
        <p:nvSpPr>
          <p:cNvPr id="10" name="">
            <a:extLst xmlns:a="http://schemas.openxmlformats.org/drawingml/2006/main">
              <a:ext uri="{FF2B5EF4-FFF2-40B4-BE49-F238E27FC236}">
                <a16:creationId xmlns:a16="http://schemas.microsoft.com/office/drawing/2014/main" id="{DE933E4D-E183-412D-89BE-047CC4398529}"/>
              </a:ext>
            </a:extLst>
          </p:cNvPr>
          <p:cNvSpPr>
            <a:spLocks xmlns:a="http://schemas.openxmlformats.org/drawingml/2006/main" noGrp="1"/>
          </p:cNvSpPr>
          <p:nvPr/>
        </p:nvSpPr>
        <p:spPr>
          <a:xfrm xmlns:a="http://schemas.openxmlformats.org/drawingml/2006/main">
            <a:off x="7524750" y="5753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526079"/>
                </a:solidFill>
                <a:latin typeface="Aptos"/>
                <a:ea typeface="Aptos"/>
                <a:cs typeface="Aptos"/>
              </a:defRPr>
            </a:pPr>
            <a:r>
              <a:rPr sz="1350" b="1">
                <a:solidFill>
                  <a:srgbClr val="526079"/>
                </a:solidFill>
                <a:latin typeface="Aptos"/>
                <a:ea typeface="Aptos"/>
                <a:cs typeface="Aptos"/>
              </a:rPr>
              <a:t>NDCG at 5</a:t>
            </a:r>
          </a:p>
        </p:txBody>
      </p:sp>
    </p:spTree>
    <p:extLst>
      <p:ext uri="{BB962C8B-B14F-4D97-AF65-F5344CB8AC3E}">
        <p14:creationId xmlns:p14="http://schemas.microsoft.com/office/powerpoint/2010/main" val="14875514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slide-title">
            <a:extLst xmlns:a="http://schemas.openxmlformats.org/drawingml/2006/main">
              <a:ext uri="{FF2B5EF4-FFF2-40B4-BE49-F238E27FC236}">
                <a16:creationId xmlns:a16="http://schemas.microsoft.com/office/drawing/2014/main" id="{6B6D30E2-137B-41D4-B0C0-CD2513162FF5}"/>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personalized learning path</a:t>
            </a:r>
          </a:p>
        </p:txBody>
      </p:sp>
      <p:sp>
        <p:nvSpPr>
          <p:cNvPr id="2" name="">
            <a:extLst xmlns:a="http://schemas.openxmlformats.org/drawingml/2006/main">
              <a:ext uri="{FF2B5EF4-FFF2-40B4-BE49-F238E27FC236}">
                <a16:creationId xmlns:a16="http://schemas.microsoft.com/office/drawing/2014/main" id="{CC6A150D-5BEF-4AB9-8512-411C4CE77D6F}"/>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path shows recognized knowledge, the current action, upcoming skills and blocked dependencies</a:t>
            </a:r>
          </a:p>
        </p:txBody>
      </p:sp>
      <p:sp>
        <p:nvSpPr>
          <p:cNvPr id="3" name="">
            <a:extLst xmlns:a="http://schemas.openxmlformats.org/drawingml/2006/main">
              <a:ext uri="{FF2B5EF4-FFF2-40B4-BE49-F238E27FC236}">
                <a16:creationId xmlns:a16="http://schemas.microsoft.com/office/drawing/2014/main" id="{44AA0F6E-4AF2-41A6-AF2B-B52C48A21F79}"/>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89B5A164-DB81-4138-8433-2FE3A9A05FB0}"/>
              </a:ext>
            </a:extLst>
          </p:cNvPr>
          <p:cNvSpPr>
            <a:spLocks xmlns:a="http://schemas.openxmlformats.org/drawingml/2006/main" noGrp="1"/>
          </p:cNvSpPr>
          <p:nvPr/>
        </p:nvSpPr>
        <p:spPr>
          <a:xfrm xmlns:a="http://schemas.openxmlformats.org/drawingml/2006/main">
            <a:off x="495300" y="1371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LEARNER EXAMPLE</a:t>
            </a:r>
          </a:p>
        </p:txBody>
      </p:sp>
      <p:sp>
        <p:nvSpPr>
          <p:cNvPr id="5" name="">
            <a:extLst xmlns:a="http://schemas.openxmlformats.org/drawingml/2006/main">
              <a:ext uri="{FF2B5EF4-FFF2-40B4-BE49-F238E27FC236}">
                <a16:creationId xmlns:a16="http://schemas.microsoft.com/office/drawing/2014/main" id="{71BB7CE1-67DB-4F9D-A1BC-5353B8D9BB14}"/>
              </a:ext>
            </a:extLst>
          </p:cNvPr>
          <p:cNvSpPr>
            <a:spLocks xmlns:a="http://schemas.openxmlformats.org/drawingml/2006/main" noGrp="1"/>
          </p:cNvSpPr>
          <p:nvPr/>
        </p:nvSpPr>
        <p:spPr>
          <a:xfrm xmlns:a="http://schemas.openxmlformats.org/drawingml/2006/main">
            <a:off x="9429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6" name="">
            <a:extLst xmlns:a="http://schemas.openxmlformats.org/drawingml/2006/main">
              <a:ext uri="{FF2B5EF4-FFF2-40B4-BE49-F238E27FC236}">
                <a16:creationId xmlns:a16="http://schemas.microsoft.com/office/drawing/2014/main" id="{B840FA44-FB2E-478F-A423-6BA30E1E740E}"/>
              </a:ext>
            </a:extLst>
          </p:cNvPr>
          <p:cNvSpPr>
            <a:spLocks xmlns:a="http://schemas.openxmlformats.org/drawingml/2006/main" noGrp="1"/>
          </p:cNvSpPr>
          <p:nvPr/>
        </p:nvSpPr>
        <p:spPr>
          <a:xfrm xmlns:a="http://schemas.openxmlformats.org/drawingml/2006/main">
            <a:off x="9429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768E7C44-A77E-463B-A48A-5BC23B18E6FC}"/>
              </a:ext>
            </a:extLst>
          </p:cNvPr>
          <p:cNvSpPr>
            <a:spLocks xmlns:a="http://schemas.openxmlformats.org/drawingml/2006/main" noGrp="1"/>
          </p:cNvSpPr>
          <p:nvPr/>
        </p:nvSpPr>
        <p:spPr>
          <a:xfrm xmlns:a="http://schemas.openxmlformats.org/drawingml/2006/main">
            <a:off x="5143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Recognized</a:t>
            </a:r>
          </a:p>
        </p:txBody>
      </p:sp>
      <p:sp>
        <p:nvSpPr>
          <p:cNvPr id="8" name="">
            <a:extLst xmlns:a="http://schemas.openxmlformats.org/drawingml/2006/main">
              <a:ext uri="{FF2B5EF4-FFF2-40B4-BE49-F238E27FC236}">
                <a16:creationId xmlns:a16="http://schemas.microsoft.com/office/drawing/2014/main" id="{03B27B09-9B11-41C4-BBBA-DE4D236EBB89}"/>
              </a:ext>
            </a:extLst>
          </p:cNvPr>
          <p:cNvSpPr>
            <a:spLocks xmlns:a="http://schemas.openxmlformats.org/drawingml/2006/main" noGrp="1"/>
          </p:cNvSpPr>
          <p:nvPr/>
        </p:nvSpPr>
        <p:spPr>
          <a:xfrm xmlns:a="http://schemas.openxmlformats.org/drawingml/2006/main">
            <a:off x="4381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Arrays</a:t>
            </a:r>
          </a:p>
        </p:txBody>
      </p:sp>
      <p:sp>
        <p:nvSpPr>
          <p:cNvPr id="9" name="">
            <a:extLst xmlns:a="http://schemas.openxmlformats.org/drawingml/2006/main">
              <a:ext uri="{FF2B5EF4-FFF2-40B4-BE49-F238E27FC236}">
                <a16:creationId xmlns:a16="http://schemas.microsoft.com/office/drawing/2014/main" id="{DC6688AA-0D8E-46F1-8E73-A2C472428965}"/>
              </a:ext>
            </a:extLst>
          </p:cNvPr>
          <p:cNvSpPr>
            <a:spLocks xmlns:a="http://schemas.openxmlformats.org/drawingml/2006/main" noGrp="1"/>
          </p:cNvSpPr>
          <p:nvPr/>
        </p:nvSpPr>
        <p:spPr>
          <a:xfrm xmlns:a="http://schemas.openxmlformats.org/drawingml/2006/main">
            <a:off x="4381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prior knowledge</a:t>
            </a:r>
          </a:p>
        </p:txBody>
      </p:sp>
      <p:sp>
        <p:nvSpPr>
          <p:cNvPr id="10" name="">
            <a:extLst xmlns:a="http://schemas.openxmlformats.org/drawingml/2006/main">
              <a:ext uri="{FF2B5EF4-FFF2-40B4-BE49-F238E27FC236}">
                <a16:creationId xmlns:a16="http://schemas.microsoft.com/office/drawing/2014/main" id="{4BA0D1F3-4103-4A81-8D86-9CFB8FBDD704}"/>
              </a:ext>
            </a:extLst>
          </p:cNvPr>
          <p:cNvSpPr>
            <a:spLocks xmlns:a="http://schemas.openxmlformats.org/drawingml/2006/main" noGrp="1"/>
          </p:cNvSpPr>
          <p:nvPr/>
        </p:nvSpPr>
        <p:spPr>
          <a:xfrm xmlns:a="http://schemas.openxmlformats.org/drawingml/2006/main">
            <a:off x="28860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1" name="">
            <a:extLst xmlns:a="http://schemas.openxmlformats.org/drawingml/2006/main">
              <a:ext uri="{FF2B5EF4-FFF2-40B4-BE49-F238E27FC236}">
                <a16:creationId xmlns:a16="http://schemas.microsoft.com/office/drawing/2014/main" id="{31206F3B-05F9-45FD-8AFC-626518974333}"/>
              </a:ext>
            </a:extLst>
          </p:cNvPr>
          <p:cNvSpPr>
            <a:spLocks xmlns:a="http://schemas.openxmlformats.org/drawingml/2006/main" noGrp="1"/>
          </p:cNvSpPr>
          <p:nvPr/>
        </p:nvSpPr>
        <p:spPr>
          <a:xfrm xmlns:a="http://schemas.openxmlformats.org/drawingml/2006/main">
            <a:off x="28860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7537DB23-2728-4945-951E-31C21D17A579}"/>
              </a:ext>
            </a:extLst>
          </p:cNvPr>
          <p:cNvSpPr>
            <a:spLocks xmlns:a="http://schemas.openxmlformats.org/drawingml/2006/main" noGrp="1"/>
          </p:cNvSpPr>
          <p:nvPr/>
        </p:nvSpPr>
        <p:spPr>
          <a:xfrm xmlns:a="http://schemas.openxmlformats.org/drawingml/2006/main">
            <a:off x="24574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Completed</a:t>
            </a:r>
          </a:p>
        </p:txBody>
      </p:sp>
      <p:sp>
        <p:nvSpPr>
          <p:cNvPr id="13" name="">
            <a:extLst xmlns:a="http://schemas.openxmlformats.org/drawingml/2006/main">
              <a:ext uri="{FF2B5EF4-FFF2-40B4-BE49-F238E27FC236}">
                <a16:creationId xmlns:a16="http://schemas.microsoft.com/office/drawing/2014/main" id="{7FF9DA06-55C4-4678-B331-043CC6652003}"/>
              </a:ext>
            </a:extLst>
          </p:cNvPr>
          <p:cNvSpPr>
            <a:spLocks xmlns:a="http://schemas.openxmlformats.org/drawingml/2006/main" noGrp="1"/>
          </p:cNvSpPr>
          <p:nvPr/>
        </p:nvSpPr>
        <p:spPr>
          <a:xfrm xmlns:a="http://schemas.openxmlformats.org/drawingml/2006/main">
            <a:off x="23812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Searching</a:t>
            </a:r>
          </a:p>
        </p:txBody>
      </p:sp>
      <p:sp>
        <p:nvSpPr>
          <p:cNvPr id="14" name="">
            <a:extLst xmlns:a="http://schemas.openxmlformats.org/drawingml/2006/main">
              <a:ext uri="{FF2B5EF4-FFF2-40B4-BE49-F238E27FC236}">
                <a16:creationId xmlns:a16="http://schemas.microsoft.com/office/drawing/2014/main" id="{64FED6EB-75D3-4A18-A55B-5F7A0BD18A23}"/>
              </a:ext>
            </a:extLst>
          </p:cNvPr>
          <p:cNvSpPr>
            <a:spLocks xmlns:a="http://schemas.openxmlformats.org/drawingml/2006/main" noGrp="1"/>
          </p:cNvSpPr>
          <p:nvPr/>
        </p:nvSpPr>
        <p:spPr>
          <a:xfrm xmlns:a="http://schemas.openxmlformats.org/drawingml/2006/main">
            <a:off x="23812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assessment passed</a:t>
            </a:r>
          </a:p>
        </p:txBody>
      </p:sp>
      <p:cxnSp>
        <p:nvCxnSpPr>
          <p:cNvPr id="57" name=""/>
          <p:cNvCxnSpPr>
            <a:stCxn xmlns:a="http://schemas.openxmlformats.org/drawingml/2006/main" id="5" idx="6"/>
            <a:endCxn xmlns:a="http://schemas.openxmlformats.org/drawingml/2006/main" id="10" idx="2"/>
          </p:cNvCxnSpPr>
          <p:nvPr/>
        </p:nvCxnSpPr>
        <p:spPr>
          <a:xfrm xmlns:a="http://schemas.openxmlformats.org/drawingml/2006/main">
            <a:off x="17240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6" name="">
            <a:extLst xmlns:a="http://schemas.openxmlformats.org/drawingml/2006/main">
              <a:ext uri="{FF2B5EF4-FFF2-40B4-BE49-F238E27FC236}">
                <a16:creationId xmlns:a16="http://schemas.microsoft.com/office/drawing/2014/main" id="{95E37952-A2EB-497B-A749-34F6E3D68C4B}"/>
              </a:ext>
            </a:extLst>
          </p:cNvPr>
          <p:cNvSpPr>
            <a:spLocks xmlns:a="http://schemas.openxmlformats.org/drawingml/2006/main" noGrp="1"/>
          </p:cNvSpPr>
          <p:nvPr/>
        </p:nvSpPr>
        <p:spPr>
          <a:xfrm xmlns:a="http://schemas.openxmlformats.org/drawingml/2006/main">
            <a:off x="4829175" y="2266950"/>
            <a:ext cx="78105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17" name="">
            <a:extLst xmlns:a="http://schemas.openxmlformats.org/drawingml/2006/main">
              <a:ext uri="{FF2B5EF4-FFF2-40B4-BE49-F238E27FC236}">
                <a16:creationId xmlns:a16="http://schemas.microsoft.com/office/drawing/2014/main" id="{CD025DB3-566C-4F8E-A176-5E3065AF692D}"/>
              </a:ext>
            </a:extLst>
          </p:cNvPr>
          <p:cNvSpPr>
            <a:spLocks xmlns:a="http://schemas.openxmlformats.org/drawingml/2006/main" noGrp="1"/>
          </p:cNvSpPr>
          <p:nvPr/>
        </p:nvSpPr>
        <p:spPr>
          <a:xfrm xmlns:a="http://schemas.openxmlformats.org/drawingml/2006/main">
            <a:off x="48291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4F46E5"/>
                </a:solidFill>
                <a:latin typeface="Aptos"/>
                <a:ea typeface="Aptos"/>
                <a:cs typeface="Aptos"/>
              </a:defRPr>
            </a:pPr>
            <a:r>
              <a:rPr sz="1575" b="1">
                <a:solidFill>
                  <a:srgbClr val="4F46E5"/>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7CF78618-8EEC-459D-870B-A813EC3566E2}"/>
              </a:ext>
            </a:extLst>
          </p:cNvPr>
          <p:cNvSpPr>
            <a:spLocks xmlns:a="http://schemas.openxmlformats.org/drawingml/2006/main" noGrp="1"/>
          </p:cNvSpPr>
          <p:nvPr/>
        </p:nvSpPr>
        <p:spPr>
          <a:xfrm xmlns:a="http://schemas.openxmlformats.org/drawingml/2006/main">
            <a:off x="44005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4F46E5"/>
                </a:solidFill>
                <a:latin typeface="Aptos"/>
                <a:ea typeface="Aptos"/>
                <a:cs typeface="Aptos"/>
              </a:defRPr>
            </a:pPr>
            <a:r>
              <a:rPr sz="1200" b="1">
                <a:solidFill>
                  <a:srgbClr val="4F46E5"/>
                </a:solidFill>
                <a:latin typeface="Aptos"/>
                <a:ea typeface="Aptos"/>
                <a:cs typeface="Aptos"/>
              </a:rPr>
              <a:t>Current</a:t>
            </a:r>
          </a:p>
        </p:txBody>
      </p:sp>
      <p:sp>
        <p:nvSpPr>
          <p:cNvPr id="19" name="">
            <a:extLst xmlns:a="http://schemas.openxmlformats.org/drawingml/2006/main">
              <a:ext uri="{FF2B5EF4-FFF2-40B4-BE49-F238E27FC236}">
                <a16:creationId xmlns:a16="http://schemas.microsoft.com/office/drawing/2014/main" id="{2AFB8CDC-C6AE-4E65-9058-7EDD05D7593E}"/>
              </a:ext>
            </a:extLst>
          </p:cNvPr>
          <p:cNvSpPr>
            <a:spLocks xmlns:a="http://schemas.openxmlformats.org/drawingml/2006/main" noGrp="1"/>
          </p:cNvSpPr>
          <p:nvPr/>
        </p:nvSpPr>
        <p:spPr>
          <a:xfrm xmlns:a="http://schemas.openxmlformats.org/drawingml/2006/main">
            <a:off x="43243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Recursion</a:t>
            </a:r>
          </a:p>
        </p:txBody>
      </p:sp>
      <p:sp>
        <p:nvSpPr>
          <p:cNvPr id="20" name="">
            <a:extLst xmlns:a="http://schemas.openxmlformats.org/drawingml/2006/main">
              <a:ext uri="{FF2B5EF4-FFF2-40B4-BE49-F238E27FC236}">
                <a16:creationId xmlns:a16="http://schemas.microsoft.com/office/drawing/2014/main" id="{8AC92B77-E632-406D-88B3-A9FC4B5284BC}"/>
              </a:ext>
            </a:extLst>
          </p:cNvPr>
          <p:cNvSpPr>
            <a:spLocks xmlns:a="http://schemas.openxmlformats.org/drawingml/2006/main" noGrp="1"/>
          </p:cNvSpPr>
          <p:nvPr/>
        </p:nvSpPr>
        <p:spPr>
          <a:xfrm xmlns:a="http://schemas.openxmlformats.org/drawingml/2006/main">
            <a:off x="43243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lesson in progress</a:t>
            </a:r>
          </a:p>
        </p:txBody>
      </p:sp>
      <p:cxnSp>
        <p:nvCxnSpPr>
          <p:cNvPr id="63" name=""/>
          <p:cNvCxnSpPr>
            <a:stCxn xmlns:a="http://schemas.openxmlformats.org/drawingml/2006/main" id="10" idx="6"/>
            <a:endCxn xmlns:a="http://schemas.openxmlformats.org/drawingml/2006/main" id="16" idx="2"/>
          </p:cNvCxnSpPr>
          <p:nvPr/>
        </p:nvCxnSpPr>
        <p:spPr>
          <a:xfrm xmlns:a="http://schemas.openxmlformats.org/drawingml/2006/main">
            <a:off x="36671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7EBF471B-6E7C-40D0-971E-554931B49D65}"/>
              </a:ext>
            </a:extLst>
          </p:cNvPr>
          <p:cNvSpPr>
            <a:spLocks xmlns:a="http://schemas.openxmlformats.org/drawingml/2006/main" noGrp="1"/>
          </p:cNvSpPr>
          <p:nvPr/>
        </p:nvSpPr>
        <p:spPr>
          <a:xfrm xmlns:a="http://schemas.openxmlformats.org/drawingml/2006/main">
            <a:off x="6772275" y="2266950"/>
            <a:ext cx="78105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3" name="">
            <a:extLst xmlns:a="http://schemas.openxmlformats.org/drawingml/2006/main">
              <a:ext uri="{FF2B5EF4-FFF2-40B4-BE49-F238E27FC236}">
                <a16:creationId xmlns:a16="http://schemas.microsoft.com/office/drawing/2014/main" id="{5BDFC83B-FFF5-4630-9208-C9297FFA118C}"/>
              </a:ext>
            </a:extLst>
          </p:cNvPr>
          <p:cNvSpPr>
            <a:spLocks xmlns:a="http://schemas.openxmlformats.org/drawingml/2006/main" noGrp="1"/>
          </p:cNvSpPr>
          <p:nvPr/>
        </p:nvSpPr>
        <p:spPr>
          <a:xfrm xmlns:a="http://schemas.openxmlformats.org/drawingml/2006/main">
            <a:off x="67722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D97706"/>
                </a:solidFill>
                <a:latin typeface="Aptos"/>
                <a:ea typeface="Aptos"/>
                <a:cs typeface="Aptos"/>
              </a:defRPr>
            </a:pPr>
            <a:r>
              <a:rPr sz="1575" b="1">
                <a:solidFill>
                  <a:srgbClr val="D97706"/>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66B4BC6F-7F6B-4140-AE40-D9A580D7DF67}"/>
              </a:ext>
            </a:extLst>
          </p:cNvPr>
          <p:cNvSpPr>
            <a:spLocks xmlns:a="http://schemas.openxmlformats.org/drawingml/2006/main" noGrp="1"/>
          </p:cNvSpPr>
          <p:nvPr/>
        </p:nvSpPr>
        <p:spPr>
          <a:xfrm xmlns:a="http://schemas.openxmlformats.org/drawingml/2006/main">
            <a:off x="63436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D97706"/>
                </a:solidFill>
                <a:latin typeface="Aptos"/>
                <a:ea typeface="Aptos"/>
                <a:cs typeface="Aptos"/>
              </a:defRPr>
            </a:pPr>
            <a:r>
              <a:rPr sz="1200" b="1">
                <a:solidFill>
                  <a:srgbClr val="D97706"/>
                </a:solidFill>
                <a:latin typeface="Aptos"/>
                <a:ea typeface="Aptos"/>
                <a:cs typeface="Aptos"/>
              </a:rPr>
              <a:t>Learn Next</a:t>
            </a:r>
          </a:p>
        </p:txBody>
      </p:sp>
      <p:sp>
        <p:nvSpPr>
          <p:cNvPr id="25" name="">
            <a:extLst xmlns:a="http://schemas.openxmlformats.org/drawingml/2006/main">
              <a:ext uri="{FF2B5EF4-FFF2-40B4-BE49-F238E27FC236}">
                <a16:creationId xmlns:a16="http://schemas.microsoft.com/office/drawing/2014/main" id="{F7EE9B30-1195-4C71-900C-B81EFAA2FFEC}"/>
              </a:ext>
            </a:extLst>
          </p:cNvPr>
          <p:cNvSpPr>
            <a:spLocks xmlns:a="http://schemas.openxmlformats.org/drawingml/2006/main" noGrp="1"/>
          </p:cNvSpPr>
          <p:nvPr/>
        </p:nvSpPr>
        <p:spPr>
          <a:xfrm xmlns:a="http://schemas.openxmlformats.org/drawingml/2006/main">
            <a:off x="62674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Trees</a:t>
            </a:r>
          </a:p>
        </p:txBody>
      </p:sp>
      <p:sp>
        <p:nvSpPr>
          <p:cNvPr id="26" name="">
            <a:extLst xmlns:a="http://schemas.openxmlformats.org/drawingml/2006/main">
              <a:ext uri="{FF2B5EF4-FFF2-40B4-BE49-F238E27FC236}">
                <a16:creationId xmlns:a16="http://schemas.microsoft.com/office/drawing/2014/main" id="{1F989198-E1E8-4E40-93AF-1EDF792EAD99}"/>
              </a:ext>
            </a:extLst>
          </p:cNvPr>
          <p:cNvSpPr>
            <a:spLocks xmlns:a="http://schemas.openxmlformats.org/drawingml/2006/main" noGrp="1"/>
          </p:cNvSpPr>
          <p:nvPr/>
        </p:nvSpPr>
        <p:spPr>
          <a:xfrm xmlns:a="http://schemas.openxmlformats.org/drawingml/2006/main">
            <a:off x="62674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highest safe priority</a:t>
            </a:r>
          </a:p>
        </p:txBody>
      </p:sp>
      <p:cxnSp>
        <p:nvCxnSpPr>
          <p:cNvPr id="69" name=""/>
          <p:cNvCxnSpPr>
            <a:stCxn xmlns:a="http://schemas.openxmlformats.org/drawingml/2006/main" id="16" idx="6"/>
            <a:endCxn xmlns:a="http://schemas.openxmlformats.org/drawingml/2006/main" id="22" idx="2"/>
          </p:cNvCxnSpPr>
          <p:nvPr/>
        </p:nvCxnSpPr>
        <p:spPr>
          <a:xfrm xmlns:a="http://schemas.openxmlformats.org/drawingml/2006/main">
            <a:off x="56102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8" name="">
            <a:extLst xmlns:a="http://schemas.openxmlformats.org/drawingml/2006/main">
              <a:ext uri="{FF2B5EF4-FFF2-40B4-BE49-F238E27FC236}">
                <a16:creationId xmlns:a16="http://schemas.microsoft.com/office/drawing/2014/main" id="{34191C1E-1886-44C4-8FB7-ADD23BC93318}"/>
              </a:ext>
            </a:extLst>
          </p:cNvPr>
          <p:cNvSpPr>
            <a:spLocks xmlns:a="http://schemas.openxmlformats.org/drawingml/2006/main" noGrp="1"/>
          </p:cNvSpPr>
          <p:nvPr/>
        </p:nvSpPr>
        <p:spPr>
          <a:xfrm xmlns:a="http://schemas.openxmlformats.org/drawingml/2006/main">
            <a:off x="8715375" y="2266950"/>
            <a:ext cx="78105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526079"/>
            </a:solidFill>
            <a:prstDash val="solid"/>
          </a:ln>
        </p:spPr>
      </p:sp>
      <p:sp>
        <p:nvSpPr>
          <p:cNvPr id="29" name="">
            <a:extLst xmlns:a="http://schemas.openxmlformats.org/drawingml/2006/main">
              <a:ext uri="{FF2B5EF4-FFF2-40B4-BE49-F238E27FC236}">
                <a16:creationId xmlns:a16="http://schemas.microsoft.com/office/drawing/2014/main" id="{81996582-FC5B-4660-B927-B3DA0C8B9020}"/>
              </a:ext>
            </a:extLst>
          </p:cNvPr>
          <p:cNvSpPr>
            <a:spLocks xmlns:a="http://schemas.openxmlformats.org/drawingml/2006/main" noGrp="1"/>
          </p:cNvSpPr>
          <p:nvPr/>
        </p:nvSpPr>
        <p:spPr>
          <a:xfrm xmlns:a="http://schemas.openxmlformats.org/drawingml/2006/main">
            <a:off x="87153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526079"/>
                </a:solidFill>
                <a:latin typeface="Aptos"/>
                <a:ea typeface="Aptos"/>
                <a:cs typeface="Aptos"/>
              </a:defRPr>
            </a:pPr>
            <a:r>
              <a:rPr sz="1575" b="1">
                <a:solidFill>
                  <a:srgbClr val="526079"/>
                </a:solidFill>
                <a:latin typeface="Aptos"/>
                <a:ea typeface="Aptos"/>
                <a:cs typeface="Aptos"/>
              </a:rPr>
              <a:t>5</a:t>
            </a:r>
          </a:p>
        </p:txBody>
      </p:sp>
      <p:sp>
        <p:nvSpPr>
          <p:cNvPr id="30" name="">
            <a:extLst xmlns:a="http://schemas.openxmlformats.org/drawingml/2006/main">
              <a:ext uri="{FF2B5EF4-FFF2-40B4-BE49-F238E27FC236}">
                <a16:creationId xmlns:a16="http://schemas.microsoft.com/office/drawing/2014/main" id="{E5C2064D-4593-4EFE-9BDA-3D1616FB9CBA}"/>
              </a:ext>
            </a:extLst>
          </p:cNvPr>
          <p:cNvSpPr>
            <a:spLocks xmlns:a="http://schemas.openxmlformats.org/drawingml/2006/main" noGrp="1"/>
          </p:cNvSpPr>
          <p:nvPr/>
        </p:nvSpPr>
        <p:spPr>
          <a:xfrm xmlns:a="http://schemas.openxmlformats.org/drawingml/2006/main">
            <a:off x="82867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526079"/>
                </a:solidFill>
                <a:latin typeface="Aptos"/>
                <a:ea typeface="Aptos"/>
                <a:cs typeface="Aptos"/>
              </a:defRPr>
            </a:pPr>
            <a:r>
              <a:rPr sz="1200" b="1">
                <a:solidFill>
                  <a:srgbClr val="526079"/>
                </a:solidFill>
                <a:latin typeface="Aptos"/>
                <a:ea typeface="Aptos"/>
                <a:cs typeface="Aptos"/>
              </a:rPr>
              <a:t>Upcoming</a:t>
            </a:r>
          </a:p>
        </p:txBody>
      </p:sp>
      <p:sp>
        <p:nvSpPr>
          <p:cNvPr id="31" name="">
            <a:extLst xmlns:a="http://schemas.openxmlformats.org/drawingml/2006/main">
              <a:ext uri="{FF2B5EF4-FFF2-40B4-BE49-F238E27FC236}">
                <a16:creationId xmlns:a16="http://schemas.microsoft.com/office/drawing/2014/main" id="{908803D7-1CF3-40FC-9F26-B4D110592932}"/>
              </a:ext>
            </a:extLst>
          </p:cNvPr>
          <p:cNvSpPr>
            <a:spLocks xmlns:a="http://schemas.openxmlformats.org/drawingml/2006/main" noGrp="1"/>
          </p:cNvSpPr>
          <p:nvPr/>
        </p:nvSpPr>
        <p:spPr>
          <a:xfrm xmlns:a="http://schemas.openxmlformats.org/drawingml/2006/main">
            <a:off x="82105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Graphs</a:t>
            </a:r>
          </a:p>
        </p:txBody>
      </p:sp>
      <p:sp>
        <p:nvSpPr>
          <p:cNvPr id="32" name="">
            <a:extLst xmlns:a="http://schemas.openxmlformats.org/drawingml/2006/main">
              <a:ext uri="{FF2B5EF4-FFF2-40B4-BE49-F238E27FC236}">
                <a16:creationId xmlns:a16="http://schemas.microsoft.com/office/drawing/2014/main" id="{091BB7B2-1D6E-4E66-B493-B48681A7FA43}"/>
              </a:ext>
            </a:extLst>
          </p:cNvPr>
          <p:cNvSpPr>
            <a:spLocks xmlns:a="http://schemas.openxmlformats.org/drawingml/2006/main" noGrp="1"/>
          </p:cNvSpPr>
          <p:nvPr/>
        </p:nvSpPr>
        <p:spPr>
          <a:xfrm xmlns:a="http://schemas.openxmlformats.org/drawingml/2006/main">
            <a:off x="82105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dependency-safe order</a:t>
            </a:r>
          </a:p>
        </p:txBody>
      </p:sp>
      <p:cxnSp>
        <p:nvCxnSpPr>
          <p:cNvPr id="75" name=""/>
          <p:cNvCxnSpPr>
            <a:stCxn xmlns:a="http://schemas.openxmlformats.org/drawingml/2006/main" id="22" idx="6"/>
            <a:endCxn xmlns:a="http://schemas.openxmlformats.org/drawingml/2006/main" id="28" idx="2"/>
          </p:cNvCxnSpPr>
          <p:nvPr/>
        </p:nvCxnSpPr>
        <p:spPr>
          <a:xfrm xmlns:a="http://schemas.openxmlformats.org/drawingml/2006/main">
            <a:off x="75533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4" name="">
            <a:extLst xmlns:a="http://schemas.openxmlformats.org/drawingml/2006/main">
              <a:ext uri="{FF2B5EF4-FFF2-40B4-BE49-F238E27FC236}">
                <a16:creationId xmlns:a16="http://schemas.microsoft.com/office/drawing/2014/main" id="{09049822-10A3-431A-9EED-3604FCD68154}"/>
              </a:ext>
            </a:extLst>
          </p:cNvPr>
          <p:cNvSpPr>
            <a:spLocks xmlns:a="http://schemas.openxmlformats.org/drawingml/2006/main" noGrp="1"/>
          </p:cNvSpPr>
          <p:nvPr/>
        </p:nvSpPr>
        <p:spPr>
          <a:xfrm xmlns:a="http://schemas.openxmlformats.org/drawingml/2006/main">
            <a:off x="10658475" y="2266950"/>
            <a:ext cx="781050" cy="7810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35" name="">
            <a:extLst xmlns:a="http://schemas.openxmlformats.org/drawingml/2006/main">
              <a:ext uri="{FF2B5EF4-FFF2-40B4-BE49-F238E27FC236}">
                <a16:creationId xmlns:a16="http://schemas.microsoft.com/office/drawing/2014/main" id="{6D390B27-775E-440A-B568-38277018D669}"/>
              </a:ext>
            </a:extLst>
          </p:cNvPr>
          <p:cNvSpPr>
            <a:spLocks xmlns:a="http://schemas.openxmlformats.org/drawingml/2006/main" noGrp="1"/>
          </p:cNvSpPr>
          <p:nvPr/>
        </p:nvSpPr>
        <p:spPr>
          <a:xfrm xmlns:a="http://schemas.openxmlformats.org/drawingml/2006/main">
            <a:off x="106584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B42318"/>
                </a:solidFill>
                <a:latin typeface="Aptos"/>
                <a:ea typeface="Aptos"/>
                <a:cs typeface="Aptos"/>
              </a:defRPr>
            </a:pPr>
            <a:r>
              <a:rPr sz="1575" b="1">
                <a:solidFill>
                  <a:srgbClr val="B42318"/>
                </a:solidFill>
                <a:latin typeface="Aptos"/>
                <a:ea typeface="Aptos"/>
                <a:cs typeface="Aptos"/>
              </a:rPr>
              <a:t>6</a:t>
            </a:r>
          </a:p>
        </p:txBody>
      </p:sp>
      <p:sp>
        <p:nvSpPr>
          <p:cNvPr id="36" name="">
            <a:extLst xmlns:a="http://schemas.openxmlformats.org/drawingml/2006/main">
              <a:ext uri="{FF2B5EF4-FFF2-40B4-BE49-F238E27FC236}">
                <a16:creationId xmlns:a16="http://schemas.microsoft.com/office/drawing/2014/main" id="{20729460-6EA2-4656-A53D-60CF9F91D7F6}"/>
              </a:ext>
            </a:extLst>
          </p:cNvPr>
          <p:cNvSpPr>
            <a:spLocks xmlns:a="http://schemas.openxmlformats.org/drawingml/2006/main" noGrp="1"/>
          </p:cNvSpPr>
          <p:nvPr/>
        </p:nvSpPr>
        <p:spPr>
          <a:xfrm xmlns:a="http://schemas.openxmlformats.org/drawingml/2006/main">
            <a:off x="102298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B42318"/>
                </a:solidFill>
                <a:latin typeface="Aptos"/>
                <a:ea typeface="Aptos"/>
                <a:cs typeface="Aptos"/>
              </a:defRPr>
            </a:pPr>
            <a:r>
              <a:rPr sz="1200" b="1">
                <a:solidFill>
                  <a:srgbClr val="B42318"/>
                </a:solidFill>
                <a:latin typeface="Aptos"/>
                <a:ea typeface="Aptos"/>
                <a:cs typeface="Aptos"/>
              </a:rPr>
              <a:t>Locked</a:t>
            </a:r>
          </a:p>
        </p:txBody>
      </p:sp>
      <p:sp>
        <p:nvSpPr>
          <p:cNvPr id="37" name="">
            <a:extLst xmlns:a="http://schemas.openxmlformats.org/drawingml/2006/main">
              <a:ext uri="{FF2B5EF4-FFF2-40B4-BE49-F238E27FC236}">
                <a16:creationId xmlns:a16="http://schemas.microsoft.com/office/drawing/2014/main" id="{10655D47-8454-4965-BAAE-CEB04E084770}"/>
              </a:ext>
            </a:extLst>
          </p:cNvPr>
          <p:cNvSpPr>
            <a:spLocks xmlns:a="http://schemas.openxmlformats.org/drawingml/2006/main" noGrp="1"/>
          </p:cNvSpPr>
          <p:nvPr/>
        </p:nvSpPr>
        <p:spPr>
          <a:xfrm xmlns:a="http://schemas.openxmlformats.org/drawingml/2006/main">
            <a:off x="101536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Dynamic programming</a:t>
            </a:r>
          </a:p>
        </p:txBody>
      </p:sp>
      <p:sp>
        <p:nvSpPr>
          <p:cNvPr id="38" name="">
            <a:extLst xmlns:a="http://schemas.openxmlformats.org/drawingml/2006/main">
              <a:ext uri="{FF2B5EF4-FFF2-40B4-BE49-F238E27FC236}">
                <a16:creationId xmlns:a16="http://schemas.microsoft.com/office/drawing/2014/main" id="{5FBCA59D-7C00-4CB6-B095-9EE5B6C6AC2C}"/>
              </a:ext>
            </a:extLst>
          </p:cNvPr>
          <p:cNvSpPr>
            <a:spLocks xmlns:a="http://schemas.openxmlformats.org/drawingml/2006/main" noGrp="1"/>
          </p:cNvSpPr>
          <p:nvPr/>
        </p:nvSpPr>
        <p:spPr>
          <a:xfrm xmlns:a="http://schemas.openxmlformats.org/drawingml/2006/main">
            <a:off x="101536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missing prerequisite</a:t>
            </a:r>
          </a:p>
        </p:txBody>
      </p:sp>
      <p:cxnSp>
        <p:nvCxnSpPr>
          <p:cNvPr id="81" name=""/>
          <p:cNvCxnSpPr>
            <a:stCxn xmlns:a="http://schemas.openxmlformats.org/drawingml/2006/main" id="28" idx="6"/>
            <a:endCxn xmlns:a="http://schemas.openxmlformats.org/drawingml/2006/main" id="34" idx="2"/>
          </p:cNvCxnSpPr>
          <p:nvPr/>
        </p:nvCxnSpPr>
        <p:spPr>
          <a:xfrm xmlns:a="http://schemas.openxmlformats.org/drawingml/2006/main">
            <a:off x="9496425" y="2657475"/>
            <a:ext cx="1162050" cy="0"/>
          </a:xfrm>
          <a:prstGeom xmlns:a="http://schemas.openxmlformats.org/drawingml/2006/main" prst="straightConnector1">
            <a:avLst/>
          </a:prstGeom>
          <a:ln xmlns:a="http://schemas.openxmlformats.org/drawingml/2006/main" w="19050">
            <a:solidFill>
              <a:srgbClr val="B42318"/>
            </a:solidFill>
            <a:prstDash val="dash"/>
            <a:tailEnd type="triangle" w="sm" len="sm"/>
          </a:ln>
        </p:spPr>
      </p:cxnSp>
      <p:sp>
        <p:nvSpPr>
          <p:cNvPr id="40" name="">
            <a:extLst xmlns:a="http://schemas.openxmlformats.org/drawingml/2006/main">
              <a:ext uri="{FF2B5EF4-FFF2-40B4-BE49-F238E27FC236}">
                <a16:creationId xmlns:a16="http://schemas.microsoft.com/office/drawing/2014/main" id="{25598737-632F-43C1-BA63-6EF327AE8FE2}"/>
              </a:ext>
            </a:extLst>
          </p:cNvPr>
          <p:cNvSpPr>
            <a:spLocks xmlns:a="http://schemas.openxmlformats.org/drawingml/2006/main" noGrp="1"/>
          </p:cNvSpPr>
          <p:nvPr/>
        </p:nvSpPr>
        <p:spPr>
          <a:xfrm xmlns:a="http://schemas.openxmlformats.org/drawingml/2006/main">
            <a:off x="2457450" y="5086350"/>
            <a:ext cx="7277100" cy="876300"/>
          </a:xfrm>
          <a:prstGeom xmlns:a="http://schemas.openxmlformats.org/drawingml/2006/main" prst="roundRect">
            <a:avLst>
              <a:gd name="adj" fmla="val 13043"/>
            </a:avLst>
          </a:prstGeom>
          <a:solidFill xmlns:a="http://schemas.openxmlformats.org/drawingml/2006/main">
            <a:srgbClr val="EEF2FF"/>
          </a:solidFill>
          <a:ln xmlns:a="http://schemas.openxmlformats.org/drawingml/2006/main" w="9525">
            <a:solidFill>
              <a:srgbClr val="4F46E5"/>
            </a:solidFill>
            <a:prstDash val="solid"/>
          </a:ln>
        </p:spPr>
      </p:sp>
      <p:sp>
        <p:nvSpPr>
          <p:cNvPr id="41" name="">
            <a:extLst xmlns:a="http://schemas.openxmlformats.org/drawingml/2006/main">
              <a:ext uri="{FF2B5EF4-FFF2-40B4-BE49-F238E27FC236}">
                <a16:creationId xmlns:a16="http://schemas.microsoft.com/office/drawing/2014/main" id="{2A1465F6-2D5C-4FAF-BC42-9BED1EEAA229}"/>
              </a:ext>
            </a:extLst>
          </p:cNvPr>
          <p:cNvSpPr>
            <a:spLocks xmlns:a="http://schemas.openxmlformats.org/drawingml/2006/main" noGrp="1"/>
          </p:cNvSpPr>
          <p:nvPr/>
        </p:nvSpPr>
        <p:spPr>
          <a:xfrm xmlns:a="http://schemas.openxmlformats.org/drawingml/2006/main">
            <a:off x="2724150" y="52959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4F46E5"/>
                </a:solidFill>
                <a:latin typeface="Aptos"/>
                <a:ea typeface="Aptos"/>
                <a:cs typeface="Aptos"/>
              </a:defRPr>
            </a:pPr>
            <a:r>
              <a:rPr sz="1575" b="1">
                <a:solidFill>
                  <a:srgbClr val="4F46E5"/>
                </a:solidFill>
                <a:latin typeface="Aptos"/>
                <a:ea typeface="Aptos"/>
                <a:cs typeface="Aptos"/>
              </a:rPr>
              <a:t>Why Trees</a:t>
            </a:r>
          </a:p>
        </p:txBody>
      </p:sp>
      <p:sp>
        <p:nvSpPr>
          <p:cNvPr id="42" name="">
            <a:extLst xmlns:a="http://schemas.openxmlformats.org/drawingml/2006/main">
              <a:ext uri="{FF2B5EF4-FFF2-40B4-BE49-F238E27FC236}">
                <a16:creationId xmlns:a16="http://schemas.microsoft.com/office/drawing/2014/main" id="{B6DCA0A5-243A-4B67-B163-44788C2DC981}"/>
              </a:ext>
            </a:extLst>
          </p:cNvPr>
          <p:cNvSpPr>
            <a:spLocks xmlns:a="http://schemas.openxmlformats.org/drawingml/2006/main" noGrp="1"/>
          </p:cNvSpPr>
          <p:nvPr/>
        </p:nvSpPr>
        <p:spPr>
          <a:xfrm xmlns:a="http://schemas.openxmlformats.org/drawingml/2006/main">
            <a:off x="4114800" y="52578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Prerequisites satisfied. Low current mastery. Strong predicted benefit. Supports the active goal.</a:t>
            </a:r>
          </a:p>
        </p:txBody>
      </p:sp>
    </p:spTree>
    <p:extLst>
      <p:ext uri="{BB962C8B-B14F-4D97-AF65-F5344CB8AC3E}">
        <p14:creationId xmlns:p14="http://schemas.microsoft.com/office/powerpoint/2010/main" val="15844539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D639D6C7-B9A1-40C0-9532-F073B8EA0F8F}"/>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Mastery, confidence and retention</a:t>
            </a:r>
          </a:p>
        </p:txBody>
      </p:sp>
      <p:sp>
        <p:nvSpPr>
          <p:cNvPr id="2" name="">
            <a:extLst xmlns:a="http://schemas.openxmlformats.org/drawingml/2006/main">
              <a:ext uri="{FF2B5EF4-FFF2-40B4-BE49-F238E27FC236}">
                <a16:creationId xmlns:a16="http://schemas.microsoft.com/office/drawing/2014/main" id="{322A3F75-A4ED-4FF7-8FCE-9447CE12E89D}"/>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System separates estimated knowledge from the strength and freshness of its evidence</a:t>
            </a:r>
          </a:p>
        </p:txBody>
      </p:sp>
      <p:sp>
        <p:nvSpPr>
          <p:cNvPr id="3" name="">
            <a:extLst xmlns:a="http://schemas.openxmlformats.org/drawingml/2006/main">
              <a:ext uri="{FF2B5EF4-FFF2-40B4-BE49-F238E27FC236}">
                <a16:creationId xmlns:a16="http://schemas.microsoft.com/office/drawing/2014/main" id="{3C3A3ED7-E2AB-4C41-8900-92AC468743D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6EB0D983-9061-44BE-ACD2-BA954BC1B8BD}"/>
              </a:ext>
            </a:extLst>
          </p:cNvPr>
          <p:cNvSpPr>
            <a:spLocks xmlns:a="http://schemas.openxmlformats.org/drawingml/2006/main" noGrp="1"/>
          </p:cNvSpPr>
          <p:nvPr/>
        </p:nvSpPr>
        <p:spPr>
          <a:xfrm xmlns:a="http://schemas.openxmlformats.org/drawingml/2006/main">
            <a:off x="495300" y="1619250"/>
            <a:ext cx="3429000" cy="1866900"/>
          </a:xfrm>
          <a:prstGeom xmlns:a="http://schemas.openxmlformats.org/drawingml/2006/main" prst="roundRect">
            <a:avLst>
              <a:gd name="adj" fmla="val 6122"/>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E88A7B7F-DD99-4F0B-BA28-13F5DA170297}"/>
              </a:ext>
            </a:extLst>
          </p:cNvPr>
          <p:cNvSpPr>
            <a:spLocks xmlns:a="http://schemas.openxmlformats.org/drawingml/2006/main" noGrp="1"/>
          </p:cNvSpPr>
          <p:nvPr/>
        </p:nvSpPr>
        <p:spPr>
          <a:xfrm xmlns:a="http://schemas.openxmlformats.org/drawingml/2006/main">
            <a:off x="7048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Mastery</a:t>
            </a:r>
          </a:p>
        </p:txBody>
      </p:sp>
      <p:sp>
        <p:nvSpPr>
          <p:cNvPr id="6" name="">
            <a:extLst xmlns:a="http://schemas.openxmlformats.org/drawingml/2006/main">
              <a:ext uri="{FF2B5EF4-FFF2-40B4-BE49-F238E27FC236}">
                <a16:creationId xmlns:a16="http://schemas.microsoft.com/office/drawing/2014/main" id="{5837A93A-5F21-4B8A-A90B-159F15792466}"/>
              </a:ext>
            </a:extLst>
          </p:cNvPr>
          <p:cNvSpPr>
            <a:spLocks xmlns:a="http://schemas.openxmlformats.org/drawingml/2006/main" noGrp="1"/>
          </p:cNvSpPr>
          <p:nvPr/>
        </p:nvSpPr>
        <p:spPr>
          <a:xfrm xmlns:a="http://schemas.openxmlformats.org/drawingml/2006/main">
            <a:off x="7048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zero-to-one estimate of durable demonstrated knowledge. New evidence moves the estimate incrementally.</a:t>
            </a:r>
          </a:p>
        </p:txBody>
      </p:sp>
      <p:sp>
        <p:nvSpPr>
          <p:cNvPr id="7" name="">
            <a:extLst xmlns:a="http://schemas.openxmlformats.org/drawingml/2006/main">
              <a:ext uri="{FF2B5EF4-FFF2-40B4-BE49-F238E27FC236}">
                <a16:creationId xmlns:a16="http://schemas.microsoft.com/office/drawing/2014/main" id="{D47B2772-A16D-44B8-95C4-E3D3E0B62B9E}"/>
              </a:ext>
            </a:extLst>
          </p:cNvPr>
          <p:cNvSpPr>
            <a:spLocks xmlns:a="http://schemas.openxmlformats.org/drawingml/2006/main" noGrp="1"/>
          </p:cNvSpPr>
          <p:nvPr/>
        </p:nvSpPr>
        <p:spPr>
          <a:xfrm xmlns:a="http://schemas.openxmlformats.org/drawingml/2006/main">
            <a:off x="4381500" y="1619250"/>
            <a:ext cx="3429000" cy="1866900"/>
          </a:xfrm>
          <a:prstGeom xmlns:a="http://schemas.openxmlformats.org/drawingml/2006/main" prst="roundRect">
            <a:avLst>
              <a:gd name="adj" fmla="val 6122"/>
            </a:avLst>
          </a:prstGeom>
          <a:solidFill xmlns:a="http://schemas.openxmlformats.org/drawingml/2006/main">
            <a:srgbClr val="ECFDF5"/>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D57A8169-6DC0-4DF3-8898-D8D3A48D7807}"/>
              </a:ext>
            </a:extLst>
          </p:cNvPr>
          <p:cNvSpPr>
            <a:spLocks xmlns:a="http://schemas.openxmlformats.org/drawingml/2006/main" noGrp="1"/>
          </p:cNvSpPr>
          <p:nvPr/>
        </p:nvSpPr>
        <p:spPr>
          <a:xfrm xmlns:a="http://schemas.openxmlformats.org/drawingml/2006/main">
            <a:off x="45910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Confidence</a:t>
            </a:r>
          </a:p>
        </p:txBody>
      </p:sp>
      <p:sp>
        <p:nvSpPr>
          <p:cNvPr id="9" name="">
            <a:extLst xmlns:a="http://schemas.openxmlformats.org/drawingml/2006/main">
              <a:ext uri="{FF2B5EF4-FFF2-40B4-BE49-F238E27FC236}">
                <a16:creationId xmlns:a16="http://schemas.microsoft.com/office/drawing/2014/main" id="{B6E2E33E-B792-4991-B7E2-5CC51B62F420}"/>
              </a:ext>
            </a:extLst>
          </p:cNvPr>
          <p:cNvSpPr>
            <a:spLocks xmlns:a="http://schemas.openxmlformats.org/drawingml/2006/main" noGrp="1"/>
          </p:cNvSpPr>
          <p:nvPr/>
        </p:nvSpPr>
        <p:spPr>
          <a:xfrm xmlns:a="http://schemas.openxmlformats.org/drawingml/2006/main">
            <a:off x="45910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Evidence support from observation count, source diversity, sessions, difficulty, consistency and retention checks.</a:t>
            </a:r>
          </a:p>
        </p:txBody>
      </p:sp>
      <p:sp>
        <p:nvSpPr>
          <p:cNvPr id="10" name="">
            <a:extLst xmlns:a="http://schemas.openxmlformats.org/drawingml/2006/main">
              <a:ext uri="{FF2B5EF4-FFF2-40B4-BE49-F238E27FC236}">
                <a16:creationId xmlns:a16="http://schemas.microsoft.com/office/drawing/2014/main" id="{1F268969-3AF2-4DBA-9179-F8FE9D46693F}"/>
              </a:ext>
            </a:extLst>
          </p:cNvPr>
          <p:cNvSpPr>
            <a:spLocks xmlns:a="http://schemas.openxmlformats.org/drawingml/2006/main" noGrp="1"/>
          </p:cNvSpPr>
          <p:nvPr/>
        </p:nvSpPr>
        <p:spPr>
          <a:xfrm xmlns:a="http://schemas.openxmlformats.org/drawingml/2006/main">
            <a:off x="8267700" y="1619250"/>
            <a:ext cx="3429000" cy="1866900"/>
          </a:xfrm>
          <a:prstGeom xmlns:a="http://schemas.openxmlformats.org/drawingml/2006/main" prst="roundRect">
            <a:avLst>
              <a:gd name="adj" fmla="val 6122"/>
            </a:avLst>
          </a:prstGeom>
          <a:solidFill xmlns:a="http://schemas.openxmlformats.org/drawingml/2006/main">
            <a:srgbClr val="FFF7E8"/>
          </a:solidFill>
          <a:ln xmlns:a="http://schemas.openxmlformats.org/drawingml/2006/main" w="9525">
            <a:solidFill>
              <a:srgbClr val="D97706"/>
            </a:solidFill>
            <a:prstDash val="solid"/>
          </a:ln>
        </p:spPr>
      </p:sp>
      <p:sp>
        <p:nvSpPr>
          <p:cNvPr id="11" name="">
            <a:extLst xmlns:a="http://schemas.openxmlformats.org/drawingml/2006/main">
              <a:ext uri="{FF2B5EF4-FFF2-40B4-BE49-F238E27FC236}">
                <a16:creationId xmlns:a16="http://schemas.microsoft.com/office/drawing/2014/main" id="{90CED2F5-86C3-4E8D-948E-A033BF488B3A}"/>
              </a:ext>
            </a:extLst>
          </p:cNvPr>
          <p:cNvSpPr>
            <a:spLocks xmlns:a="http://schemas.openxmlformats.org/drawingml/2006/main" noGrp="1"/>
          </p:cNvSpPr>
          <p:nvPr/>
        </p:nvSpPr>
        <p:spPr>
          <a:xfrm xmlns:a="http://schemas.openxmlformats.org/drawingml/2006/main">
            <a:off x="84772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Retention</a:t>
            </a:r>
          </a:p>
        </p:txBody>
      </p:sp>
      <p:sp>
        <p:nvSpPr>
          <p:cNvPr id="12" name="">
            <a:extLst xmlns:a="http://schemas.openxmlformats.org/drawingml/2006/main">
              <a:ext uri="{FF2B5EF4-FFF2-40B4-BE49-F238E27FC236}">
                <a16:creationId xmlns:a16="http://schemas.microsoft.com/office/drawing/2014/main" id="{3C8B4EAD-F989-4BB2-B070-CFB08B344B07}"/>
              </a:ext>
            </a:extLst>
          </p:cNvPr>
          <p:cNvSpPr>
            <a:spLocks xmlns:a="http://schemas.openxmlformats.org/drawingml/2006/main" noGrp="1"/>
          </p:cNvSpPr>
          <p:nvPr/>
        </p:nvSpPr>
        <p:spPr>
          <a:xfrm xmlns:a="http://schemas.openxmlformats.org/drawingml/2006/main">
            <a:off x="84772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time-based projection of current accessibility. Earlier mastery stays durable while recall can decay.</a:t>
            </a:r>
          </a:p>
        </p:txBody>
      </p:sp>
      <p:sp>
        <p:nvSpPr>
          <p:cNvPr id="13" name="">
            <a:extLst xmlns:a="http://schemas.openxmlformats.org/drawingml/2006/main">
              <a:ext uri="{FF2B5EF4-FFF2-40B4-BE49-F238E27FC236}">
                <a16:creationId xmlns:a16="http://schemas.microsoft.com/office/drawing/2014/main" id="{28359612-DD9A-4ED5-8CEC-9AE669DD531D}"/>
              </a:ext>
            </a:extLst>
          </p:cNvPr>
          <p:cNvSpPr>
            <a:spLocks xmlns:a="http://schemas.openxmlformats.org/drawingml/2006/main" noGrp="1"/>
          </p:cNvSpPr>
          <p:nvPr/>
        </p:nvSpPr>
        <p:spPr>
          <a:xfrm xmlns:a="http://schemas.openxmlformats.org/drawingml/2006/main">
            <a:off x="495300" y="40005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UPDATE</a:t>
            </a:r>
          </a:p>
        </p:txBody>
      </p:sp>
      <p:sp>
        <p:nvSpPr>
          <p:cNvPr id="14" name="">
            <a:extLst xmlns:a="http://schemas.openxmlformats.org/drawingml/2006/main">
              <a:ext uri="{FF2B5EF4-FFF2-40B4-BE49-F238E27FC236}">
                <a16:creationId xmlns:a16="http://schemas.microsoft.com/office/drawing/2014/main" id="{251DD68C-5F85-4655-8911-AE1DB85AFCD5}"/>
              </a:ext>
            </a:extLst>
          </p:cNvPr>
          <p:cNvSpPr>
            <a:spLocks xmlns:a="http://schemas.openxmlformats.org/drawingml/2006/main" noGrp="1"/>
          </p:cNvSpPr>
          <p:nvPr/>
        </p:nvSpPr>
        <p:spPr>
          <a:xfrm xmlns:a="http://schemas.openxmlformats.org/drawingml/2006/main">
            <a:off x="514350" y="44386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0.50</a:t>
            </a:r>
          </a:p>
        </p:txBody>
      </p:sp>
      <p:sp>
        <p:nvSpPr>
          <p:cNvPr id="15" name="">
            <a:extLst xmlns:a="http://schemas.openxmlformats.org/drawingml/2006/main">
              <a:ext uri="{FF2B5EF4-FFF2-40B4-BE49-F238E27FC236}">
                <a16:creationId xmlns:a16="http://schemas.microsoft.com/office/drawing/2014/main" id="{2FF559D7-E647-4378-9113-1432FC19F118}"/>
              </a:ext>
            </a:extLst>
          </p:cNvPr>
          <p:cNvSpPr>
            <a:spLocks xmlns:a="http://schemas.openxmlformats.org/drawingml/2006/main" noGrp="1"/>
          </p:cNvSpPr>
          <p:nvPr/>
        </p:nvSpPr>
        <p:spPr>
          <a:xfrm xmlns:a="http://schemas.openxmlformats.org/drawingml/2006/main">
            <a:off x="2590800" y="44386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Assessment performance 0.90</a:t>
            </a:r>
          </a:p>
        </p:txBody>
      </p:sp>
      <p:sp>
        <p:nvSpPr>
          <p:cNvPr id="16" name="">
            <a:extLst xmlns:a="http://schemas.openxmlformats.org/drawingml/2006/main">
              <a:ext uri="{FF2B5EF4-FFF2-40B4-BE49-F238E27FC236}">
                <a16:creationId xmlns:a16="http://schemas.microsoft.com/office/drawing/2014/main" id="{4624B6D0-04D3-43B0-9E27-136A56C33749}"/>
              </a:ext>
            </a:extLst>
          </p:cNvPr>
          <p:cNvSpPr>
            <a:spLocks xmlns:a="http://schemas.openxmlformats.org/drawingml/2006/main" noGrp="1"/>
          </p:cNvSpPr>
          <p:nvPr/>
        </p:nvSpPr>
        <p:spPr>
          <a:xfrm xmlns:a="http://schemas.openxmlformats.org/drawingml/2006/main">
            <a:off x="5715000" y="44386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Source weight 0.40</a:t>
            </a:r>
          </a:p>
        </p:txBody>
      </p:sp>
      <p:sp>
        <p:nvSpPr>
          <p:cNvPr id="17" name="">
            <a:extLst xmlns:a="http://schemas.openxmlformats.org/drawingml/2006/main">
              <a:ext uri="{FF2B5EF4-FFF2-40B4-BE49-F238E27FC236}">
                <a16:creationId xmlns:a16="http://schemas.microsoft.com/office/drawing/2014/main" id="{92833E15-AB47-48DB-9458-85102187C9A1}"/>
              </a:ext>
            </a:extLst>
          </p:cNvPr>
          <p:cNvSpPr>
            <a:spLocks xmlns:a="http://schemas.openxmlformats.org/drawingml/2006/main" noGrp="1"/>
          </p:cNvSpPr>
          <p:nvPr/>
        </p:nvSpPr>
        <p:spPr>
          <a:xfrm xmlns:a="http://schemas.openxmlformats.org/drawingml/2006/main">
            <a:off x="8286750" y="44386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New mastery 0.66</a:t>
            </a:r>
          </a:p>
        </p:txBody>
      </p:sp>
      <p:sp>
        <p:nvSpPr>
          <p:cNvPr id="18" name="">
            <a:extLst xmlns:a="http://schemas.openxmlformats.org/drawingml/2006/main">
              <a:ext uri="{FF2B5EF4-FFF2-40B4-BE49-F238E27FC236}">
                <a16:creationId xmlns:a16="http://schemas.microsoft.com/office/drawing/2014/main" id="{8F67A748-B99F-431E-B5C3-C1C72E0EC161}"/>
              </a:ext>
            </a:extLst>
          </p:cNvPr>
          <p:cNvSpPr>
            <a:spLocks xmlns:a="http://schemas.openxmlformats.org/drawingml/2006/main" noGrp="1"/>
          </p:cNvSpPr>
          <p:nvPr/>
        </p:nvSpPr>
        <p:spPr>
          <a:xfrm xmlns:a="http://schemas.openxmlformats.org/drawingml/2006/main">
            <a:off x="495300" y="51435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526079"/>
                </a:solidFill>
                <a:latin typeface="Aptos"/>
                <a:ea typeface="Aptos"/>
                <a:cs typeface="Aptos"/>
              </a:defRPr>
            </a:pPr>
            <a:r>
              <a:rPr sz="1950" b="1">
                <a:solidFill>
                  <a:srgbClr val="526079"/>
                </a:solidFill>
                <a:latin typeface="Aptos"/>
                <a:ea typeface="Aptos"/>
                <a:cs typeface="Aptos"/>
              </a:rPr>
              <a:t>M_new = M_old(1 - w) + performance(w)</a:t>
            </a:r>
          </a:p>
        </p:txBody>
      </p:sp>
      <p:sp>
        <p:nvSpPr>
          <p:cNvPr id="19" name="">
            <a:extLst xmlns:a="http://schemas.openxmlformats.org/drawingml/2006/main">
              <a:ext uri="{FF2B5EF4-FFF2-40B4-BE49-F238E27FC236}">
                <a16:creationId xmlns:a16="http://schemas.microsoft.com/office/drawing/2014/main" id="{ACBC42C4-18D5-40CA-9CB7-AB9CF5477B16}"/>
              </a:ext>
            </a:extLst>
          </p:cNvPr>
          <p:cNvSpPr>
            <a:spLocks xmlns:a="http://schemas.openxmlformats.org/drawingml/2006/main" noGrp="1"/>
          </p:cNvSpPr>
          <p:nvPr/>
        </p:nvSpPr>
        <p:spPr>
          <a:xfrm xmlns:a="http://schemas.openxmlformats.org/drawingml/2006/main">
            <a:off x="495300" y="56959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D97706"/>
                </a:solidFill>
                <a:latin typeface="Aptos"/>
                <a:ea typeface="Aptos"/>
                <a:cs typeface="Aptos"/>
              </a:defRPr>
            </a:pPr>
            <a:r>
              <a:rPr sz="1500" b="0">
                <a:solidFill>
                  <a:srgbClr val="D97706"/>
                </a:solidFill>
                <a:latin typeface="Aptos"/>
                <a:ea typeface="Aptos"/>
                <a:cs typeface="Aptos"/>
              </a:rPr>
              <a:t>Example retention after 30 days: mastery 0.80 projects to about 0.50 and becomes AT RISK</a:t>
            </a:r>
          </a:p>
        </p:txBody>
      </p:sp>
    </p:spTree>
    <p:extLst>
      <p:ext uri="{BB962C8B-B14F-4D97-AF65-F5344CB8AC3E}">
        <p14:creationId xmlns:p14="http://schemas.microsoft.com/office/powerpoint/2010/main" val="3942648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80C5DB02-10F0-4714-A22A-BFE3ADBA928B}"/>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Dynamic path regeneration</a:t>
            </a:r>
          </a:p>
        </p:txBody>
      </p:sp>
      <p:sp>
        <p:nvSpPr>
          <p:cNvPr id="2" name="">
            <a:extLst xmlns:a="http://schemas.openxmlformats.org/drawingml/2006/main">
              <a:ext uri="{FF2B5EF4-FFF2-40B4-BE49-F238E27FC236}">
                <a16:creationId xmlns:a16="http://schemas.microsoft.com/office/drawing/2014/main" id="{2F3CCEF2-3E28-48E0-9DE4-9EB9D2094CB7}"/>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New assessed evidence creates a new auditable path version</a:t>
            </a:r>
          </a:p>
        </p:txBody>
      </p:sp>
      <p:sp>
        <p:nvSpPr>
          <p:cNvPr id="3" name="">
            <a:extLst xmlns:a="http://schemas.openxmlformats.org/drawingml/2006/main">
              <a:ext uri="{FF2B5EF4-FFF2-40B4-BE49-F238E27FC236}">
                <a16:creationId xmlns:a16="http://schemas.microsoft.com/office/drawing/2014/main" id="{903C4A17-C3D3-490F-A6D5-C7000D4F1375}"/>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FEAAAE95-811C-453C-BBA9-85A8D9AFECA9}"/>
              </a:ext>
            </a:extLst>
          </p:cNvPr>
          <p:cNvSpPr>
            <a:spLocks xmlns:a="http://schemas.openxmlformats.org/drawingml/2006/main" noGrp="1"/>
          </p:cNvSpPr>
          <p:nvPr/>
        </p:nvSpPr>
        <p:spPr>
          <a:xfrm xmlns:a="http://schemas.openxmlformats.org/drawingml/2006/main">
            <a:off x="5143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BEFORE ASSESSMENT</a:t>
            </a:r>
          </a:p>
        </p:txBody>
      </p:sp>
      <p:sp>
        <p:nvSpPr>
          <p:cNvPr id="5" name="">
            <a:extLst xmlns:a="http://schemas.openxmlformats.org/drawingml/2006/main">
              <a:ext uri="{FF2B5EF4-FFF2-40B4-BE49-F238E27FC236}">
                <a16:creationId xmlns:a16="http://schemas.microsoft.com/office/drawing/2014/main" id="{FCBC0F04-0FCD-4F80-A718-E268B24CDAA4}"/>
              </a:ext>
            </a:extLst>
          </p:cNvPr>
          <p:cNvSpPr>
            <a:spLocks xmlns:a="http://schemas.openxmlformats.org/drawingml/2006/main" noGrp="1"/>
          </p:cNvSpPr>
          <p:nvPr/>
        </p:nvSpPr>
        <p:spPr>
          <a:xfrm xmlns:a="http://schemas.openxmlformats.org/drawingml/2006/main">
            <a:off x="514350" y="1885950"/>
            <a:ext cx="335280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6" name="">
            <a:extLst xmlns:a="http://schemas.openxmlformats.org/drawingml/2006/main">
              <a:ext uri="{FF2B5EF4-FFF2-40B4-BE49-F238E27FC236}">
                <a16:creationId xmlns:a16="http://schemas.microsoft.com/office/drawing/2014/main" id="{8DFC2FF4-8ADA-4757-A226-744B6BAC7633}"/>
              </a:ext>
            </a:extLst>
          </p:cNvPr>
          <p:cNvSpPr>
            <a:spLocks xmlns:a="http://schemas.openxmlformats.org/drawingml/2006/main" noGrp="1"/>
          </p:cNvSpPr>
          <p:nvPr/>
        </p:nvSpPr>
        <p:spPr>
          <a:xfrm xmlns:a="http://schemas.openxmlformats.org/drawingml/2006/main">
            <a:off x="7239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7</a:t>
            </a:r>
          </a:p>
        </p:txBody>
      </p:sp>
      <p:sp>
        <p:nvSpPr>
          <p:cNvPr id="7" name="">
            <a:extLst xmlns:a="http://schemas.openxmlformats.org/drawingml/2006/main">
              <a:ext uri="{FF2B5EF4-FFF2-40B4-BE49-F238E27FC236}">
                <a16:creationId xmlns:a16="http://schemas.microsoft.com/office/drawing/2014/main" id="{98EEFB8D-1A33-403D-89A1-371DA051B078}"/>
              </a:ext>
            </a:extLst>
          </p:cNvPr>
          <p:cNvSpPr>
            <a:spLocks xmlns:a="http://schemas.openxmlformats.org/drawingml/2006/main" noGrp="1"/>
          </p:cNvSpPr>
          <p:nvPr/>
        </p:nvSpPr>
        <p:spPr>
          <a:xfrm xmlns:a="http://schemas.openxmlformats.org/drawingml/2006/main">
            <a:off x="7239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Learn Next: Sorting</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Dynamic programming: Locked</a:t>
            </a:r>
          </a:p>
        </p:txBody>
      </p:sp>
      <p:sp>
        <p:nvSpPr>
          <p:cNvPr id="8" name="">
            <a:extLst xmlns:a="http://schemas.openxmlformats.org/drawingml/2006/main">
              <a:ext uri="{FF2B5EF4-FFF2-40B4-BE49-F238E27FC236}">
                <a16:creationId xmlns:a16="http://schemas.microsoft.com/office/drawing/2014/main" id="{E62C51E0-9D16-4ABD-AC2C-885A9069AD16}"/>
              </a:ext>
            </a:extLst>
          </p:cNvPr>
          <p:cNvSpPr>
            <a:spLocks xmlns:a="http://schemas.openxmlformats.org/drawingml/2006/main" noGrp="1"/>
          </p:cNvSpPr>
          <p:nvPr/>
        </p:nvSpPr>
        <p:spPr>
          <a:xfrm xmlns:a="http://schemas.openxmlformats.org/drawingml/2006/main">
            <a:off x="5143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sp>
        <p:nvSpPr>
          <p:cNvPr id="9" name="">
            <a:extLst xmlns:a="http://schemas.openxmlformats.org/drawingml/2006/main">
              <a:ext uri="{FF2B5EF4-FFF2-40B4-BE49-F238E27FC236}">
                <a16:creationId xmlns:a16="http://schemas.microsoft.com/office/drawing/2014/main" id="{F801B5DC-D64F-41AD-9005-4F4F826CC619}"/>
              </a:ext>
            </a:extLst>
          </p:cNvPr>
          <p:cNvSpPr>
            <a:spLocks xmlns:a="http://schemas.openxmlformats.org/drawingml/2006/main" noGrp="1"/>
          </p:cNvSpPr>
          <p:nvPr/>
        </p:nvSpPr>
        <p:spPr>
          <a:xfrm xmlns:a="http://schemas.openxmlformats.org/drawingml/2006/main">
            <a:off x="4495800" y="2133600"/>
            <a:ext cx="3143250" cy="1619250"/>
          </a:xfrm>
          <a:prstGeom xmlns:a="http://schemas.openxmlformats.org/drawingml/2006/main" prst="roundRect">
            <a:avLst>
              <a:gd name="adj" fmla="val 7059"/>
            </a:avLst>
          </a:prstGeom>
          <a:solidFill xmlns:a="http://schemas.openxmlformats.org/drawingml/2006/main">
            <a:srgbClr val="EEF2FF"/>
          </a:solidFill>
          <a:ln xmlns:a="http://schemas.openxmlformats.org/drawingml/2006/main" w="9525">
            <a:solidFill>
              <a:srgbClr val="4F46E5"/>
            </a:solidFill>
            <a:prstDash val="solid"/>
          </a:ln>
        </p:spPr>
      </p:sp>
      <p:sp>
        <p:nvSpPr>
          <p:cNvPr id="10" name="">
            <a:extLst xmlns:a="http://schemas.openxmlformats.org/drawingml/2006/main">
              <a:ext uri="{FF2B5EF4-FFF2-40B4-BE49-F238E27FC236}">
                <a16:creationId xmlns:a16="http://schemas.microsoft.com/office/drawing/2014/main" id="{589B13D1-9ED3-4C01-B8B3-CE56631EB2B9}"/>
              </a:ext>
            </a:extLst>
          </p:cNvPr>
          <p:cNvSpPr>
            <a:spLocks xmlns:a="http://schemas.openxmlformats.org/drawingml/2006/main" noGrp="1"/>
          </p:cNvSpPr>
          <p:nvPr/>
        </p:nvSpPr>
        <p:spPr>
          <a:xfrm xmlns:a="http://schemas.openxmlformats.org/drawingml/2006/main">
            <a:off x="4762500" y="238125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F46E5"/>
                </a:solidFill>
                <a:latin typeface="Aptos"/>
                <a:ea typeface="Aptos"/>
                <a:cs typeface="Aptos"/>
              </a:defRPr>
            </a:pPr>
            <a:r>
              <a:rPr sz="1800" b="1">
                <a:solidFill>
                  <a:srgbClr val="4F46E5"/>
                </a:solidFill>
                <a:latin typeface="Aptos"/>
                <a:ea typeface="Aptos"/>
                <a:cs typeface="Aptos"/>
              </a:rPr>
              <a:t>Assessment submitted</a:t>
            </a:r>
          </a:p>
        </p:txBody>
      </p:sp>
      <p:sp>
        <p:nvSpPr>
          <p:cNvPr id="11" name="">
            <a:extLst xmlns:a="http://schemas.openxmlformats.org/drawingml/2006/main">
              <a:ext uri="{FF2B5EF4-FFF2-40B4-BE49-F238E27FC236}">
                <a16:creationId xmlns:a16="http://schemas.microsoft.com/office/drawing/2014/main" id="{9D4ABB5F-A2D6-4DBE-BC9D-E33030BD1D9D}"/>
              </a:ext>
            </a:extLst>
          </p:cNvPr>
          <p:cNvSpPr>
            <a:spLocks xmlns:a="http://schemas.openxmlformats.org/drawingml/2006/main" noGrp="1"/>
          </p:cNvSpPr>
          <p:nvPr/>
        </p:nvSpPr>
        <p:spPr>
          <a:xfrm xmlns:a="http://schemas.openxmlformats.org/drawingml/2006/main">
            <a:off x="4762500" y="2895600"/>
            <a:ext cx="2609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0.90</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changes 0.50 to 0.66</a:t>
            </a:r>
          </a:p>
        </p:txBody>
      </p:sp>
      <p:sp>
        <p:nvSpPr>
          <p:cNvPr id="12" name="">
            <a:extLst xmlns:a="http://schemas.openxmlformats.org/drawingml/2006/main">
              <a:ext uri="{FF2B5EF4-FFF2-40B4-BE49-F238E27FC236}">
                <a16:creationId xmlns:a16="http://schemas.microsoft.com/office/drawing/2014/main" id="{5F738F85-6547-4177-89AC-AC8193BEAB64}"/>
              </a:ext>
            </a:extLst>
          </p:cNvPr>
          <p:cNvSpPr>
            <a:spLocks xmlns:a="http://schemas.openxmlformats.org/drawingml/2006/main" noGrp="1"/>
          </p:cNvSpPr>
          <p:nvPr/>
        </p:nvSpPr>
        <p:spPr>
          <a:xfrm xmlns:a="http://schemas.openxmlformats.org/drawingml/2006/main">
            <a:off x="82867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AFTER REGENERATION</a:t>
            </a:r>
          </a:p>
        </p:txBody>
      </p:sp>
      <p:sp>
        <p:nvSpPr>
          <p:cNvPr id="13" name="">
            <a:extLst xmlns:a="http://schemas.openxmlformats.org/drawingml/2006/main">
              <a:ext uri="{FF2B5EF4-FFF2-40B4-BE49-F238E27FC236}">
                <a16:creationId xmlns:a16="http://schemas.microsoft.com/office/drawing/2014/main" id="{9571604F-8AB8-42D4-8FC8-FD9877F6F9F8}"/>
              </a:ext>
            </a:extLst>
          </p:cNvPr>
          <p:cNvSpPr>
            <a:spLocks xmlns:a="http://schemas.openxmlformats.org/drawingml/2006/main" noGrp="1"/>
          </p:cNvSpPr>
          <p:nvPr/>
        </p:nvSpPr>
        <p:spPr>
          <a:xfrm xmlns:a="http://schemas.openxmlformats.org/drawingml/2006/main">
            <a:off x="8286750" y="1885950"/>
            <a:ext cx="335280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14" name="">
            <a:extLst xmlns:a="http://schemas.openxmlformats.org/drawingml/2006/main">
              <a:ext uri="{FF2B5EF4-FFF2-40B4-BE49-F238E27FC236}">
                <a16:creationId xmlns:a16="http://schemas.microsoft.com/office/drawing/2014/main" id="{DAE511DD-6DA4-4ED0-B105-EEA816B9C742}"/>
              </a:ext>
            </a:extLst>
          </p:cNvPr>
          <p:cNvSpPr>
            <a:spLocks xmlns:a="http://schemas.openxmlformats.org/drawingml/2006/main" noGrp="1"/>
          </p:cNvSpPr>
          <p:nvPr/>
        </p:nvSpPr>
        <p:spPr>
          <a:xfrm xmlns:a="http://schemas.openxmlformats.org/drawingml/2006/main">
            <a:off x="84963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8</a:t>
            </a:r>
          </a:p>
        </p:txBody>
      </p:sp>
      <p:sp>
        <p:nvSpPr>
          <p:cNvPr id="15" name="">
            <a:extLst xmlns:a="http://schemas.openxmlformats.org/drawingml/2006/main">
              <a:ext uri="{FF2B5EF4-FFF2-40B4-BE49-F238E27FC236}">
                <a16:creationId xmlns:a16="http://schemas.microsoft.com/office/drawing/2014/main" id="{1E19FD2E-DC2A-4C39-BB94-A027BBEC7A94}"/>
              </a:ext>
            </a:extLst>
          </p:cNvPr>
          <p:cNvSpPr>
            <a:spLocks xmlns:a="http://schemas.openxmlformats.org/drawingml/2006/main" noGrp="1"/>
          </p:cNvSpPr>
          <p:nvPr/>
        </p:nvSpPr>
        <p:spPr>
          <a:xfrm xmlns:a="http://schemas.openxmlformats.org/drawingml/2006/main">
            <a:off x="84963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Former path preserved</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Updated gates and ordering</a:t>
            </a:r>
          </a:p>
        </p:txBody>
      </p:sp>
      <p:sp>
        <p:nvSpPr>
          <p:cNvPr id="16" name="">
            <a:extLst xmlns:a="http://schemas.openxmlformats.org/drawingml/2006/main">
              <a:ext uri="{FF2B5EF4-FFF2-40B4-BE49-F238E27FC236}">
                <a16:creationId xmlns:a16="http://schemas.microsoft.com/office/drawing/2014/main" id="{6F060FE3-056C-4FA8-9FBD-B7397B3A645E}"/>
              </a:ext>
            </a:extLst>
          </p:cNvPr>
          <p:cNvSpPr>
            <a:spLocks xmlns:a="http://schemas.openxmlformats.org/drawingml/2006/main" noGrp="1"/>
          </p:cNvSpPr>
          <p:nvPr/>
        </p:nvSpPr>
        <p:spPr>
          <a:xfrm xmlns:a="http://schemas.openxmlformats.org/drawingml/2006/main">
            <a:off x="82867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cxnSp>
        <p:nvCxnSpPr>
          <p:cNvPr id="46" name=""/>
          <p:cNvCxnSpPr>
            <a:stCxn xmlns:a="http://schemas.openxmlformats.org/drawingml/2006/main" id="5" idx="3"/>
            <a:endCxn xmlns:a="http://schemas.openxmlformats.org/drawingml/2006/main" id="9" idx="1"/>
          </p:cNvCxnSpPr>
          <p:nvPr/>
        </p:nvCxnSpPr>
        <p:spPr>
          <a:xfrm xmlns:a="http://schemas.openxmlformats.org/drawingml/2006/main">
            <a:off x="3867150" y="2600325"/>
            <a:ext cx="62865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47" name=""/>
          <p:cNvCxnSpPr>
            <a:stCxn xmlns:a="http://schemas.openxmlformats.org/drawingml/2006/main" id="9" idx="3"/>
            <a:endCxn xmlns:a="http://schemas.openxmlformats.org/drawingml/2006/main" id="13" idx="1"/>
          </p:cNvCxnSpPr>
          <p:nvPr/>
        </p:nvCxnSpPr>
        <p:spPr>
          <a:xfrm xmlns:a="http://schemas.openxmlformats.org/drawingml/2006/main" flipV="1">
            <a:off x="7639050" y="2600325"/>
            <a:ext cx="64770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19" name="">
            <a:extLst xmlns:a="http://schemas.openxmlformats.org/drawingml/2006/main">
              <a:ext uri="{FF2B5EF4-FFF2-40B4-BE49-F238E27FC236}">
                <a16:creationId xmlns:a16="http://schemas.microsoft.com/office/drawing/2014/main" id="{F1B96861-FE68-41EE-BBDB-43900BC6043A}"/>
              </a:ext>
            </a:extLst>
          </p:cNvPr>
          <p:cNvSpPr>
            <a:spLocks xmlns:a="http://schemas.openxmlformats.org/drawingml/2006/main" noGrp="1"/>
          </p:cNvSpPr>
          <p:nvPr/>
        </p:nvSpPr>
        <p:spPr>
          <a:xfrm xmlns:a="http://schemas.openxmlformats.org/drawingml/2006/main">
            <a:off x="5143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1</a:t>
            </a:r>
          </a:p>
        </p:txBody>
      </p:sp>
      <p:sp>
        <p:nvSpPr>
          <p:cNvPr id="20" name="">
            <a:extLst xmlns:a="http://schemas.openxmlformats.org/drawingml/2006/main">
              <a:ext uri="{FF2B5EF4-FFF2-40B4-BE49-F238E27FC236}">
                <a16:creationId xmlns:a16="http://schemas.microsoft.com/office/drawing/2014/main" id="{A57BA00B-5EEC-46B3-AFEF-322B4556509B}"/>
              </a:ext>
            </a:extLst>
          </p:cNvPr>
          <p:cNvSpPr>
            <a:spLocks xmlns:a="http://schemas.openxmlformats.org/drawingml/2006/main" noGrp="1"/>
          </p:cNvSpPr>
          <p:nvPr/>
        </p:nvSpPr>
        <p:spPr>
          <a:xfrm xmlns:a="http://schemas.openxmlformats.org/drawingml/2006/main">
            <a:off x="5143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Evidence appended</a:t>
            </a:r>
          </a:p>
        </p:txBody>
      </p:sp>
      <p:sp>
        <p:nvSpPr>
          <p:cNvPr id="21" name="">
            <a:extLst xmlns:a="http://schemas.openxmlformats.org/drawingml/2006/main">
              <a:ext uri="{FF2B5EF4-FFF2-40B4-BE49-F238E27FC236}">
                <a16:creationId xmlns:a16="http://schemas.microsoft.com/office/drawing/2014/main" id="{03CB66BF-F361-4D64-965D-B7AAE60A57C9}"/>
              </a:ext>
            </a:extLst>
          </p:cNvPr>
          <p:cNvSpPr>
            <a:spLocks xmlns:a="http://schemas.openxmlformats.org/drawingml/2006/main" noGrp="1"/>
          </p:cNvSpPr>
          <p:nvPr/>
        </p:nvSpPr>
        <p:spPr>
          <a:xfrm xmlns:a="http://schemas.openxmlformats.org/drawingml/2006/main">
            <a:off x="27813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2</a:t>
            </a:r>
          </a:p>
        </p:txBody>
      </p:sp>
      <p:sp>
        <p:nvSpPr>
          <p:cNvPr id="22" name="">
            <a:extLst xmlns:a="http://schemas.openxmlformats.org/drawingml/2006/main">
              <a:ext uri="{FF2B5EF4-FFF2-40B4-BE49-F238E27FC236}">
                <a16:creationId xmlns:a16="http://schemas.microsoft.com/office/drawing/2014/main" id="{C7B11CE0-5D70-47FD-8C41-6246BFA0C2EB}"/>
              </a:ext>
            </a:extLst>
          </p:cNvPr>
          <p:cNvSpPr>
            <a:spLocks xmlns:a="http://schemas.openxmlformats.org/drawingml/2006/main" noGrp="1"/>
          </p:cNvSpPr>
          <p:nvPr/>
        </p:nvSpPr>
        <p:spPr>
          <a:xfrm xmlns:a="http://schemas.openxmlformats.org/drawingml/2006/main">
            <a:off x="27813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Knowledge updated</a:t>
            </a:r>
          </a:p>
        </p:txBody>
      </p:sp>
      <p:sp>
        <p:nvSpPr>
          <p:cNvPr id="23" name="">
            <a:extLst xmlns:a="http://schemas.openxmlformats.org/drawingml/2006/main">
              <a:ext uri="{FF2B5EF4-FFF2-40B4-BE49-F238E27FC236}">
                <a16:creationId xmlns:a16="http://schemas.microsoft.com/office/drawing/2014/main" id="{FDF68F15-76F8-4C07-B790-EBA32D953966}"/>
              </a:ext>
            </a:extLst>
          </p:cNvPr>
          <p:cNvSpPr>
            <a:spLocks xmlns:a="http://schemas.openxmlformats.org/drawingml/2006/main" noGrp="1"/>
          </p:cNvSpPr>
          <p:nvPr/>
        </p:nvSpPr>
        <p:spPr>
          <a:xfrm xmlns:a="http://schemas.openxmlformats.org/drawingml/2006/main">
            <a:off x="50482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3</a:t>
            </a:r>
          </a:p>
        </p:txBody>
      </p:sp>
      <p:sp>
        <p:nvSpPr>
          <p:cNvPr id="24" name="">
            <a:extLst xmlns:a="http://schemas.openxmlformats.org/drawingml/2006/main">
              <a:ext uri="{FF2B5EF4-FFF2-40B4-BE49-F238E27FC236}">
                <a16:creationId xmlns:a16="http://schemas.microsoft.com/office/drawing/2014/main" id="{58CD491F-8549-4197-8CD2-46ACA88EB6FE}"/>
              </a:ext>
            </a:extLst>
          </p:cNvPr>
          <p:cNvSpPr>
            <a:spLocks xmlns:a="http://schemas.openxmlformats.org/drawingml/2006/main" noGrp="1"/>
          </p:cNvSpPr>
          <p:nvPr/>
        </p:nvSpPr>
        <p:spPr>
          <a:xfrm xmlns:a="http://schemas.openxmlformats.org/drawingml/2006/main">
            <a:off x="50482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ACTIVE path becomes STALE</a:t>
            </a:r>
          </a:p>
        </p:txBody>
      </p:sp>
      <p:sp>
        <p:nvSpPr>
          <p:cNvPr id="25" name="">
            <a:extLst xmlns:a="http://schemas.openxmlformats.org/drawingml/2006/main">
              <a:ext uri="{FF2B5EF4-FFF2-40B4-BE49-F238E27FC236}">
                <a16:creationId xmlns:a16="http://schemas.microsoft.com/office/drawing/2014/main" id="{7F1442DB-06FB-4737-A59E-D65B6F8C842D}"/>
              </a:ext>
            </a:extLst>
          </p:cNvPr>
          <p:cNvSpPr>
            <a:spLocks xmlns:a="http://schemas.openxmlformats.org/drawingml/2006/main" noGrp="1"/>
          </p:cNvSpPr>
          <p:nvPr/>
        </p:nvSpPr>
        <p:spPr>
          <a:xfrm xmlns:a="http://schemas.openxmlformats.org/drawingml/2006/main">
            <a:off x="73152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0C1A60AD-DDCF-4162-AA45-9478ADC532DB}"/>
              </a:ext>
            </a:extLst>
          </p:cNvPr>
          <p:cNvSpPr>
            <a:spLocks xmlns:a="http://schemas.openxmlformats.org/drawingml/2006/main" noGrp="1"/>
          </p:cNvSpPr>
          <p:nvPr/>
        </p:nvSpPr>
        <p:spPr>
          <a:xfrm xmlns:a="http://schemas.openxmlformats.org/drawingml/2006/main">
            <a:off x="73152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Regeneration runs</a:t>
            </a:r>
          </a:p>
        </p:txBody>
      </p:sp>
      <p:sp>
        <p:nvSpPr>
          <p:cNvPr id="27" name="">
            <a:extLst xmlns:a="http://schemas.openxmlformats.org/drawingml/2006/main">
              <a:ext uri="{FF2B5EF4-FFF2-40B4-BE49-F238E27FC236}">
                <a16:creationId xmlns:a16="http://schemas.microsoft.com/office/drawing/2014/main" id="{4CB2A492-818C-4C33-9AE7-36E35AFC1F8A}"/>
              </a:ext>
            </a:extLst>
          </p:cNvPr>
          <p:cNvSpPr>
            <a:spLocks xmlns:a="http://schemas.openxmlformats.org/drawingml/2006/main" noGrp="1"/>
          </p:cNvSpPr>
          <p:nvPr/>
        </p:nvSpPr>
        <p:spPr>
          <a:xfrm xmlns:a="http://schemas.openxmlformats.org/drawingml/2006/main">
            <a:off x="95821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5</a:t>
            </a:r>
          </a:p>
        </p:txBody>
      </p:sp>
      <p:sp>
        <p:nvSpPr>
          <p:cNvPr id="28" name="">
            <a:extLst xmlns:a="http://schemas.openxmlformats.org/drawingml/2006/main">
              <a:ext uri="{FF2B5EF4-FFF2-40B4-BE49-F238E27FC236}">
                <a16:creationId xmlns:a16="http://schemas.microsoft.com/office/drawing/2014/main" id="{D02FEA98-B006-40A3-A52B-429CDEC72264}"/>
              </a:ext>
            </a:extLst>
          </p:cNvPr>
          <p:cNvSpPr>
            <a:spLocks xmlns:a="http://schemas.openxmlformats.org/drawingml/2006/main" noGrp="1"/>
          </p:cNvSpPr>
          <p:nvPr/>
        </p:nvSpPr>
        <p:spPr>
          <a:xfrm xmlns:a="http://schemas.openxmlformats.org/drawingml/2006/main">
            <a:off x="95821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Old path becomes SUPERSEDED</a:t>
            </a:r>
          </a:p>
        </p:txBody>
      </p:sp>
      <p:sp>
        <p:nvSpPr>
          <p:cNvPr id="29" name="">
            <a:extLst xmlns:a="http://schemas.openxmlformats.org/drawingml/2006/main">
              <a:ext uri="{FF2B5EF4-FFF2-40B4-BE49-F238E27FC236}">
                <a16:creationId xmlns:a16="http://schemas.microsoft.com/office/drawing/2014/main" id="{C1851F2B-1717-4155-9FCF-B91476E1F0F9}"/>
              </a:ext>
            </a:extLst>
          </p:cNvPr>
          <p:cNvSpPr>
            <a:spLocks xmlns:a="http://schemas.openxmlformats.org/drawingml/2006/main" noGrp="1"/>
          </p:cNvSpPr>
          <p:nvPr/>
        </p:nvSpPr>
        <p:spPr>
          <a:xfrm xmlns:a="http://schemas.openxmlformats.org/drawingml/2006/main">
            <a:off x="1600200" y="5905500"/>
            <a:ext cx="899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The reviewer can compare what moved, unlocked, became revision due or disappeared</a:t>
            </a:r>
          </a:p>
        </p:txBody>
      </p:sp>
    </p:spTree>
    <p:extLst>
      <p:ext uri="{BB962C8B-B14F-4D97-AF65-F5344CB8AC3E}">
        <p14:creationId xmlns:p14="http://schemas.microsoft.com/office/powerpoint/2010/main" val="4848936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2E8B1598-749B-442E-B3FA-DB333274BF1B}"/>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Engineering trust and validation</a:t>
            </a:r>
          </a:p>
        </p:txBody>
      </p:sp>
      <p:sp>
        <p:nvSpPr>
          <p:cNvPr id="2" name="">
            <a:extLst xmlns:a="http://schemas.openxmlformats.org/drawingml/2006/main">
              <a:ext uri="{FF2B5EF4-FFF2-40B4-BE49-F238E27FC236}">
                <a16:creationId xmlns:a16="http://schemas.microsoft.com/office/drawing/2014/main" id="{F4502699-622D-47D7-9334-7893201FA303}"/>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project supports its rules with immutable evidence, conservative boundaries and reproducible checks</a:t>
            </a:r>
          </a:p>
        </p:txBody>
      </p:sp>
      <p:sp>
        <p:nvSpPr>
          <p:cNvPr id="3" name="">
            <a:extLst xmlns:a="http://schemas.openxmlformats.org/drawingml/2006/main">
              <a:ext uri="{FF2B5EF4-FFF2-40B4-BE49-F238E27FC236}">
                <a16:creationId xmlns:a16="http://schemas.microsoft.com/office/drawing/2014/main" id="{52765C32-5CC9-44A8-9331-EC889C9BA356}"/>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2B9D2E97-4848-4F93-ACD1-06BC9C8739A0}"/>
              </a:ext>
            </a:extLst>
          </p:cNvPr>
          <p:cNvSpPr>
            <a:spLocks xmlns:a="http://schemas.openxmlformats.org/drawingml/2006/main" noGrp="1"/>
          </p:cNvSpPr>
          <p:nvPr/>
        </p:nvSpPr>
        <p:spPr>
          <a:xfrm xmlns:a="http://schemas.openxmlformats.org/drawingml/2006/main">
            <a:off x="4953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4F46E5"/>
                </a:solidFill>
                <a:latin typeface="Aptos"/>
                <a:ea typeface="Aptos"/>
                <a:cs typeface="Aptos"/>
              </a:defRPr>
            </a:pPr>
            <a:r>
              <a:rPr sz="4500" b="1">
                <a:solidFill>
                  <a:srgbClr val="4F46E5"/>
                </a:solidFill>
                <a:latin typeface="Aptos"/>
                <a:ea typeface="Aptos"/>
                <a:cs typeface="Aptos"/>
              </a:rPr>
              <a:t>101</a:t>
            </a:r>
          </a:p>
        </p:txBody>
      </p:sp>
      <p:sp>
        <p:nvSpPr>
          <p:cNvPr id="5" name="">
            <a:extLst xmlns:a="http://schemas.openxmlformats.org/drawingml/2006/main">
              <a:ext uri="{FF2B5EF4-FFF2-40B4-BE49-F238E27FC236}">
                <a16:creationId xmlns:a16="http://schemas.microsoft.com/office/drawing/2014/main" id="{843B6C24-15A3-456E-AC2E-494F95FE1A0B}"/>
              </a:ext>
            </a:extLst>
          </p:cNvPr>
          <p:cNvSpPr>
            <a:spLocks xmlns:a="http://schemas.openxmlformats.org/drawingml/2006/main" noGrp="1"/>
          </p:cNvSpPr>
          <p:nvPr/>
        </p:nvSpPr>
        <p:spPr>
          <a:xfrm xmlns:a="http://schemas.openxmlformats.org/drawingml/2006/main">
            <a:off x="4953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API tests after Diagnostic v3</a:t>
            </a:r>
          </a:p>
        </p:txBody>
      </p:sp>
      <p:sp>
        <p:nvSpPr>
          <p:cNvPr id="6" name="">
            <a:extLst xmlns:a="http://schemas.openxmlformats.org/drawingml/2006/main">
              <a:ext uri="{FF2B5EF4-FFF2-40B4-BE49-F238E27FC236}">
                <a16:creationId xmlns:a16="http://schemas.microsoft.com/office/drawing/2014/main" id="{5BF4D70A-8D76-4ABF-8B8A-67A870B6DC10}"/>
              </a:ext>
            </a:extLst>
          </p:cNvPr>
          <p:cNvSpPr>
            <a:spLocks xmlns:a="http://schemas.openxmlformats.org/drawingml/2006/main" noGrp="1"/>
          </p:cNvSpPr>
          <p:nvPr/>
        </p:nvSpPr>
        <p:spPr>
          <a:xfrm xmlns:a="http://schemas.openxmlformats.org/drawingml/2006/main">
            <a:off x="33718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F766E"/>
                </a:solidFill>
                <a:latin typeface="Aptos"/>
                <a:ea typeface="Aptos"/>
                <a:cs typeface="Aptos"/>
              </a:defRPr>
            </a:pPr>
            <a:r>
              <a:rPr sz="4500" b="1">
                <a:solidFill>
                  <a:srgbClr val="0F766E"/>
                </a:solidFill>
                <a:latin typeface="Aptos"/>
                <a:ea typeface="Aptos"/>
                <a:cs typeface="Aptos"/>
              </a:rPr>
              <a:t>41</a:t>
            </a:r>
          </a:p>
        </p:txBody>
      </p:sp>
      <p:sp>
        <p:nvSpPr>
          <p:cNvPr id="7" name="">
            <a:extLst xmlns:a="http://schemas.openxmlformats.org/drawingml/2006/main">
              <a:ext uri="{FF2B5EF4-FFF2-40B4-BE49-F238E27FC236}">
                <a16:creationId xmlns:a16="http://schemas.microsoft.com/office/drawing/2014/main" id="{E70017DF-97A4-40AB-9ADA-8D35D248D614}"/>
              </a:ext>
            </a:extLst>
          </p:cNvPr>
          <p:cNvSpPr>
            <a:spLocks xmlns:a="http://schemas.openxmlformats.org/drawingml/2006/main" noGrp="1"/>
          </p:cNvSpPr>
          <p:nvPr/>
        </p:nvSpPr>
        <p:spPr>
          <a:xfrm xmlns:a="http://schemas.openxmlformats.org/drawingml/2006/main">
            <a:off x="33718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web tests after Diagnostic v3</a:t>
            </a:r>
          </a:p>
        </p:txBody>
      </p:sp>
      <p:sp>
        <p:nvSpPr>
          <p:cNvPr id="8" name="">
            <a:extLst xmlns:a="http://schemas.openxmlformats.org/drawingml/2006/main">
              <a:ext uri="{FF2B5EF4-FFF2-40B4-BE49-F238E27FC236}">
                <a16:creationId xmlns:a16="http://schemas.microsoft.com/office/drawing/2014/main" id="{B4570B34-DD45-4931-BD95-D874ABA8B55E}"/>
              </a:ext>
            </a:extLst>
          </p:cNvPr>
          <p:cNvSpPr>
            <a:spLocks xmlns:a="http://schemas.openxmlformats.org/drawingml/2006/main" noGrp="1"/>
          </p:cNvSpPr>
          <p:nvPr/>
        </p:nvSpPr>
        <p:spPr>
          <a:xfrm xmlns:a="http://schemas.openxmlformats.org/drawingml/2006/main">
            <a:off x="62484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D97706"/>
                </a:solidFill>
                <a:latin typeface="Aptos"/>
                <a:ea typeface="Aptos"/>
                <a:cs typeface="Aptos"/>
              </a:defRPr>
            </a:pPr>
            <a:r>
              <a:rPr sz="4500" b="1">
                <a:solidFill>
                  <a:srgbClr val="D97706"/>
                </a:solidFill>
                <a:latin typeface="Aptos"/>
                <a:ea typeface="Aptos"/>
                <a:cs typeface="Aptos"/>
              </a:rPr>
              <a:t>17</a:t>
            </a:r>
          </a:p>
        </p:txBody>
      </p:sp>
      <p:sp>
        <p:nvSpPr>
          <p:cNvPr id="9" name="">
            <a:extLst xmlns:a="http://schemas.openxmlformats.org/drawingml/2006/main">
              <a:ext uri="{FF2B5EF4-FFF2-40B4-BE49-F238E27FC236}">
                <a16:creationId xmlns:a16="http://schemas.microsoft.com/office/drawing/2014/main" id="{BF9E6CFB-4F45-4628-9CBF-F6CAF8A36596}"/>
              </a:ext>
            </a:extLst>
          </p:cNvPr>
          <p:cNvSpPr>
            <a:spLocks xmlns:a="http://schemas.openxmlformats.org/drawingml/2006/main" noGrp="1"/>
          </p:cNvSpPr>
          <p:nvPr/>
        </p:nvSpPr>
        <p:spPr>
          <a:xfrm xmlns:a="http://schemas.openxmlformats.org/drawingml/2006/main">
            <a:off x="62484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PostgreSQL integration tests</a:t>
            </a:r>
          </a:p>
        </p:txBody>
      </p:sp>
      <p:sp>
        <p:nvSpPr>
          <p:cNvPr id="10" name="">
            <a:extLst xmlns:a="http://schemas.openxmlformats.org/drawingml/2006/main">
              <a:ext uri="{FF2B5EF4-FFF2-40B4-BE49-F238E27FC236}">
                <a16:creationId xmlns:a16="http://schemas.microsoft.com/office/drawing/2014/main" id="{7530A8BA-A8C0-4878-BCE9-8A599BFC21AA}"/>
              </a:ext>
            </a:extLst>
          </p:cNvPr>
          <p:cNvSpPr>
            <a:spLocks xmlns:a="http://schemas.openxmlformats.org/drawingml/2006/main" noGrp="1"/>
          </p:cNvSpPr>
          <p:nvPr/>
        </p:nvSpPr>
        <p:spPr>
          <a:xfrm xmlns:a="http://schemas.openxmlformats.org/drawingml/2006/main">
            <a:off x="91249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7C3AED"/>
                </a:solidFill>
                <a:latin typeface="Aptos"/>
                <a:ea typeface="Aptos"/>
                <a:cs typeface="Aptos"/>
              </a:defRPr>
            </a:pPr>
            <a:r>
              <a:rPr sz="4500" b="1">
                <a:solidFill>
                  <a:srgbClr val="7C3AED"/>
                </a:solidFill>
                <a:latin typeface="Aptos"/>
                <a:ea typeface="Aptos"/>
                <a:cs typeface="Aptos"/>
              </a:rPr>
              <a:t>35</a:t>
            </a:r>
          </a:p>
        </p:txBody>
      </p:sp>
      <p:sp>
        <p:nvSpPr>
          <p:cNvPr id="11" name="">
            <a:extLst xmlns:a="http://schemas.openxmlformats.org/drawingml/2006/main">
              <a:ext uri="{FF2B5EF4-FFF2-40B4-BE49-F238E27FC236}">
                <a16:creationId xmlns:a16="http://schemas.microsoft.com/office/drawing/2014/main" id="{1AA8D494-8939-4463-9F1C-CB04060FEA1E}"/>
              </a:ext>
            </a:extLst>
          </p:cNvPr>
          <p:cNvSpPr>
            <a:spLocks xmlns:a="http://schemas.openxmlformats.org/drawingml/2006/main" noGrp="1"/>
          </p:cNvSpPr>
          <p:nvPr/>
        </p:nvSpPr>
        <p:spPr>
          <a:xfrm xmlns:a="http://schemas.openxmlformats.org/drawingml/2006/main">
            <a:off x="91249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ML tests</a:t>
            </a:r>
          </a:p>
        </p:txBody>
      </p:sp>
      <p:sp>
        <p:nvSpPr>
          <p:cNvPr id="12" name="">
            <a:extLst xmlns:a="http://schemas.openxmlformats.org/drawingml/2006/main">
              <a:ext uri="{FF2B5EF4-FFF2-40B4-BE49-F238E27FC236}">
                <a16:creationId xmlns:a16="http://schemas.microsoft.com/office/drawing/2014/main" id="{905EA73B-D8BC-46E7-895E-46410655F0A0}"/>
              </a:ext>
            </a:extLst>
          </p:cNvPr>
          <p:cNvSpPr>
            <a:spLocks xmlns:a="http://schemas.openxmlformats.org/drawingml/2006/main" noGrp="1"/>
          </p:cNvSpPr>
          <p:nvPr/>
        </p:nvSpPr>
        <p:spPr>
          <a:xfrm xmlns:a="http://schemas.openxmlformats.org/drawingml/2006/main">
            <a:off x="4953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Append-only evidence</a:t>
            </a:r>
          </a:p>
        </p:txBody>
      </p:sp>
      <p:sp>
        <p:nvSpPr>
          <p:cNvPr id="13" name="">
            <a:extLst xmlns:a="http://schemas.openxmlformats.org/drawingml/2006/main">
              <a:ext uri="{FF2B5EF4-FFF2-40B4-BE49-F238E27FC236}">
                <a16:creationId xmlns:a16="http://schemas.microsoft.com/office/drawing/2014/main" id="{C464C793-2F50-42D5-95DD-581B32650A34}"/>
              </a:ext>
            </a:extLst>
          </p:cNvPr>
          <p:cNvSpPr>
            <a:spLocks xmlns:a="http://schemas.openxmlformats.org/drawingml/2006/main" noGrp="1"/>
          </p:cNvSpPr>
          <p:nvPr/>
        </p:nvSpPr>
        <p:spPr>
          <a:xfrm xmlns:a="http://schemas.openxmlformats.org/drawingml/2006/main">
            <a:off x="29527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Database triggers reject edits and deletes</a:t>
            </a:r>
          </a:p>
        </p:txBody>
      </p:sp>
      <p:sp>
        <p:nvSpPr>
          <p:cNvPr id="14" name="">
            <a:extLst xmlns:a="http://schemas.openxmlformats.org/drawingml/2006/main">
              <a:ext uri="{FF2B5EF4-FFF2-40B4-BE49-F238E27FC236}">
                <a16:creationId xmlns:a16="http://schemas.microsoft.com/office/drawing/2014/main" id="{4E85BEC5-22F3-4E1C-A9FF-B66B44A373FB}"/>
              </a:ext>
            </a:extLst>
          </p:cNvPr>
          <p:cNvSpPr>
            <a:spLocks xmlns:a="http://schemas.openxmlformats.org/drawingml/2006/main" noGrp="1"/>
          </p:cNvSpPr>
          <p:nvPr/>
        </p:nvSpPr>
        <p:spPr>
          <a:xfrm xmlns:a="http://schemas.openxmlformats.org/drawingml/2006/main">
            <a:off x="62865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Conservative gates</a:t>
            </a:r>
          </a:p>
        </p:txBody>
      </p:sp>
      <p:sp>
        <p:nvSpPr>
          <p:cNvPr id="15" name="">
            <a:extLst xmlns:a="http://schemas.openxmlformats.org/drawingml/2006/main">
              <a:ext uri="{FF2B5EF4-FFF2-40B4-BE49-F238E27FC236}">
                <a16:creationId xmlns:a16="http://schemas.microsoft.com/office/drawing/2014/main" id="{3BD455BF-3FC6-4B4B-BDCA-2D11EDEE519B}"/>
              </a:ext>
            </a:extLst>
          </p:cNvPr>
          <p:cNvSpPr>
            <a:spLocks xmlns:a="http://schemas.openxmlformats.org/drawingml/2006/main" noGrp="1"/>
          </p:cNvSpPr>
          <p:nvPr/>
        </p:nvSpPr>
        <p:spPr>
          <a:xfrm xmlns:a="http://schemas.openxmlformats.org/drawingml/2006/main">
            <a:off x="87439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Unknown skills never satisfy required prerequisites</a:t>
            </a:r>
          </a:p>
        </p:txBody>
      </p:sp>
      <p:sp>
        <p:nvSpPr>
          <p:cNvPr id="16" name="">
            <a:extLst xmlns:a="http://schemas.openxmlformats.org/drawingml/2006/main">
              <a:ext uri="{FF2B5EF4-FFF2-40B4-BE49-F238E27FC236}">
                <a16:creationId xmlns:a16="http://schemas.microsoft.com/office/drawing/2014/main" id="{8CDFEFDD-C270-4422-941E-F585961F5FB1}"/>
              </a:ext>
            </a:extLst>
          </p:cNvPr>
          <p:cNvSpPr>
            <a:spLocks xmlns:a="http://schemas.openxmlformats.org/drawingml/2006/main" noGrp="1"/>
          </p:cNvSpPr>
          <p:nvPr/>
        </p:nvSpPr>
        <p:spPr>
          <a:xfrm xmlns:a="http://schemas.openxmlformats.org/drawingml/2006/main">
            <a:off x="4953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Checked inference</a:t>
            </a:r>
          </a:p>
        </p:txBody>
      </p:sp>
      <p:sp>
        <p:nvSpPr>
          <p:cNvPr id="17" name="">
            <a:extLst xmlns:a="http://schemas.openxmlformats.org/drawingml/2006/main">
              <a:ext uri="{FF2B5EF4-FFF2-40B4-BE49-F238E27FC236}">
                <a16:creationId xmlns:a16="http://schemas.microsoft.com/office/drawing/2014/main" id="{6D6D800F-E7C7-49E5-A90E-6381099C74F4}"/>
              </a:ext>
            </a:extLst>
          </p:cNvPr>
          <p:cNvSpPr>
            <a:spLocks xmlns:a="http://schemas.openxmlformats.org/drawingml/2006/main" noGrp="1"/>
          </p:cNvSpPr>
          <p:nvPr/>
        </p:nvSpPr>
        <p:spPr>
          <a:xfrm xmlns:a="http://schemas.openxmlformats.org/drawingml/2006/main">
            <a:off x="29527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SHA-256, versions and exact feature order must match</a:t>
            </a:r>
          </a:p>
        </p:txBody>
      </p:sp>
      <p:sp>
        <p:nvSpPr>
          <p:cNvPr id="18" name="">
            <a:extLst xmlns:a="http://schemas.openxmlformats.org/drawingml/2006/main">
              <a:ext uri="{FF2B5EF4-FFF2-40B4-BE49-F238E27FC236}">
                <a16:creationId xmlns:a16="http://schemas.microsoft.com/office/drawing/2014/main" id="{0F4F34E8-7A5E-40A1-A515-1D510D029B4C}"/>
              </a:ext>
            </a:extLst>
          </p:cNvPr>
          <p:cNvSpPr>
            <a:spLocks xmlns:a="http://schemas.openxmlformats.org/drawingml/2006/main" noGrp="1"/>
          </p:cNvSpPr>
          <p:nvPr/>
        </p:nvSpPr>
        <p:spPr>
          <a:xfrm xmlns:a="http://schemas.openxmlformats.org/drawingml/2006/main">
            <a:off x="62865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Versioned decisions</a:t>
            </a:r>
          </a:p>
        </p:txBody>
      </p:sp>
      <p:sp>
        <p:nvSpPr>
          <p:cNvPr id="19" name="">
            <a:extLst xmlns:a="http://schemas.openxmlformats.org/drawingml/2006/main">
              <a:ext uri="{FF2B5EF4-FFF2-40B4-BE49-F238E27FC236}">
                <a16:creationId xmlns:a16="http://schemas.microsoft.com/office/drawing/2014/main" id="{40ED8C4E-3FDC-427D-8692-E17608714885}"/>
              </a:ext>
            </a:extLst>
          </p:cNvPr>
          <p:cNvSpPr>
            <a:spLocks xmlns:a="http://schemas.openxmlformats.org/drawingml/2006/main" noGrp="1"/>
          </p:cNvSpPr>
          <p:nvPr/>
        </p:nvSpPr>
        <p:spPr>
          <a:xfrm xmlns:a="http://schemas.openxmlformats.org/drawingml/2006/main">
            <a:off x="87439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Stale and superseded paths remain inspectable</a:t>
            </a:r>
          </a:p>
        </p:txBody>
      </p:sp>
      <p:sp>
        <p:nvSpPr>
          <p:cNvPr id="20" name="">
            <a:extLst xmlns:a="http://schemas.openxmlformats.org/drawingml/2006/main">
              <a:ext uri="{FF2B5EF4-FFF2-40B4-BE49-F238E27FC236}">
                <a16:creationId xmlns:a16="http://schemas.microsoft.com/office/drawing/2014/main" id="{4E450171-1A62-4903-B674-13123A5018D9}"/>
              </a:ext>
            </a:extLst>
          </p:cNvPr>
          <p:cNvSpPr>
            <a:spLocks xmlns:a="http://schemas.openxmlformats.org/drawingml/2006/main" noGrp="1"/>
          </p:cNvSpPr>
          <p:nvPr/>
        </p:nvSpPr>
        <p:spPr>
          <a:xfrm xmlns:a="http://schemas.openxmlformats.org/drawingml/2006/main">
            <a:off x="4953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5803D"/>
                </a:solidFill>
                <a:latin typeface="Aptos"/>
                <a:ea typeface="Aptos"/>
                <a:cs typeface="Aptos"/>
              </a:defRPr>
            </a:pPr>
            <a:r>
              <a:rPr sz="1425" b="0">
                <a:solidFill>
                  <a:srgbClr val="15803D"/>
                </a:solidFill>
                <a:latin typeface="Aptos"/>
                <a:ea typeface="Aptos"/>
                <a:cs typeface="Aptos"/>
              </a:rPr>
              <a:t>36 of 36 skills include lesson, diagnostic, practice and separate assessment content</a:t>
            </a:r>
          </a:p>
        </p:txBody>
      </p:sp>
    </p:spTree>
    <p:extLst>
      <p:ext uri="{BB962C8B-B14F-4D97-AF65-F5344CB8AC3E}">
        <p14:creationId xmlns:p14="http://schemas.microsoft.com/office/powerpoint/2010/main" val="14406153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8D50071-4D5B-47D3-B7C9-5539241D04C2}"/>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Current evidence and remaining research</a:t>
            </a:r>
          </a:p>
        </p:txBody>
      </p:sp>
      <p:sp>
        <p:nvSpPr>
          <p:cNvPr id="2" name="">
            <a:extLst xmlns:a="http://schemas.openxmlformats.org/drawingml/2006/main">
              <a:ext uri="{FF2B5EF4-FFF2-40B4-BE49-F238E27FC236}">
                <a16:creationId xmlns:a16="http://schemas.microsoft.com/office/drawing/2014/main" id="{42B457C8-DAAE-4D7D-8524-7EBAEF2A2633}"/>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4BB36266-4F48-444B-BA4E-FAA4444016D4}"/>
              </a:ext>
            </a:extLst>
          </p:cNvPr>
          <p:cNvSpPr>
            <a:spLocks xmlns:a="http://schemas.openxmlformats.org/drawingml/2006/main" noGrp="1"/>
          </p:cNvSpPr>
          <p:nvPr/>
        </p:nvSpPr>
        <p:spPr>
          <a:xfrm xmlns:a="http://schemas.openxmlformats.org/drawingml/2006/main">
            <a:off x="5334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15803D"/>
                </a:solidFill>
                <a:latin typeface="Aptos"/>
                <a:ea typeface="Aptos"/>
                <a:cs typeface="Aptos"/>
              </a:defRPr>
            </a:pPr>
            <a:r>
              <a:rPr sz="1050" b="1">
                <a:solidFill>
                  <a:srgbClr val="15803D"/>
                </a:solidFill>
                <a:latin typeface="Aptos"/>
                <a:ea typeface="Aptos"/>
                <a:cs typeface="Aptos"/>
              </a:rPr>
              <a:t>WHAT THE PROJECT DEMONSTRATES</a:t>
            </a:r>
          </a:p>
        </p:txBody>
      </p:sp>
      <p:sp>
        <p:nvSpPr>
          <p:cNvPr id="4" name="">
            <a:extLst xmlns:a="http://schemas.openxmlformats.org/drawingml/2006/main">
              <a:ext uri="{FF2B5EF4-FFF2-40B4-BE49-F238E27FC236}">
                <a16:creationId xmlns:a16="http://schemas.microsoft.com/office/drawing/2014/main" id="{BF3FBC00-74F9-499C-9D11-7AE16CD4D9CC}"/>
              </a:ext>
            </a:extLst>
          </p:cNvPr>
          <p:cNvSpPr>
            <a:spLocks xmlns:a="http://schemas.openxmlformats.org/drawingml/2006/main" noGrp="1"/>
          </p:cNvSpPr>
          <p:nvPr/>
        </p:nvSpPr>
        <p:spPr>
          <a:xfrm xmlns:a="http://schemas.openxmlformats.org/drawingml/2006/main">
            <a:off x="5334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5803D"/>
                </a:solidFill>
                <a:latin typeface="Aptos"/>
                <a:ea typeface="Aptos"/>
                <a:cs typeface="Aptos"/>
              </a:defRPr>
            </a:pPr>
            <a:r>
              <a:rPr sz="2400" b="1">
                <a:solidFill>
                  <a:srgbClr val="15803D"/>
                </a:solidFill>
                <a:latin typeface="Aptos"/>
                <a:ea typeface="Aptos"/>
                <a:cs typeface="Aptos"/>
              </a:rPr>
              <a:t>Engineering correctness</a:t>
            </a:r>
          </a:p>
        </p:txBody>
      </p:sp>
      <p:sp>
        <p:nvSpPr>
          <p:cNvPr id="5" name="">
            <a:extLst xmlns:a="http://schemas.openxmlformats.org/drawingml/2006/main">
              <a:ext uri="{FF2B5EF4-FFF2-40B4-BE49-F238E27FC236}">
                <a16:creationId xmlns:a16="http://schemas.microsoft.com/office/drawing/2014/main" id="{68F65C46-FC0E-43AC-87C4-88D12CE87A04}"/>
              </a:ext>
            </a:extLst>
          </p:cNvPr>
          <p:cNvSpPr>
            <a:spLocks xmlns:a="http://schemas.openxmlformats.org/drawingml/2006/main" noGrp="1"/>
          </p:cNvSpPr>
          <p:nvPr/>
        </p:nvSpPr>
        <p:spPr>
          <a:xfrm xmlns:a="http://schemas.openxmlformats.org/drawingml/2006/main">
            <a:off x="5334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Implemented and auditable adaptive loop</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Conservative prerequisite and diagnostic rules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Reproducible synthetic ML evaluation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Visible cross-course knowledge reuse</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Versioned path adaptation after evidence</a:t>
            </a:r>
          </a:p>
        </p:txBody>
      </p:sp>
      <p:sp>
        <p:nvSpPr>
          <p:cNvPr id="6" name="">
            <a:extLst xmlns:a="http://schemas.openxmlformats.org/drawingml/2006/main">
              <a:ext uri="{FF2B5EF4-FFF2-40B4-BE49-F238E27FC236}">
                <a16:creationId xmlns:a16="http://schemas.microsoft.com/office/drawing/2014/main" id="{DB0AAB74-C376-4AD1-949A-F0D9E3BB1269}"/>
              </a:ext>
            </a:extLst>
          </p:cNvPr>
          <p:cNvSpPr>
            <a:spLocks xmlns:a="http://schemas.openxmlformats.org/drawingml/2006/main" noGrp="1"/>
          </p:cNvSpPr>
          <p:nvPr/>
        </p:nvSpPr>
        <p:spPr>
          <a:xfrm xmlns:a="http://schemas.openxmlformats.org/drawingml/2006/main">
            <a:off x="65151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D97706"/>
                </a:solidFill>
                <a:latin typeface="Aptos"/>
                <a:ea typeface="Aptos"/>
                <a:cs typeface="Aptos"/>
              </a:defRPr>
            </a:pPr>
            <a:r>
              <a:rPr sz="1050" b="1">
                <a:solidFill>
                  <a:srgbClr val="D97706"/>
                </a:solidFill>
                <a:latin typeface="Aptos"/>
                <a:ea typeface="Aptos"/>
                <a:cs typeface="Aptos"/>
              </a:rPr>
              <a:t>WHAT REQUIRES FURTHER STUDY</a:t>
            </a:r>
          </a:p>
        </p:txBody>
      </p:sp>
      <p:sp>
        <p:nvSpPr>
          <p:cNvPr id="7" name="">
            <a:extLst xmlns:a="http://schemas.openxmlformats.org/drawingml/2006/main">
              <a:ext uri="{FF2B5EF4-FFF2-40B4-BE49-F238E27FC236}">
                <a16:creationId xmlns:a16="http://schemas.microsoft.com/office/drawing/2014/main" id="{57E39DF9-944D-43D4-BEDC-750A131A81EA}"/>
              </a:ext>
            </a:extLst>
          </p:cNvPr>
          <p:cNvSpPr>
            <a:spLocks xmlns:a="http://schemas.openxmlformats.org/drawingml/2006/main" noGrp="1"/>
          </p:cNvSpPr>
          <p:nvPr/>
        </p:nvSpPr>
        <p:spPr>
          <a:xfrm xmlns:a="http://schemas.openxmlformats.org/drawingml/2006/main">
            <a:off x="65151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D97706"/>
                </a:solidFill>
                <a:latin typeface="Aptos"/>
                <a:ea typeface="Aptos"/>
                <a:cs typeface="Aptos"/>
              </a:defRPr>
            </a:pPr>
            <a:r>
              <a:rPr sz="2400" b="1">
                <a:solidFill>
                  <a:srgbClr val="D97706"/>
                </a:solidFill>
                <a:latin typeface="Aptos"/>
                <a:ea typeface="Aptos"/>
                <a:cs typeface="Aptos"/>
              </a:rPr>
              <a:t>Educational effectiveness</a:t>
            </a:r>
          </a:p>
        </p:txBody>
      </p:sp>
      <p:sp>
        <p:nvSpPr>
          <p:cNvPr id="8" name="">
            <a:extLst xmlns:a="http://schemas.openxmlformats.org/drawingml/2006/main">
              <a:ext uri="{FF2B5EF4-FFF2-40B4-BE49-F238E27FC236}">
                <a16:creationId xmlns:a16="http://schemas.microsoft.com/office/drawing/2014/main" id="{4EA2A76A-5735-461F-BBA6-09F864607ED5}"/>
              </a:ext>
            </a:extLst>
          </p:cNvPr>
          <p:cNvSpPr>
            <a:spLocks xmlns:a="http://schemas.openxmlformats.org/drawingml/2006/main" noGrp="1"/>
          </p:cNvSpPr>
          <p:nvPr/>
        </p:nvSpPr>
        <p:spPr>
          <a:xfrm xmlns:a="http://schemas.openxmlformats.org/drawingml/2006/main">
            <a:off x="65151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Prospective study with real learners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Empirical item difficulty and discrimination calibration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Expert review of prerequisite edges and thresholds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Subgroup fairness and probability calibration analysis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Human-reviewed model promotion from real outcomes</a:t>
            </a:r>
          </a:p>
        </p:txBody>
      </p:sp>
      <p:sp>
        <p:nvSpPr>
          <p:cNvPr id="9" name="">
            <a:extLst xmlns:a="http://schemas.openxmlformats.org/drawingml/2006/main">
              <a:ext uri="{FF2B5EF4-FFF2-40B4-BE49-F238E27FC236}">
                <a16:creationId xmlns:a16="http://schemas.microsoft.com/office/drawing/2014/main" id="{C5FBF2C9-EC15-4904-A655-E9C734B2F59F}"/>
              </a:ext>
            </a:extLst>
          </p:cNvPr>
          <p:cNvSpPr>
            <a:spLocks xmlns:a="http://schemas.openxmlformats.org/drawingml/2006/main" noGrp="1"/>
          </p:cNvSpPr>
          <p:nvPr/>
        </p:nvSpPr>
        <p:spPr>
          <a:xfrm xmlns:a="http://schemas.openxmlformats.org/drawingml/2006/main">
            <a:off x="533400" y="58483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Defensible claim</a:t>
            </a:r>
          </a:p>
        </p:txBody>
      </p:sp>
      <p:sp>
        <p:nvSpPr>
          <p:cNvPr id="10" name="">
            <a:extLst xmlns:a="http://schemas.openxmlformats.org/drawingml/2006/main">
              <a:ext uri="{FF2B5EF4-FFF2-40B4-BE49-F238E27FC236}">
                <a16:creationId xmlns:a16="http://schemas.microsoft.com/office/drawing/2014/main" id="{CD34D286-7832-4EAB-B39A-70506817DAD4}"/>
              </a:ext>
            </a:extLst>
          </p:cNvPr>
          <p:cNvSpPr>
            <a:spLocks xmlns:a="http://schemas.openxmlformats.org/drawingml/2006/main" noGrp="1"/>
          </p:cNvSpPr>
          <p:nvPr/>
        </p:nvSpPr>
        <p:spPr>
          <a:xfrm xmlns:a="http://schemas.openxmlformats.org/drawingml/2006/main">
            <a:off x="2266950" y="5791200"/>
            <a:ext cx="916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LearnPath implements an explainable, dependency-safe personalization system. A real learner study must test its impact on learning outcomes.</a:t>
            </a:r>
          </a:p>
        </p:txBody>
      </p:sp>
    </p:spTree>
    <p:extLst>
      <p:ext uri="{BB962C8B-B14F-4D97-AF65-F5344CB8AC3E}">
        <p14:creationId xmlns:p14="http://schemas.microsoft.com/office/powerpoint/2010/main" val="375422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4D82933C-8D7C-4751-A67B-46DC2E7E920E}"/>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Recommended live demonstration</a:t>
            </a:r>
          </a:p>
        </p:txBody>
      </p:sp>
      <p:sp>
        <p:nvSpPr>
          <p:cNvPr id="2" name="">
            <a:extLst xmlns:a="http://schemas.openxmlformats.org/drawingml/2006/main">
              <a:ext uri="{FF2B5EF4-FFF2-40B4-BE49-F238E27FC236}">
                <a16:creationId xmlns:a16="http://schemas.microsoft.com/office/drawing/2014/main" id="{1CD49DCE-EF5C-4D68-906C-491556AB6078}"/>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Use the learner interface to prove that backend evidence changes the path</a:t>
            </a:r>
          </a:p>
        </p:txBody>
      </p:sp>
      <p:sp>
        <p:nvSpPr>
          <p:cNvPr id="3" name="">
            <a:extLst xmlns:a="http://schemas.openxmlformats.org/drawingml/2006/main">
              <a:ext uri="{FF2B5EF4-FFF2-40B4-BE49-F238E27FC236}">
                <a16:creationId xmlns:a16="http://schemas.microsoft.com/office/drawing/2014/main" id="{9F32F692-0167-49FE-B022-81EA7B4D572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944590AF-7854-49B4-9467-BD8E9C5ECFBD}"/>
              </a:ext>
            </a:extLst>
          </p:cNvPr>
          <p:cNvSpPr>
            <a:spLocks xmlns:a="http://schemas.openxmlformats.org/drawingml/2006/main" noGrp="1"/>
          </p:cNvSpPr>
          <p:nvPr/>
        </p:nvSpPr>
        <p:spPr>
          <a:xfrm xmlns:a="http://schemas.openxmlformats.org/drawingml/2006/main">
            <a:off x="533400" y="1562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C9749233-A85B-4350-A0F1-7FCF0EC934BE}"/>
              </a:ext>
            </a:extLst>
          </p:cNvPr>
          <p:cNvSpPr>
            <a:spLocks xmlns:a="http://schemas.openxmlformats.org/drawingml/2006/main" noGrp="1"/>
          </p:cNvSpPr>
          <p:nvPr/>
        </p:nvSpPr>
        <p:spPr>
          <a:xfrm xmlns:a="http://schemas.openxmlformats.org/drawingml/2006/main">
            <a:off x="1371600" y="1562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Cold start</a:t>
            </a:r>
          </a:p>
        </p:txBody>
      </p:sp>
      <p:sp>
        <p:nvSpPr>
          <p:cNvPr id="6" name="">
            <a:extLst xmlns:a="http://schemas.openxmlformats.org/drawingml/2006/main">
              <a:ext uri="{FF2B5EF4-FFF2-40B4-BE49-F238E27FC236}">
                <a16:creationId xmlns:a16="http://schemas.microsoft.com/office/drawing/2014/main" id="{39B74B56-E2C2-4C76-9231-0EBF422FE442}"/>
              </a:ext>
            </a:extLst>
          </p:cNvPr>
          <p:cNvSpPr>
            <a:spLocks xmlns:a="http://schemas.openxmlformats.org/drawingml/2006/main" noGrp="1"/>
          </p:cNvSpPr>
          <p:nvPr/>
        </p:nvSpPr>
        <p:spPr>
          <a:xfrm xmlns:a="http://schemas.openxmlformats.org/drawingml/2006/main">
            <a:off x="4000500" y="15621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Show UNKNOWN knowledge and no invented path</a:t>
            </a:r>
          </a:p>
        </p:txBody>
      </p:sp>
      <p:sp>
        <p:nvSpPr>
          <p:cNvPr id="7" name="">
            <a:extLst xmlns:a="http://schemas.openxmlformats.org/drawingml/2006/main">
              <a:ext uri="{FF2B5EF4-FFF2-40B4-BE49-F238E27FC236}">
                <a16:creationId xmlns:a16="http://schemas.microsoft.com/office/drawing/2014/main" id="{E7684E07-DDA2-483A-B51A-C5401B3B9C92}"/>
              </a:ext>
            </a:extLst>
          </p:cNvPr>
          <p:cNvSpPr>
            <a:spLocks xmlns:a="http://schemas.openxmlformats.org/drawingml/2006/main" noGrp="1"/>
          </p:cNvSpPr>
          <p:nvPr/>
        </p:nvSpPr>
        <p:spPr>
          <a:xfrm xmlns:a="http://schemas.openxmlformats.org/drawingml/2006/main">
            <a:off x="533400" y="24574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1B8FC431-AEF7-427B-B87C-1E7160256AF5}"/>
              </a:ext>
            </a:extLst>
          </p:cNvPr>
          <p:cNvSpPr>
            <a:spLocks xmlns:a="http://schemas.openxmlformats.org/drawingml/2006/main" noGrp="1"/>
          </p:cNvSpPr>
          <p:nvPr/>
        </p:nvSpPr>
        <p:spPr>
          <a:xfrm xmlns:a="http://schemas.openxmlformats.org/drawingml/2006/main">
            <a:off x="1371600" y="24574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Diagnostic</a:t>
            </a:r>
          </a:p>
        </p:txBody>
      </p:sp>
      <p:sp>
        <p:nvSpPr>
          <p:cNvPr id="9" name="">
            <a:extLst xmlns:a="http://schemas.openxmlformats.org/drawingml/2006/main">
              <a:ext uri="{FF2B5EF4-FFF2-40B4-BE49-F238E27FC236}">
                <a16:creationId xmlns:a16="http://schemas.microsoft.com/office/drawing/2014/main" id="{7F0890EF-187C-4C3F-ABEE-7631211E3935}"/>
              </a:ext>
            </a:extLst>
          </p:cNvPr>
          <p:cNvSpPr>
            <a:spLocks xmlns:a="http://schemas.openxmlformats.org/drawingml/2006/main" noGrp="1"/>
          </p:cNvSpPr>
          <p:nvPr/>
        </p:nvSpPr>
        <p:spPr>
          <a:xfrm xmlns:a="http://schemas.openxmlformats.org/drawingml/2006/main">
            <a:off x="4000500" y="245745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Complete selected questions and generate the first path</a:t>
            </a:r>
          </a:p>
        </p:txBody>
      </p:sp>
      <p:sp>
        <p:nvSpPr>
          <p:cNvPr id="10" name="">
            <a:extLst xmlns:a="http://schemas.openxmlformats.org/drawingml/2006/main">
              <a:ext uri="{FF2B5EF4-FFF2-40B4-BE49-F238E27FC236}">
                <a16:creationId xmlns:a16="http://schemas.microsoft.com/office/drawing/2014/main" id="{F766F46A-CF46-45BF-9E49-899A6D890628}"/>
              </a:ext>
            </a:extLst>
          </p:cNvPr>
          <p:cNvSpPr>
            <a:spLocks xmlns:a="http://schemas.openxmlformats.org/drawingml/2006/main" noGrp="1"/>
          </p:cNvSpPr>
          <p:nvPr/>
        </p:nvSpPr>
        <p:spPr>
          <a:xfrm xmlns:a="http://schemas.openxmlformats.org/drawingml/2006/main">
            <a:off x="533400" y="33528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7F52A610-7090-4DB5-BA0F-5C391F518A7F}"/>
              </a:ext>
            </a:extLst>
          </p:cNvPr>
          <p:cNvSpPr>
            <a:spLocks xmlns:a="http://schemas.openxmlformats.org/drawingml/2006/main" noGrp="1"/>
          </p:cNvSpPr>
          <p:nvPr/>
        </p:nvSpPr>
        <p:spPr>
          <a:xfrm xmlns:a="http://schemas.openxmlformats.org/drawingml/2006/main">
            <a:off x="1371600" y="33528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Learn Next</a:t>
            </a:r>
          </a:p>
        </p:txBody>
      </p:sp>
      <p:sp>
        <p:nvSpPr>
          <p:cNvPr id="12" name="">
            <a:extLst xmlns:a="http://schemas.openxmlformats.org/drawingml/2006/main">
              <a:ext uri="{FF2B5EF4-FFF2-40B4-BE49-F238E27FC236}">
                <a16:creationId xmlns:a16="http://schemas.microsoft.com/office/drawing/2014/main" id="{B9D6341D-49F7-4AF5-8FAE-E12E2EA0DD6D}"/>
              </a:ext>
            </a:extLst>
          </p:cNvPr>
          <p:cNvSpPr>
            <a:spLocks xmlns:a="http://schemas.openxmlformats.org/drawingml/2006/main" noGrp="1"/>
          </p:cNvSpPr>
          <p:nvPr/>
        </p:nvSpPr>
        <p:spPr>
          <a:xfrm xmlns:a="http://schemas.openxmlformats.org/drawingml/2006/main">
            <a:off x="4000500" y="33528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Open the recommendation and explain its reason</a:t>
            </a:r>
          </a:p>
        </p:txBody>
      </p:sp>
      <p:sp>
        <p:nvSpPr>
          <p:cNvPr id="13" name="">
            <a:extLst xmlns:a="http://schemas.openxmlformats.org/drawingml/2006/main">
              <a:ext uri="{FF2B5EF4-FFF2-40B4-BE49-F238E27FC236}">
                <a16:creationId xmlns:a16="http://schemas.microsoft.com/office/drawing/2014/main" id="{F7341037-597C-4240-AA6A-FD6E30958F9C}"/>
              </a:ext>
            </a:extLst>
          </p:cNvPr>
          <p:cNvSpPr>
            <a:spLocks xmlns:a="http://schemas.openxmlformats.org/drawingml/2006/main" noGrp="1"/>
          </p:cNvSpPr>
          <p:nvPr/>
        </p:nvSpPr>
        <p:spPr>
          <a:xfrm xmlns:a="http://schemas.openxmlformats.org/drawingml/2006/main">
            <a:off x="533400" y="42481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4" name="">
            <a:extLst xmlns:a="http://schemas.openxmlformats.org/drawingml/2006/main">
              <a:ext uri="{FF2B5EF4-FFF2-40B4-BE49-F238E27FC236}">
                <a16:creationId xmlns:a16="http://schemas.microsoft.com/office/drawing/2014/main" id="{ACEF7F90-2E83-4E3F-B377-4DF0B4979B35}"/>
              </a:ext>
            </a:extLst>
          </p:cNvPr>
          <p:cNvSpPr>
            <a:spLocks xmlns:a="http://schemas.openxmlformats.org/drawingml/2006/main" noGrp="1"/>
          </p:cNvSpPr>
          <p:nvPr/>
        </p:nvSpPr>
        <p:spPr>
          <a:xfrm xmlns:a="http://schemas.openxmlformats.org/drawingml/2006/main">
            <a:off x="1371600" y="42481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Assessment</a:t>
            </a:r>
          </a:p>
        </p:txBody>
      </p:sp>
      <p:sp>
        <p:nvSpPr>
          <p:cNvPr id="15" name="">
            <a:extLst xmlns:a="http://schemas.openxmlformats.org/drawingml/2006/main">
              <a:ext uri="{FF2B5EF4-FFF2-40B4-BE49-F238E27FC236}">
                <a16:creationId xmlns:a16="http://schemas.microsoft.com/office/drawing/2014/main" id="{596F721D-22C9-4561-9012-653F694CB77F}"/>
              </a:ext>
            </a:extLst>
          </p:cNvPr>
          <p:cNvSpPr>
            <a:spLocks xmlns:a="http://schemas.openxmlformats.org/drawingml/2006/main" noGrp="1"/>
          </p:cNvSpPr>
          <p:nvPr/>
        </p:nvSpPr>
        <p:spPr>
          <a:xfrm xmlns:a="http://schemas.openxmlformats.org/drawingml/2006/main">
            <a:off x="4000500" y="424815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Submit scored evidence and show mastery change</a:t>
            </a:r>
          </a:p>
        </p:txBody>
      </p:sp>
      <p:sp>
        <p:nvSpPr>
          <p:cNvPr id="16" name="">
            <a:extLst xmlns:a="http://schemas.openxmlformats.org/drawingml/2006/main">
              <a:ext uri="{FF2B5EF4-FFF2-40B4-BE49-F238E27FC236}">
                <a16:creationId xmlns:a16="http://schemas.microsoft.com/office/drawing/2014/main" id="{AA963510-4BC6-49A5-B1F0-778DF9CAE930}"/>
              </a:ext>
            </a:extLst>
          </p:cNvPr>
          <p:cNvSpPr>
            <a:spLocks xmlns:a="http://schemas.openxmlformats.org/drawingml/2006/main" noGrp="1"/>
          </p:cNvSpPr>
          <p:nvPr/>
        </p:nvSpPr>
        <p:spPr>
          <a:xfrm xmlns:a="http://schemas.openxmlformats.org/drawingml/2006/main">
            <a:off x="533400" y="51435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7" name="">
            <a:extLst xmlns:a="http://schemas.openxmlformats.org/drawingml/2006/main">
              <a:ext uri="{FF2B5EF4-FFF2-40B4-BE49-F238E27FC236}">
                <a16:creationId xmlns:a16="http://schemas.microsoft.com/office/drawing/2014/main" id="{7246A8AC-A682-4E25-8352-DC882C956B23}"/>
              </a:ext>
            </a:extLst>
          </p:cNvPr>
          <p:cNvSpPr>
            <a:spLocks xmlns:a="http://schemas.openxmlformats.org/drawingml/2006/main" noGrp="1"/>
          </p:cNvSpPr>
          <p:nvPr/>
        </p:nvSpPr>
        <p:spPr>
          <a:xfrm xmlns:a="http://schemas.openxmlformats.org/drawingml/2006/main">
            <a:off x="1371600" y="5143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Regeneration</a:t>
            </a:r>
          </a:p>
        </p:txBody>
      </p:sp>
      <p:sp>
        <p:nvSpPr>
          <p:cNvPr id="18" name="">
            <a:extLst xmlns:a="http://schemas.openxmlformats.org/drawingml/2006/main">
              <a:ext uri="{FF2B5EF4-FFF2-40B4-BE49-F238E27FC236}">
                <a16:creationId xmlns:a16="http://schemas.microsoft.com/office/drawing/2014/main" id="{ECCB86E0-C3D5-4A4E-9B0D-E994388596CA}"/>
              </a:ext>
            </a:extLst>
          </p:cNvPr>
          <p:cNvSpPr>
            <a:spLocks xmlns:a="http://schemas.openxmlformats.org/drawingml/2006/main" noGrp="1"/>
          </p:cNvSpPr>
          <p:nvPr/>
        </p:nvSpPr>
        <p:spPr>
          <a:xfrm xmlns:a="http://schemas.openxmlformats.org/drawingml/2006/main">
            <a:off x="4000500" y="51435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Compare the superseded and new active paths</a:t>
            </a:r>
          </a:p>
        </p:txBody>
      </p:sp>
      <p:sp>
        <p:nvSpPr>
          <p:cNvPr id="19" name="">
            <a:extLst xmlns:a="http://schemas.openxmlformats.org/drawingml/2006/main">
              <a:ext uri="{FF2B5EF4-FFF2-40B4-BE49-F238E27FC236}">
                <a16:creationId xmlns:a16="http://schemas.microsoft.com/office/drawing/2014/main" id="{D9827A91-77C3-46CD-9B01-680FFD61BAFF}"/>
              </a:ext>
            </a:extLst>
          </p:cNvPr>
          <p:cNvSpPr>
            <a:spLocks xmlns:a="http://schemas.openxmlformats.org/drawingml/2006/main" noGrp="1"/>
          </p:cNvSpPr>
          <p:nvPr/>
        </p:nvSpPr>
        <p:spPr>
          <a:xfrm xmlns:a="http://schemas.openxmlformats.org/drawingml/2006/main">
            <a:off x="533400" y="6115050"/>
            <a:ext cx="10668000" cy="381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0">
            <a:noFill/>
          </a:ln>
        </p:spPr>
      </p:sp>
    </p:spTree>
    <p:extLst>
      <p:ext uri="{BB962C8B-B14F-4D97-AF65-F5344CB8AC3E}">
        <p14:creationId xmlns:p14="http://schemas.microsoft.com/office/powerpoint/2010/main" val="18454868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775933-3777-4316-BAD4-8DB6A78CC29B}"/>
              </a:ext>
            </a:extLst>
          </p:cNvPr>
          <p:cNvSpPr>
            <a:spLocks xmlns:a="http://schemas.openxmlformats.org/drawingml/2006/main" noGrp="1"/>
          </p:cNvSpPr>
          <p:nvPr/>
        </p:nvSpPr>
        <p:spPr>
          <a:xfrm xmlns:a="http://schemas.openxmlformats.org/drawingml/2006/main">
            <a:off x="495300" y="4953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a:t>
            </a:r>
          </a:p>
        </p:txBody>
      </p:sp>
      <p:sp>
        <p:nvSpPr>
          <p:cNvPr id="2" name="">
            <a:extLst xmlns:a="http://schemas.openxmlformats.org/drawingml/2006/main">
              <a:ext uri="{FF2B5EF4-FFF2-40B4-BE49-F238E27FC236}">
                <a16:creationId xmlns:a16="http://schemas.microsoft.com/office/drawing/2014/main" id="{FDC3C903-4A5E-4137-BADE-8D140D9F335A}"/>
              </a:ext>
            </a:extLst>
          </p:cNvPr>
          <p:cNvSpPr>
            <a:spLocks xmlns:a="http://schemas.openxmlformats.org/drawingml/2006/main" noGrp="1"/>
          </p:cNvSpPr>
          <p:nvPr/>
        </p:nvSpPr>
        <p:spPr>
          <a:xfrm xmlns:a="http://schemas.openxmlformats.org/drawingml/2006/main">
            <a:off x="495300" y="209550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0F172A"/>
                </a:solidFill>
                <a:latin typeface="Aptos"/>
                <a:ea typeface="Aptos"/>
                <a:cs typeface="Aptos"/>
              </a:defRPr>
            </a:pPr>
            <a:r>
              <a:rPr sz="5850" b="1">
                <a:solidFill>
                  <a:srgbClr val="0F172A"/>
                </a:solidFill>
                <a:latin typeface="Aptos"/>
                <a:ea typeface="Aptos"/>
                <a:cs typeface="Aptos"/>
              </a:rPr>
              <a:t>Questions</a:t>
            </a:r>
          </a:p>
        </p:txBody>
      </p:sp>
      <p:sp>
        <p:nvSpPr>
          <p:cNvPr id="3" name="">
            <a:extLst xmlns:a="http://schemas.openxmlformats.org/drawingml/2006/main">
              <a:ext uri="{FF2B5EF4-FFF2-40B4-BE49-F238E27FC236}">
                <a16:creationId xmlns:a16="http://schemas.microsoft.com/office/drawing/2014/main" id="{294311EB-F9FE-4F97-BECA-4B6673565C99}"/>
              </a:ext>
            </a:extLst>
          </p:cNvPr>
          <p:cNvSpPr>
            <a:spLocks xmlns:a="http://schemas.openxmlformats.org/drawingml/2006/main" noGrp="1"/>
          </p:cNvSpPr>
          <p:nvPr/>
        </p:nvSpPr>
        <p:spPr>
          <a:xfrm xmlns:a="http://schemas.openxmlformats.org/drawingml/2006/main">
            <a:off x="533400" y="3371850"/>
            <a:ext cx="7429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graph defines the safe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model ranks those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New evidence regenerates the path.</a:t>
            </a:r>
          </a:p>
        </p:txBody>
      </p:sp>
      <p:sp>
        <p:nvSpPr>
          <p:cNvPr id="4" name="">
            <a:extLst xmlns:a="http://schemas.openxmlformats.org/drawingml/2006/main">
              <a:ext uri="{FF2B5EF4-FFF2-40B4-BE49-F238E27FC236}">
                <a16:creationId xmlns:a16="http://schemas.microsoft.com/office/drawing/2014/main" id="{D76435CC-2741-4DE3-9816-5690B828141C}"/>
              </a:ext>
            </a:extLst>
          </p:cNvPr>
          <p:cNvSpPr>
            <a:spLocks xmlns:a="http://schemas.openxmlformats.org/drawingml/2006/main" noGrp="1"/>
          </p:cNvSpPr>
          <p:nvPr/>
        </p:nvSpPr>
        <p:spPr>
          <a:xfrm xmlns:a="http://schemas.openxmlformats.org/drawingml/2006/main">
            <a:off x="9658350" y="2133600"/>
            <a:ext cx="1562100" cy="1562100"/>
          </a:xfrm>
          <a:prstGeom xmlns:a="http://schemas.openxmlformats.org/drawingml/2006/main" prst="roundRect">
            <a:avLst>
              <a:gd name="adj" fmla="val 14634"/>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C087A82D-023B-4D34-8F8D-80806F5723AA}"/>
              </a:ext>
            </a:extLst>
          </p:cNvPr>
          <p:cNvSpPr>
            <a:spLocks xmlns:a="http://schemas.openxmlformats.org/drawingml/2006/main" noGrp="1"/>
          </p:cNvSpPr>
          <p:nvPr/>
        </p:nvSpPr>
        <p:spPr>
          <a:xfrm xmlns:a="http://schemas.openxmlformats.org/drawingml/2006/main">
            <a:off x="9658350" y="2543175"/>
            <a:ext cx="1562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4050" b="1">
                <a:solidFill>
                  <a:srgbClr val="4F46E5"/>
                </a:solidFill>
                <a:latin typeface="Aptos"/>
                <a:ea typeface="Aptos"/>
                <a:cs typeface="Aptos"/>
              </a:defRPr>
            </a:pPr>
            <a:r>
              <a:rPr sz="40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25E1152D-F720-4745-99F2-03D1862DA418}"/>
              </a:ext>
            </a:extLst>
          </p:cNvPr>
          <p:cNvSpPr>
            <a:spLocks xmlns:a="http://schemas.openxmlformats.org/drawingml/2006/main" noGrp="1"/>
          </p:cNvSpPr>
          <p:nvPr/>
        </p:nvSpPr>
        <p:spPr>
          <a:xfrm xmlns:a="http://schemas.openxmlformats.org/drawingml/2006/main">
            <a:off x="533400" y="5867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F172A"/>
                </a:solidFill>
                <a:latin typeface="Aptos"/>
                <a:ea typeface="Aptos"/>
                <a:cs typeface="Aptos"/>
              </a:defRPr>
            </a:pPr>
            <a:r>
              <a:rPr sz="1500" b="1">
                <a:solidFill>
                  <a:srgbClr val="0F172A"/>
                </a:solidFill>
                <a:latin typeface="Aptos"/>
                <a:ea typeface="Aptos"/>
                <a:cs typeface="Aptos"/>
              </a:rPr>
              <a:t>Thank you</a:t>
            </a:r>
          </a:p>
        </p:txBody>
      </p:sp>
    </p:spTree>
    <p:extLst>
      <p:ext uri="{BB962C8B-B14F-4D97-AF65-F5344CB8AC3E}">
        <p14:creationId xmlns:p14="http://schemas.microsoft.com/office/powerpoint/2010/main" val="173540954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2026-09-04T17:57:59.1740000Z</dcterms:created>
  <dcterms:modified xsi:type="dcterms:W3CDTF">2026-09-04T17:57:59.1740000Z</dcterms:modified>
</coreProperties>
</file>